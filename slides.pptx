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Welcome everyone. Today we're presenting the Histogram of Oriented Gradients — HOG for short — one of the most influential hand-crafted feature descriptors in classical computer vision.</a:t>
            </a:r>
          </a:p>
          <a:p>
            <a:pPr/>
          </a:p>
          <a:p>
            <a:pPr/>
            <a:r>
              <a:t>HOG was introduced by Dalal and Triggs in 2005 and it became the standard for pedestrian detection for nearly a decade. Even today it lives inside libraries like OpenCV and Dlib, and it's a great teaching tool because the entire pipeline can be understood end-to-end — no black boxes.</a:t>
            </a:r>
          </a:p>
          <a:p>
            <a:pPr/>
          </a:p>
          <a:p>
            <a:pPr/>
            <a:r>
              <a:t>Over the next ten minutes we'll cover the intuition, the four-stage technical pipeline, walk through a numerical example by hand, run a live demo of our simulator, and finish with where HOG breaks down and what to use instead.</a:t>
            </a:r>
          </a:p>
          <a:p>
            <a:pPr/>
          </a:p>
          <a:p>
            <a:pPr/>
            <a:r>
              <a:t>Quick housekeeping: feel free to interrupt with questions, otherwise we'll take them at the end.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Shape 111"/>
          <p:cNvSpPr/>
          <p:nvPr>
            <p:ph type="sldImg"/>
          </p:nvPr>
        </p:nvSpPr>
        <p:spPr>
          <a:prstGeom prst="rect">
            <a:avLst/>
          </a:prstGeom>
        </p:spPr>
        <p:txBody>
          <a:bodyPr/>
          <a:lstStyle/>
          <a:p>
            <a:pPr/>
          </a:p>
        </p:txBody>
      </p:sp>
      <p:sp>
        <p:nvSpPr>
          <p:cNvPr id="112" name="Shape 112"/>
          <p:cNvSpPr/>
          <p:nvPr>
            <p:ph type="body" sz="quarter" idx="1"/>
          </p:nvPr>
        </p:nvSpPr>
        <p:spPr>
          <a:prstGeom prst="rect">
            <a:avLst/>
          </a:prstGeom>
        </p:spPr>
        <p:txBody>
          <a:bodyPr/>
          <a:lstStyle/>
          <a:p>
            <a:pPr/>
            <a:r>
              <a:t>Let's start with the motivation: why do we even need a descriptor like HOG?</a:t>
            </a:r>
          </a:p>
          <a:p>
            <a:pPr/>
          </a:p>
          <a:p>
            <a:pPr/>
            <a:r>
              <a:t>To a computer, an image is just a grid of pixel intensities. The problem is that raw pixels are extremely unstable. If you photograph the same person in sunlight and then in shadow, every single pixel value changes — but the person hasn't changed at all. Their shape is the same.</a:t>
            </a:r>
          </a:p>
          <a:p>
            <a:pPr/>
          </a:p>
          <a:p>
            <a:pPr/>
            <a:r>
              <a:t>That's the insight behind HOG. Instead of remembering exact pixel values, HOG focuses on where intensities CHANGE — the edges and contours that define an object's silhouette. Think of recognising someone in a crowd: you don't memorise the colour of their jacket, you recognise their outline.</a:t>
            </a:r>
          </a:p>
          <a:p>
            <a:pPr/>
          </a:p>
          <a:p>
            <a:pPr/>
            <a:r>
              <a:t>So the entire philosophy of HOG is: throw away the noisy stuff — colour, lighting, fine texture — and keep the structural fingerprint of the object. That representation is far more robust to lighting and minor appearance changes than the raw pixels themselves.</a:t>
            </a:r>
          </a:p>
          <a:p>
            <a:pPr/>
          </a:p>
          <a:p>
            <a:pPr/>
            <a:r>
              <a:t>This is what we're going to spend the next ten minutes unpacking.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Shape 149"/>
          <p:cNvSpPr/>
          <p:nvPr>
            <p:ph type="sldImg"/>
          </p:nvPr>
        </p:nvSpPr>
        <p:spPr>
          <a:prstGeom prst="rect">
            <a:avLst/>
          </a:prstGeom>
        </p:spPr>
        <p:txBody>
          <a:bodyPr/>
          <a:lstStyle/>
          <a:p>
            <a:pPr/>
          </a:p>
        </p:txBody>
      </p:sp>
      <p:sp>
        <p:nvSpPr>
          <p:cNvPr id="150" name="Shape 150"/>
          <p:cNvSpPr/>
          <p:nvPr>
            <p:ph type="body" sz="quarter" idx="1"/>
          </p:nvPr>
        </p:nvSpPr>
        <p:spPr>
          <a:prstGeom prst="rect">
            <a:avLst/>
          </a:prstGeom>
        </p:spPr>
        <p:txBody>
          <a:bodyPr/>
          <a:lstStyle/>
          <a:p>
            <a:pPr/>
            <a:r>
              <a:t>Here's the full HOG pipeline at a glance. It's a sequence of five stages, each one transforming the image into something a little more compact and a little more robust.</a:t>
            </a:r>
          </a:p>
          <a:p>
            <a:pPr/>
          </a:p>
          <a:p>
            <a:pPr/>
            <a:r>
              <a:t>Stage one is pre-processing — gamma correction and colour normalisation to reduce extreme lighting effects. The original Dalal and Triggs paper found this step gave only marginal gains, so in practice it's often skipped.</a:t>
            </a:r>
          </a:p>
          <a:p>
            <a:pPr/>
          </a:p>
          <a:p>
            <a:pPr/>
            <a:r>
              <a:t>Stage two is gradient computation — we calculate how brightness changes horizontally and vertically at every pixel. This is the step that converts pixel intensities into edge information.</a:t>
            </a:r>
          </a:p>
          <a:p>
            <a:pPr/>
          </a:p>
          <a:p>
            <a:pPr/>
            <a:r>
              <a:t>Stage three is spatial binning. We divide the image into small 8x8 cells and inside each cell we build a histogram of which directions the edges are pointing. This summarises a noisy pixel-level signal into something stable.</a:t>
            </a:r>
          </a:p>
          <a:p>
            <a:pPr/>
          </a:p>
          <a:p>
            <a:pPr/>
            <a:r>
              <a:t>Stage four is block normalisation. We group neighbouring cells into overlapping blocks and rescale them so that lighting changes don't dominate.</a:t>
            </a:r>
          </a:p>
          <a:p>
            <a:pPr/>
          </a:p>
          <a:p>
            <a:pPr/>
            <a:r>
              <a:t>Stage five is concatenation — we flatten every normalised block into one long feature vector that's ready to feed into a classifier like an SVM.</a:t>
            </a:r>
          </a:p>
          <a:p>
            <a:pPr/>
          </a:p>
          <a:p>
            <a:pPr/>
            <a:r>
              <a:t>We'll spend the next four slides on stages two through five in detail.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hape 184"/>
          <p:cNvSpPr/>
          <p:nvPr>
            <p:ph type="sldImg"/>
          </p:nvPr>
        </p:nvSpPr>
        <p:spPr>
          <a:prstGeom prst="rect">
            <a:avLst/>
          </a:prstGeom>
        </p:spPr>
        <p:txBody>
          <a:bodyPr/>
          <a:lstStyle/>
          <a:p>
            <a:pPr/>
          </a:p>
        </p:txBody>
      </p:sp>
      <p:sp>
        <p:nvSpPr>
          <p:cNvPr id="185" name="Shape 185"/>
          <p:cNvSpPr/>
          <p:nvPr>
            <p:ph type="body" sz="quarter" idx="1"/>
          </p:nvPr>
        </p:nvSpPr>
        <p:spPr>
          <a:prstGeom prst="rect">
            <a:avLst/>
          </a:prstGeom>
        </p:spPr>
        <p:txBody>
          <a:bodyPr/>
          <a:lstStyle/>
          <a:p>
            <a:pPr/>
            <a:r>
              <a:t>Stage two: gradient computation.</a:t>
            </a:r>
          </a:p>
          <a:p>
            <a:pPr/>
          </a:p>
          <a:p>
            <a:pPr/>
            <a:r>
              <a:t>At every pixel we ask two questions: how much does brightness change horizontally, and how much does it change vertically? We call these Gx and Gy.</a:t>
            </a:r>
          </a:p>
          <a:p>
            <a:pPr/>
          </a:p>
          <a:p>
            <a:pPr/>
            <a:r>
              <a:t>Dalal and Triggs tested several edge detectors — Sobel, larger kernels with Gaussian smoothing, you name it. Counter-intuitively, the simplest one won: the centred 1-D kernel [-1, 0, 1] for Gx, and its transpose for Gy. Smoothing actually hurt performance because it blurred away the very edge information they were trying to capture.</a:t>
            </a:r>
          </a:p>
          <a:p>
            <a:pPr/>
          </a:p>
          <a:p>
            <a:pPr/>
            <a:r>
              <a:t>Once we have Gx and Gy, we convert them to polar form. Magnitude is just the Pythagorean theorem — how strong is the edge. Orientation is arctan of Gy over Gx — what angle does the edge run at.</a:t>
            </a:r>
          </a:p>
          <a:p>
            <a:pPr/>
          </a:p>
          <a:p>
            <a:pPr/>
            <a:r>
              <a:t>One important detail: HOG uses unsigned gradients. We map all angles into the range zero to one-eighty degrees rather than zero to three-sixty. The reason is that the shape of an edge is the same whether it transitions from dark-to-light or light-to-dark — a vertical pole produces the same edge whether you photograph it against a bright or dark background. Folding the angle range in half makes HOG insensitive to that polarity.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Shape 289"/>
          <p:cNvSpPr/>
          <p:nvPr>
            <p:ph type="sldImg"/>
          </p:nvPr>
        </p:nvSpPr>
        <p:spPr>
          <a:prstGeom prst="rect">
            <a:avLst/>
          </a:prstGeom>
        </p:spPr>
        <p:txBody>
          <a:bodyPr/>
          <a:lstStyle/>
          <a:p>
            <a:pPr/>
          </a:p>
        </p:txBody>
      </p:sp>
      <p:sp>
        <p:nvSpPr>
          <p:cNvPr id="290" name="Shape 290"/>
          <p:cNvSpPr/>
          <p:nvPr>
            <p:ph type="body" sz="quarter" idx="1"/>
          </p:nvPr>
        </p:nvSpPr>
        <p:spPr>
          <a:prstGeom prst="rect">
            <a:avLst/>
          </a:prstGeom>
        </p:spPr>
        <p:txBody>
          <a:bodyPr/>
          <a:lstStyle/>
          <a:p>
            <a:pPr/>
            <a:r>
              <a:t>Stage three: cell histograms — also called spatial binning.</a:t>
            </a:r>
          </a:p>
          <a:p>
            <a:pPr/>
          </a:p>
          <a:p>
            <a:pPr/>
            <a:r>
              <a:t>We now have a gradient at every pixel, but that's millions of numbers and it's still very noisy. We need to summarise.</a:t>
            </a:r>
          </a:p>
          <a:p>
            <a:pPr/>
          </a:p>
          <a:p>
            <a:pPr/>
            <a:r>
              <a:t>HOG divides the image into small square cells — typically eight by eight pixels — and inside each cell it builds a histogram of orientations.</a:t>
            </a:r>
          </a:p>
          <a:p>
            <a:pPr/>
          </a:p>
          <a:p>
            <a:pPr/>
            <a:r>
              <a:t>The standard histogram has nine bins covering zero to one-eighty degrees, so each bin is twenty degrees wide. Each of the sixty-four pixels in the cell casts a vote into the histogram. The vote isn't binary — its weight is the gradient magnitude. Strong edges shout louder than weak ones.</a:t>
            </a:r>
          </a:p>
          <a:p>
            <a:pPr/>
          </a:p>
          <a:p>
            <a:pPr/>
            <a:r>
              <a:t>There's one important trick called bilinear interpolation. If a pixel's orientation falls between two bin centres — say at twenty-five degrees, between the twenty-degree bin and the forty-degree bin — we split its vote between the two neighbouring bins, weighted by how close it is to each. This prevents the histogram from jumping abruptly when an angle shifts slightly due to noise.</a:t>
            </a:r>
          </a:p>
          <a:p>
            <a:pPr/>
          </a:p>
          <a:p>
            <a:pPr/>
            <a:r>
              <a:t>Why does this work? Because by summing over sixty-four pixels, the histogram becomes much more stable than the individual gradients. If a person moves their arm by two pixels, the individual pixel orientations change locations, but the overall distribution within the cell stays almost identical. That's local invariance, and it's the key reason HOG is more robust than pixel-level approaches.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Shape 330"/>
          <p:cNvSpPr/>
          <p:nvPr>
            <p:ph type="sldImg"/>
          </p:nvPr>
        </p:nvSpPr>
        <p:spPr>
          <a:prstGeom prst="rect">
            <a:avLst/>
          </a:prstGeom>
        </p:spPr>
        <p:txBody>
          <a:bodyPr/>
          <a:lstStyle/>
          <a:p>
            <a:pPr/>
          </a:p>
        </p:txBody>
      </p:sp>
      <p:sp>
        <p:nvSpPr>
          <p:cNvPr id="331" name="Shape 331"/>
          <p:cNvSpPr/>
          <p:nvPr>
            <p:ph type="body" sz="quarter" idx="1"/>
          </p:nvPr>
        </p:nvSpPr>
        <p:spPr>
          <a:prstGeom prst="rect">
            <a:avLst/>
          </a:prstGeom>
        </p:spPr>
        <p:txBody>
          <a:bodyPr/>
          <a:lstStyle/>
          <a:p>
            <a:pPr/>
            <a:r>
              <a:t>Stage four: block normalisation. Cell histograms capture local edge structure, but they still depend on the absolute brightness of the image — a brighter region produces larger gradient magnitudes, so identical shapes under different lighting would get different descriptors.</a:t>
            </a:r>
          </a:p>
          <a:p>
            <a:pPr/>
          </a:p>
          <a:p>
            <a:pPr/>
            <a:r>
              <a:t>The fix is to group neighbouring cells into a larger region called a block — typically two by two cells, which is sixteen by sixteen pixels — and rescale the values inside that block as a unit.</a:t>
            </a:r>
          </a:p>
          <a:p>
            <a:pPr/>
          </a:p>
          <a:p>
            <a:pPr/>
            <a:r>
              <a:t>Look at the example in the box: a dark image produces edge values [2, 4, 6] and a bright image produces [4, 8, 12]. The magnitudes are completely different, but the ratios — the pattern — are identical. Normalisation strips out the absolute scale and keeps only the pattern.</a:t>
            </a:r>
          </a:p>
          <a:p>
            <a:pPr/>
          </a:p>
          <a:p>
            <a:pPr/>
            <a:r>
              <a:t>Dalal and Triggs used L2-Hys normalisation — that's L2 followed by clipping at 0.2 and then re-normalising. The clipping step is what makes it Hys, for hysteresis. It prevents a single very strong edge from dominating the entire descriptor.</a:t>
            </a:r>
          </a:p>
          <a:p>
            <a:pPr/>
          </a:p>
          <a:p>
            <a:pPr/>
            <a:r>
              <a:t>The other important detail is that blocks overlap. With a stride of one cell, the same cell appears in multiple blocks. This sounds redundant but it actually improves accuracy, because the same cell gets normalised against several different neighbouring contexts. It's expensive — it multiplies the descriptor size — but it's worth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Shape 360"/>
          <p:cNvSpPr/>
          <p:nvPr>
            <p:ph type="sldImg"/>
          </p:nvPr>
        </p:nvSpPr>
        <p:spPr>
          <a:prstGeom prst="rect">
            <a:avLst/>
          </a:prstGeom>
        </p:spPr>
        <p:txBody>
          <a:bodyPr/>
          <a:lstStyle/>
          <a:p>
            <a:pPr/>
          </a:p>
        </p:txBody>
      </p:sp>
      <p:sp>
        <p:nvSpPr>
          <p:cNvPr id="361" name="Shape 361"/>
          <p:cNvSpPr/>
          <p:nvPr>
            <p:ph type="body" sz="quarter" idx="1"/>
          </p:nvPr>
        </p:nvSpPr>
        <p:spPr>
          <a:prstGeom prst="rect">
            <a:avLst/>
          </a:prstGeom>
        </p:spPr>
        <p:txBody>
          <a:bodyPr/>
          <a:lstStyle/>
          <a:p>
            <a:pPr/>
            <a:r>
              <a:t>Stage five: feature vector construction.</a:t>
            </a:r>
          </a:p>
          <a:p>
            <a:pPr/>
          </a:p>
          <a:p>
            <a:pPr/>
            <a:r>
              <a:t>We've turned each block into a normalised histogram. Now we flatten everything into one long feature vector that a classifier can consume.</a:t>
            </a:r>
          </a:p>
          <a:p>
            <a:pPr/>
          </a:p>
          <a:p>
            <a:pPr/>
            <a:r>
              <a:t>Let's walk through the classic Dalal and Triggs setup, which they tuned for pedestrian detection. The detection window is sixty-four by one-hundred-twenty-eight pixels — wide enough for an upright person, with a tiny bit of context around them. The aspect ratio matters: a square window would include too much background and confuse the classifier.</a:t>
            </a:r>
          </a:p>
          <a:p>
            <a:pPr/>
          </a:p>
          <a:p>
            <a:pPr/>
            <a:r>
              <a:t>With eight-by-eight cells we get eight cells horizontally and sixteen vertically — that's a hundred and twenty-eight cells.</a:t>
            </a:r>
          </a:p>
          <a:p>
            <a:pPr/>
          </a:p>
          <a:p>
            <a:pPr/>
            <a:r>
              <a:t>Blocks are two-by-two cells with a one-cell stride, so we have seven horizontal positions and fifteen vertical positions — a hundred and five blocks.</a:t>
            </a:r>
          </a:p>
          <a:p>
            <a:pPr/>
          </a:p>
          <a:p>
            <a:pPr/>
            <a:r>
              <a:t>Each block contains four cells, each with nine bins — that's thirty-six values per block.</a:t>
            </a:r>
          </a:p>
          <a:p>
            <a:pPr/>
          </a:p>
          <a:p>
            <a:pPr/>
            <a:r>
              <a:t>Multiply: a hundred and five blocks times thirty-six values gives us three thousand seven hundred and eighty features. That's the famous Dalal-Triggs number. It's the descriptor of one window.</a:t>
            </a:r>
          </a:p>
          <a:p>
            <a:pPr/>
          </a:p>
          <a:p>
            <a:pPr/>
            <a:r>
              <a:t>That three-thousand-seven-hundred-and-eighty-dimensional vector then gets fed to a linear SVM, which simply learns to answer: "is this a pedestrian, yes or no?" The window slides across the image, computing a new vector at every position — and at multiple scales using an image pyramid — so we can find people of different sizes.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Shape 400"/>
          <p:cNvSpPr/>
          <p:nvPr>
            <p:ph type="sldImg"/>
          </p:nvPr>
        </p:nvSpPr>
        <p:spPr>
          <a:prstGeom prst="rect">
            <a:avLst/>
          </a:prstGeom>
        </p:spPr>
        <p:txBody>
          <a:bodyPr/>
          <a:lstStyle/>
          <a:p>
            <a:pPr/>
          </a:p>
        </p:txBody>
      </p:sp>
      <p:sp>
        <p:nvSpPr>
          <p:cNvPr id="401" name="Shape 401"/>
          <p:cNvSpPr/>
          <p:nvPr>
            <p:ph type="body" sz="quarter" idx="1"/>
          </p:nvPr>
        </p:nvSpPr>
        <p:spPr>
          <a:prstGeom prst="rect">
            <a:avLst/>
          </a:prstGeom>
        </p:spPr>
        <p:txBody>
          <a:bodyPr/>
          <a:lstStyle/>
          <a:p>
            <a:pPr/>
            <a:r>
              <a:t>Now let's make all of this concrete with a numerical example. We'll walk through one pixel by hand, using the same numbers as in our study notes.</a:t>
            </a:r>
          </a:p>
          <a:p>
            <a:pPr/>
          </a:p>
          <a:p>
            <a:pPr/>
            <a:r>
              <a:t>Imagine a tiny three-by-three patch with the values shown on the left — eighty, one hundred, one twenty in the top row, and so on. We focus on the centre pixel, value one hundred.</a:t>
            </a:r>
          </a:p>
          <a:p>
            <a:pPr/>
          </a:p>
          <a:p>
            <a:pPr/>
            <a:r>
              <a:t>To compute the horizontal gradient at the centre, we use the kernel [-1, 0, 1] applied to its row. So Gx is the right neighbour minus the left neighbour: one ninety minus eighty equals one hundred and ten. That's a strong horizontal change.</a:t>
            </a:r>
          </a:p>
          <a:p>
            <a:pPr/>
          </a:p>
          <a:p>
            <a:pPr/>
            <a:r>
              <a:t>For Gy, we do the same vertically: bottom minus top, in the centre column: one forty-two minus one hundred equals forty-two.</a:t>
            </a:r>
          </a:p>
          <a:p>
            <a:pPr/>
          </a:p>
          <a:p>
            <a:pPr/>
            <a:r>
              <a:t>Now we convert to polar. Magnitude is the Pythagorean theorem: square root of one ten squared plus forty-two squared, which works out to approximately one hundred and seventeen point seven. That's a strong edge.</a:t>
            </a:r>
          </a:p>
          <a:p>
            <a:pPr/>
          </a:p>
          <a:p>
            <a:pPr/>
            <a:r>
              <a:t>Orientation is arctan of forty-two over one hundred and ten, which gives approximately twenty point nine degrees. So this pixel votes for a near-horizontal edge with a slight upward tilt.</a:t>
            </a:r>
          </a:p>
          <a:p>
            <a:pPr/>
          </a:p>
          <a:p>
            <a:pPr/>
            <a:r>
              <a:t>In the next slide we'll see how this single pixel contributes its vote to the histogram, and then how the whole block gets normalised.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Shape 427"/>
          <p:cNvSpPr/>
          <p:nvPr>
            <p:ph type="sldImg"/>
          </p:nvPr>
        </p:nvSpPr>
        <p:spPr>
          <a:prstGeom prst="rect">
            <a:avLst/>
          </a:prstGeom>
        </p:spPr>
        <p:txBody>
          <a:bodyPr/>
          <a:lstStyle/>
          <a:p>
            <a:pPr/>
          </a:p>
        </p:txBody>
      </p:sp>
      <p:sp>
        <p:nvSpPr>
          <p:cNvPr id="428" name="Shape 428"/>
          <p:cNvSpPr/>
          <p:nvPr>
            <p:ph type="body" sz="quarter" idx="1"/>
          </p:nvPr>
        </p:nvSpPr>
        <p:spPr>
          <a:prstGeom prst="rect">
            <a:avLst/>
          </a:prstGeom>
        </p:spPr>
        <p:txBody>
          <a:bodyPr/>
          <a:lstStyle/>
          <a:p>
            <a:pPr/>
            <a:r>
              <a:t>Continuing the worked example, we now have a pixel with magnitude one-seventeen-point-seven and orientation twenty-point-nine degrees. Where does that vote go?</a:t>
            </a:r>
          </a:p>
          <a:p>
            <a:pPr/>
          </a:p>
          <a:p>
            <a:pPr/>
            <a:r>
              <a:t>Twenty-point-nine sits just past the centre of the twenty-degree bin, on its way to the forty-degree bin. We split the vote proportionally — bilinear interpolation. Since twenty-point-nine is very close to twenty, the twenty-degree bin gets most of the vote: nineteen-point-one over twenty times the magnitude, which is about a hundred and twelve-point-four. The forty-degree bin gets the leftover: zero-point-nine over twenty times the magnitude, about five-point-three.</a:t>
            </a:r>
          </a:p>
          <a:p>
            <a:pPr/>
          </a:p>
          <a:p>
            <a:pPr/>
            <a:r>
              <a:t>If we repeated that calculation for all sixty-four pixels in this cell and summed up the votes, we might end up with a histogram that looks something like the vector shown — a peak of two-fifty at twenty degrees, smaller values everywhere else.</a:t>
            </a:r>
          </a:p>
          <a:p>
            <a:pPr/>
          </a:p>
          <a:p>
            <a:pPr/>
            <a:r>
              <a:t>That's the cell histogram. Now we move to the block. Assume our cell is part of a two-by-two block; concatenating four such histograms gives a thirty-six dimensional vector.</a:t>
            </a:r>
          </a:p>
          <a:p>
            <a:pPr/>
          </a:p>
          <a:p>
            <a:pPr/>
            <a:r>
              <a:t>To normalise we compute its L2 length — sum the squares, take the square root. Let's say that comes to about seven hundred and seven. We divide every value by that, and now every entry is between zero and one.</a:t>
            </a:r>
          </a:p>
          <a:p>
            <a:pPr/>
          </a:p>
          <a:p>
            <a:pPr/>
            <a:r>
              <a:t>The big payoff: if we doubled the brightness of the image, every gradient magnitude would double, the length would double, and after dividing we'd land on exactly the same normalised values. That's where HOG's lighting invariance comes from in concrete numerical terms.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Shape 466"/>
          <p:cNvSpPr/>
          <p:nvPr>
            <p:ph type="sldImg"/>
          </p:nvPr>
        </p:nvSpPr>
        <p:spPr>
          <a:prstGeom prst="rect">
            <a:avLst/>
          </a:prstGeom>
        </p:spPr>
        <p:txBody>
          <a:bodyPr/>
          <a:lstStyle/>
          <a:p>
            <a:pPr/>
          </a:p>
        </p:txBody>
      </p:sp>
      <p:sp>
        <p:nvSpPr>
          <p:cNvPr id="467" name="Shape 467"/>
          <p:cNvSpPr/>
          <p:nvPr>
            <p:ph type="body" sz="quarter" idx="1"/>
          </p:nvPr>
        </p:nvSpPr>
        <p:spPr>
          <a:prstGeom prst="rect">
            <a:avLst/>
          </a:prstGeom>
        </p:spPr>
        <p:txBody>
          <a:bodyPr/>
          <a:lstStyle/>
          <a:p>
            <a:pPr/>
            <a:r>
              <a:t>HOG isn't a single algorithm — it's a family of choices. The classic Dalal and Triggs configuration we keep referring to is just one point in a parameter space. Let's look at the main knobs and what happens when you turn them.</a:t>
            </a:r>
          </a:p>
          <a:p>
            <a:pPr/>
          </a:p>
          <a:p>
            <a:pPr/>
            <a:r>
              <a:t>Cell size: smaller cells like four-by-four capture more spatial detail but they're noisy and explode the descriptor size. Larger cells like sixteen-by-sixteen average out noise but lose fine structure. Eight-by-eight is the sweet spot that Dalal and Triggs landed on.</a:t>
            </a:r>
          </a:p>
          <a:p>
            <a:pPr/>
          </a:p>
          <a:p>
            <a:pPr/>
            <a:r>
              <a:t>Orientation bins: more bins means finer angular resolution but sparser histograms and more sensitivity to noise. Nine unsigned bins — twenty degrees each — was their tuned value, and the paper showed diminishing returns beyond that.</a:t>
            </a:r>
          </a:p>
          <a:p>
            <a:pPr/>
          </a:p>
          <a:p>
            <a:pPr/>
            <a:r>
              <a:t>Block size and overlap: bigger blocks normalise across more area which helps lighting robustness but blurs locality. Overlap is essentially redundancy that improves accuracy at the cost of feature-vector size. Stride of one cell is standard.</a:t>
            </a:r>
          </a:p>
          <a:p>
            <a:pPr/>
          </a:p>
          <a:p>
            <a:pPr/>
            <a:r>
              <a:t>Window size: must roughly match the aspect ratio of the object. Sixty-four by one-hundred-twenty-eight matches a standing person. If you used a square window for pedestrians, you'd waste capacity on background and confuse the classifier.</a:t>
            </a:r>
          </a:p>
          <a:p>
            <a:pPr/>
          </a:p>
          <a:p>
            <a:pPr/>
            <a:r>
              <a:t>The big-picture takeaway: HOG parameters are not magic numbers — they're an explicit trade-off between detail, robustness, and compute cost.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8" name="Shape 528"/>
          <p:cNvSpPr/>
          <p:nvPr>
            <p:ph type="sldImg"/>
          </p:nvPr>
        </p:nvSpPr>
        <p:spPr>
          <a:prstGeom prst="rect">
            <a:avLst/>
          </a:prstGeom>
        </p:spPr>
        <p:txBody>
          <a:bodyPr/>
          <a:lstStyle/>
          <a:p>
            <a:pPr/>
          </a:p>
        </p:txBody>
      </p:sp>
      <p:sp>
        <p:nvSpPr>
          <p:cNvPr id="529" name="Shape 529"/>
          <p:cNvSpPr/>
          <p:nvPr>
            <p:ph type="body" sz="quarter" idx="1"/>
          </p:nvPr>
        </p:nvSpPr>
        <p:spPr>
          <a:prstGeom prst="rect">
            <a:avLst/>
          </a:prstGeom>
        </p:spPr>
        <p:txBody>
          <a:bodyPr/>
          <a:lstStyle/>
          <a:p>
            <a:pPr/>
            <a:r>
              <a:t>Now for the required failure-modes slide — and HOG has plenty.</a:t>
            </a:r>
          </a:p>
          <a:p>
            <a:pPr/>
          </a:p>
          <a:p>
            <a:pPr/>
            <a:r>
              <a:t>Rotation: HOG bins are fixed in space. If you rotate the object, every edge migrates to a different bin and the descriptor changes completely. A detector trained on upright pedestrians genuinely cannot find a person lying sideways.</a:t>
            </a:r>
          </a:p>
          <a:p>
            <a:pPr/>
          </a:p>
          <a:p>
            <a:pPr/>
            <a:r>
              <a:t>Scale: the detection window is a fixed size. If the object is too small, structural detail is missing; if it's too large, only part of it fits inside the window. In practice this is mitigated with an image pyramid — you resize the image multiple times — but that multiplies the compute cost.</a:t>
            </a:r>
          </a:p>
          <a:p>
            <a:pPr/>
          </a:p>
          <a:p>
            <a:pPr/>
            <a:r>
              <a:t>Occlusion and articulation: HOG assumes edges live in stable spatial positions. A pedestrian standing behind a car has half their gradients missing, replaced by car gradients. A person crouching has limbs in completely different cells than the training data expected.</a:t>
            </a:r>
          </a:p>
          <a:p>
            <a:pPr/>
          </a:p>
          <a:p>
            <a:pPr/>
            <a:r>
              <a:t>Background clutter — the famous HOGgles effect from Vondrick's twenty-thirteen paper. Random textures like waves, tree branches, or railings can accidentally produce gradient patterns that resemble real objects. In HOG feature space the false positive looks legitimate even though to a human it's obviously wrong.</a:t>
            </a:r>
          </a:p>
          <a:p>
            <a:pPr/>
          </a:p>
          <a:p>
            <a:pPr/>
            <a:r>
              <a:t>Lighting extremes: normalisation handles routine brightness changes well, but in near-total darkness or harsh white-out conditions, the gradients themselves are corrupted. You can't normalise information that isn't there.</a:t>
            </a:r>
          </a:p>
          <a:p>
            <a:pPr/>
          </a:p>
          <a:p>
            <a:pPr/>
            <a:r>
              <a:t>And finally: HOG is shape-only. It is colour-blind. A mannequin, a statue, and a pedestrian can produce nearly identical descriptors if their silhouettes match.</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2" name="Shape 552"/>
          <p:cNvSpPr/>
          <p:nvPr>
            <p:ph type="sldImg"/>
          </p:nvPr>
        </p:nvSpPr>
        <p:spPr>
          <a:prstGeom prst="rect">
            <a:avLst/>
          </a:prstGeom>
        </p:spPr>
        <p:txBody>
          <a:bodyPr/>
          <a:lstStyle/>
          <a:p>
            <a:pPr/>
          </a:p>
        </p:txBody>
      </p:sp>
      <p:sp>
        <p:nvSpPr>
          <p:cNvPr id="553" name="Shape 553"/>
          <p:cNvSpPr/>
          <p:nvPr>
            <p:ph type="body" sz="quarter" idx="1"/>
          </p:nvPr>
        </p:nvSpPr>
        <p:spPr>
          <a:prstGeom prst="rect">
            <a:avLst/>
          </a:prstGeom>
        </p:spPr>
        <p:txBody>
          <a:bodyPr/>
          <a:lstStyle/>
          <a:p>
            <a:pPr/>
            <a:r>
              <a:t>Following on from the failure modes, here's the corresponding required slide: when should you NOT reach for HOG, and what should you use instead?</a:t>
            </a:r>
          </a:p>
          <a:p>
            <a:pPr/>
          </a:p>
          <a:p>
            <a:pPr/>
            <a:r>
              <a:t>Three rules of thumb.</a:t>
            </a:r>
          </a:p>
          <a:p>
            <a:pPr/>
          </a:p>
          <a:p>
            <a:pPr/>
            <a:r>
              <a:t>If you have a large labelled dataset and access to a GPU, use a convolutional neural network. CNNs learn their own features, including colour and texture, and they handle scale and rotation much more gracefully than HOG. YOLO and Faster R-CNN have completely replaced HOG in the pedestrian-detection benchmarks where HOG used to be state of the art.</a:t>
            </a:r>
          </a:p>
          <a:p>
            <a:pPr/>
          </a:p>
          <a:p>
            <a:pPr/>
            <a:r>
              <a:t>If you specifically need rotation and scale invariance — for example matching the same object across different photos — use SIFT or its faster cousin ORB. Like HOG, they use gradient histograms, but they're sparse and keypoint-based rather than dense and window-based. They're designed for matching, not classification.</a:t>
            </a:r>
          </a:p>
          <a:p>
            <a:pPr/>
          </a:p>
          <a:p>
            <a:pPr/>
            <a:r>
              <a:t>And if your task depends on colour, texture, or fine appearance — recognising a specific person rather than just detecting that a person is present — HOG simply won't work. You need a richer representation, typically a CNN or a colour-and-texture-aware classical descriptor.</a:t>
            </a:r>
          </a:p>
          <a:p>
            <a:pPr/>
          </a:p>
          <a:p>
            <a:pPr/>
            <a:r>
              <a:t>So when IS HOG still useful? When you need an interpretable, fast, deterministic, low-data shape descriptor. Embedded systems, low-power devices, or as a baseline to compare against. It's also a fantastic teaching tool because every step is human-readable.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1" name="Shape 571"/>
          <p:cNvSpPr/>
          <p:nvPr>
            <p:ph type="sldImg"/>
          </p:nvPr>
        </p:nvSpPr>
        <p:spPr>
          <a:prstGeom prst="rect">
            <a:avLst/>
          </a:prstGeom>
        </p:spPr>
        <p:txBody>
          <a:bodyPr/>
          <a:lstStyle/>
          <a:p>
            <a:pPr/>
          </a:p>
        </p:txBody>
      </p:sp>
      <p:sp>
        <p:nvSpPr>
          <p:cNvPr id="572" name="Shape 572"/>
          <p:cNvSpPr/>
          <p:nvPr>
            <p:ph type="body" sz="quarter" idx="1"/>
          </p:nvPr>
        </p:nvSpPr>
        <p:spPr>
          <a:prstGeom prst="rect">
            <a:avLst/>
          </a:prstGeom>
        </p:spPr>
        <p:txBody>
          <a:bodyPr/>
          <a:lstStyle/>
          <a:p>
            <a:pPr/>
            <a:r>
              <a:t>HOG isn't just historical — it's quietly running in a lot of places, and the case study to remember is its original killer app: pedestrian detection in advanced driver-assistance systems.</a:t>
            </a:r>
          </a:p>
          <a:p>
            <a:pPr/>
          </a:p>
          <a:p>
            <a:pPr/>
            <a:r>
              <a:t>When automotive companies first started building pedestrian-detection features in the late two-thousands and early twenty-tens, HOG plus a linear SVM was the standard pipeline. It was fast enough to run on the limited compute available in a car ECU, accurate enough to be useful, and most importantly it was deterministic and interpretable — engineers could explain why a detection fired, which is critical for safety certification.</a:t>
            </a:r>
          </a:p>
          <a:p>
            <a:pPr/>
          </a:p>
          <a:p>
            <a:pPr/>
            <a:r>
              <a:t>The classic configuration is exactly what we walked through earlier: sixty-four by one-twenty-eight window, eight-by-eight cells, nine bins, two-by-two blocks, sliding window plus image pyramid for multi-scale. Mobileye, Bosch, and Continental all shipped variants of this in their early ADAS systems.</a:t>
            </a:r>
          </a:p>
          <a:p>
            <a:pPr/>
          </a:p>
          <a:p>
            <a:pPr/>
            <a:r>
              <a:t>Today most production pedestrian detection has migrated to deep learning, but HOG still appears in other places. Dlib's face detector — the one that ships in OpenCV bindings and is used in OpenFace and dozens of accessibility tools — is a HOG plus linear SVM at its core. License plate detection in many parking systems is HOG-based. And medical imaging pipelines often use HOG features for tasks like cell counting where interpretability matters more than the last percentage point of accuracy.</a:t>
            </a:r>
          </a:p>
          <a:p>
            <a:pPr/>
          </a:p>
          <a:p>
            <a:pPr/>
            <a:r>
              <a:t>The point: HOG made a generation of computer-vision products work, and in domains where compute is tight or interpretability matters, it still does.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7" name="Shape 607"/>
          <p:cNvSpPr/>
          <p:nvPr>
            <p:ph type="sldImg"/>
          </p:nvPr>
        </p:nvSpPr>
        <p:spPr>
          <a:prstGeom prst="rect">
            <a:avLst/>
          </a:prstGeom>
        </p:spPr>
        <p:txBody>
          <a:bodyPr/>
          <a:lstStyle/>
          <a:p>
            <a:pPr/>
          </a:p>
        </p:txBody>
      </p:sp>
      <p:sp>
        <p:nvSpPr>
          <p:cNvPr id="608" name="Shape 608"/>
          <p:cNvSpPr/>
          <p:nvPr>
            <p:ph type="body" sz="quarter" idx="1"/>
          </p:nvPr>
        </p:nvSpPr>
        <p:spPr>
          <a:prstGeom prst="rect">
            <a:avLst/>
          </a:prstGeom>
        </p:spPr>
        <p:txBody>
          <a:bodyPr/>
          <a:lstStyle/>
          <a:p>
            <a:pPr/>
            <a:r>
              <a:t>To wrap up — three takeaways from today.</a:t>
            </a:r>
          </a:p>
          <a:p>
            <a:pPr/>
          </a:p>
          <a:p>
            <a:pPr/>
            <a:r>
              <a:t>One: HOG captures structure by looking at where edges are and which direction they point — not at raw pixels. That shift from "what colour is this pixel" to "in what direction does the brightness change here" is the entire conceptual move.</a:t>
            </a:r>
          </a:p>
          <a:p>
            <a:pPr/>
          </a:p>
          <a:p>
            <a:pPr/>
            <a:r>
              <a:t>Two: the pipeline is mechanical and interpretable. Gradients, cells, blocks, normalisation, a long feature vector. Every step has a clear purpose and every output is a number you could read by hand if you wanted to.</a:t>
            </a:r>
          </a:p>
          <a:p>
            <a:pPr/>
          </a:p>
          <a:p>
            <a:pPr/>
            <a:r>
              <a:t>Three: HOG is no longer state of the art — CNNs have taken that crown for almost every benchmark. But it remains an excellent baseline, a great teaching tool, and the right choice when you need speed, interpretability, low compute, or small training datasets.</a:t>
            </a:r>
          </a:p>
          <a:p>
            <a:pPr/>
          </a:p>
          <a:p>
            <a:pPr/>
            <a:r>
              <a:t>We're now happy to take questions on any part of the pipeline, the failure modes, the simulator, or the related literature. Thank you.</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370012" y="577453"/>
            <a:ext cx="7315201" cy="125134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5103812" y="1828800"/>
            <a:ext cx="3581401" cy="33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294578" y="4643111"/>
            <a:ext cx="258623" cy="248303"/>
          </a:xfrm>
          <a:prstGeom prst="rect">
            <a:avLst/>
          </a:prstGeom>
          <a:ln w="12700">
            <a:miter lim="400000"/>
          </a:ln>
        </p:spPr>
        <p:txBody>
          <a:bodyPr wrap="none" lIns="45718" tIns="45718" rIns="45718" bIns="45718" anchor="ctr">
            <a:spAutoFit/>
          </a:bodyPr>
          <a:lstStyle>
            <a:lvl1pPr algn="r">
              <a:defRPr sz="1200">
                <a:latin typeface="+mn-lt"/>
                <a:ea typeface="+mn-ea"/>
                <a:cs typeface="+mn-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20" name="Shape 0"/>
          <p:cNvSpPr/>
          <p:nvPr/>
        </p:nvSpPr>
        <p:spPr>
          <a:xfrm>
            <a:off x="365758" y="457200"/>
            <a:ext cx="54867" cy="54864"/>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1" name="Shape 1"/>
          <p:cNvSpPr/>
          <p:nvPr/>
        </p:nvSpPr>
        <p:spPr>
          <a:xfrm>
            <a:off x="530351" y="457200"/>
            <a:ext cx="54867" cy="54864"/>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2" name="Shape 2"/>
          <p:cNvSpPr/>
          <p:nvPr/>
        </p:nvSpPr>
        <p:spPr>
          <a:xfrm>
            <a:off x="694944" y="457200"/>
            <a:ext cx="54867" cy="54864"/>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3" name="Shape 3"/>
          <p:cNvSpPr/>
          <p:nvPr/>
        </p:nvSpPr>
        <p:spPr>
          <a:xfrm>
            <a:off x="859536" y="457200"/>
            <a:ext cx="54864" cy="54864"/>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4" name="Shape 4"/>
          <p:cNvSpPr/>
          <p:nvPr/>
        </p:nvSpPr>
        <p:spPr>
          <a:xfrm>
            <a:off x="1024127" y="457200"/>
            <a:ext cx="54867" cy="54864"/>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5" name="Shape 5"/>
          <p:cNvSpPr/>
          <p:nvPr/>
        </p:nvSpPr>
        <p:spPr>
          <a:xfrm>
            <a:off x="1188719" y="457200"/>
            <a:ext cx="54867" cy="54864"/>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6" name="Shape 6"/>
          <p:cNvSpPr/>
          <p:nvPr/>
        </p:nvSpPr>
        <p:spPr>
          <a:xfrm>
            <a:off x="365758" y="86868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7" name="Shape 7"/>
          <p:cNvSpPr/>
          <p:nvPr/>
        </p:nvSpPr>
        <p:spPr>
          <a:xfrm>
            <a:off x="530351" y="86868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8" name="Shape 8"/>
          <p:cNvSpPr/>
          <p:nvPr/>
        </p:nvSpPr>
        <p:spPr>
          <a:xfrm>
            <a:off x="694944" y="868680"/>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9" name="Shape 9"/>
          <p:cNvSpPr/>
          <p:nvPr/>
        </p:nvSpPr>
        <p:spPr>
          <a:xfrm>
            <a:off x="859536" y="868680"/>
            <a:ext cx="54864"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0" name="Shape 10"/>
          <p:cNvSpPr/>
          <p:nvPr/>
        </p:nvSpPr>
        <p:spPr>
          <a:xfrm>
            <a:off x="1024127" y="86868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1" name="Shape 11"/>
          <p:cNvSpPr/>
          <p:nvPr/>
        </p:nvSpPr>
        <p:spPr>
          <a:xfrm>
            <a:off x="1188719" y="868680"/>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2" name="Shape 12"/>
          <p:cNvSpPr/>
          <p:nvPr/>
        </p:nvSpPr>
        <p:spPr>
          <a:xfrm>
            <a:off x="365758" y="128016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3" name="Shape 13"/>
          <p:cNvSpPr/>
          <p:nvPr/>
        </p:nvSpPr>
        <p:spPr>
          <a:xfrm>
            <a:off x="530351" y="1280160"/>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4" name="Shape 14"/>
          <p:cNvSpPr/>
          <p:nvPr/>
        </p:nvSpPr>
        <p:spPr>
          <a:xfrm>
            <a:off x="694944" y="128016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5" name="Shape 15"/>
          <p:cNvSpPr/>
          <p:nvPr/>
        </p:nvSpPr>
        <p:spPr>
          <a:xfrm>
            <a:off x="859536" y="1280160"/>
            <a:ext cx="54864"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6" name="Shape 16"/>
          <p:cNvSpPr/>
          <p:nvPr/>
        </p:nvSpPr>
        <p:spPr>
          <a:xfrm>
            <a:off x="1024127" y="1280160"/>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7" name="Shape 17"/>
          <p:cNvSpPr/>
          <p:nvPr/>
        </p:nvSpPr>
        <p:spPr>
          <a:xfrm>
            <a:off x="1188719" y="128016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8" name="Shape 18"/>
          <p:cNvSpPr/>
          <p:nvPr/>
        </p:nvSpPr>
        <p:spPr>
          <a:xfrm>
            <a:off x="365758" y="1691638"/>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9" name="Shape 19"/>
          <p:cNvSpPr/>
          <p:nvPr/>
        </p:nvSpPr>
        <p:spPr>
          <a:xfrm>
            <a:off x="530351" y="1691638"/>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0" name="Shape 20"/>
          <p:cNvSpPr/>
          <p:nvPr/>
        </p:nvSpPr>
        <p:spPr>
          <a:xfrm>
            <a:off x="694944" y="1691638"/>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1" name="Shape 21"/>
          <p:cNvSpPr/>
          <p:nvPr/>
        </p:nvSpPr>
        <p:spPr>
          <a:xfrm>
            <a:off x="859536" y="1691638"/>
            <a:ext cx="54864"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2" name="Shape 22"/>
          <p:cNvSpPr/>
          <p:nvPr/>
        </p:nvSpPr>
        <p:spPr>
          <a:xfrm>
            <a:off x="1024127" y="1691638"/>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3" name="Shape 23"/>
          <p:cNvSpPr/>
          <p:nvPr/>
        </p:nvSpPr>
        <p:spPr>
          <a:xfrm>
            <a:off x="1188719" y="1691638"/>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4" name="Shape 24"/>
          <p:cNvSpPr/>
          <p:nvPr/>
        </p:nvSpPr>
        <p:spPr>
          <a:xfrm>
            <a:off x="365758" y="210312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5" name="Shape 25"/>
          <p:cNvSpPr/>
          <p:nvPr/>
        </p:nvSpPr>
        <p:spPr>
          <a:xfrm>
            <a:off x="530351" y="210312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6" name="Shape 26"/>
          <p:cNvSpPr/>
          <p:nvPr/>
        </p:nvSpPr>
        <p:spPr>
          <a:xfrm>
            <a:off x="694944" y="2103120"/>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7" name="Shape 27"/>
          <p:cNvSpPr/>
          <p:nvPr/>
        </p:nvSpPr>
        <p:spPr>
          <a:xfrm>
            <a:off x="859536" y="2103120"/>
            <a:ext cx="54864"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8" name="Shape 28"/>
          <p:cNvSpPr/>
          <p:nvPr/>
        </p:nvSpPr>
        <p:spPr>
          <a:xfrm>
            <a:off x="1024127" y="210312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9" name="Shape 29"/>
          <p:cNvSpPr/>
          <p:nvPr/>
        </p:nvSpPr>
        <p:spPr>
          <a:xfrm>
            <a:off x="1188719" y="2103120"/>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0" name="Shape 30"/>
          <p:cNvSpPr/>
          <p:nvPr/>
        </p:nvSpPr>
        <p:spPr>
          <a:xfrm>
            <a:off x="365758" y="2514600"/>
            <a:ext cx="54867" cy="54864"/>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1" name="Shape 31"/>
          <p:cNvSpPr/>
          <p:nvPr/>
        </p:nvSpPr>
        <p:spPr>
          <a:xfrm>
            <a:off x="530351" y="2514600"/>
            <a:ext cx="54867" cy="54864"/>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2" name="Shape 32"/>
          <p:cNvSpPr/>
          <p:nvPr/>
        </p:nvSpPr>
        <p:spPr>
          <a:xfrm>
            <a:off x="694944" y="2514600"/>
            <a:ext cx="54867" cy="54864"/>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3" name="Shape 33"/>
          <p:cNvSpPr/>
          <p:nvPr/>
        </p:nvSpPr>
        <p:spPr>
          <a:xfrm>
            <a:off x="859536" y="2514600"/>
            <a:ext cx="54864" cy="54864"/>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4" name="Shape 34"/>
          <p:cNvSpPr/>
          <p:nvPr/>
        </p:nvSpPr>
        <p:spPr>
          <a:xfrm>
            <a:off x="1024127" y="2514600"/>
            <a:ext cx="54867" cy="54864"/>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5" name="Shape 35"/>
          <p:cNvSpPr/>
          <p:nvPr/>
        </p:nvSpPr>
        <p:spPr>
          <a:xfrm>
            <a:off x="1188719" y="2514600"/>
            <a:ext cx="54867" cy="54864"/>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6" name="Shape 36"/>
          <p:cNvSpPr/>
          <p:nvPr/>
        </p:nvSpPr>
        <p:spPr>
          <a:xfrm>
            <a:off x="365758" y="2926078"/>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7" name="Shape 37"/>
          <p:cNvSpPr/>
          <p:nvPr/>
        </p:nvSpPr>
        <p:spPr>
          <a:xfrm>
            <a:off x="530351" y="2926078"/>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8" name="Shape 38"/>
          <p:cNvSpPr/>
          <p:nvPr/>
        </p:nvSpPr>
        <p:spPr>
          <a:xfrm>
            <a:off x="694944" y="2926078"/>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9" name="Shape 39"/>
          <p:cNvSpPr/>
          <p:nvPr/>
        </p:nvSpPr>
        <p:spPr>
          <a:xfrm>
            <a:off x="859536" y="2926078"/>
            <a:ext cx="54864"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0" name="Shape 40"/>
          <p:cNvSpPr/>
          <p:nvPr/>
        </p:nvSpPr>
        <p:spPr>
          <a:xfrm>
            <a:off x="1024127" y="2926078"/>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1" name="Shape 41"/>
          <p:cNvSpPr/>
          <p:nvPr/>
        </p:nvSpPr>
        <p:spPr>
          <a:xfrm>
            <a:off x="1188719" y="2926078"/>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2" name="Shape 42"/>
          <p:cNvSpPr/>
          <p:nvPr/>
        </p:nvSpPr>
        <p:spPr>
          <a:xfrm>
            <a:off x="365758" y="3337559"/>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3" name="Shape 43"/>
          <p:cNvSpPr/>
          <p:nvPr/>
        </p:nvSpPr>
        <p:spPr>
          <a:xfrm>
            <a:off x="530351" y="3337559"/>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4" name="Shape 44"/>
          <p:cNvSpPr/>
          <p:nvPr/>
        </p:nvSpPr>
        <p:spPr>
          <a:xfrm>
            <a:off x="694944" y="3337559"/>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5" name="Shape 45"/>
          <p:cNvSpPr/>
          <p:nvPr/>
        </p:nvSpPr>
        <p:spPr>
          <a:xfrm>
            <a:off x="859536" y="3337559"/>
            <a:ext cx="54864"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6" name="Shape 46"/>
          <p:cNvSpPr/>
          <p:nvPr/>
        </p:nvSpPr>
        <p:spPr>
          <a:xfrm>
            <a:off x="1024127" y="3337559"/>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7" name="Shape 47"/>
          <p:cNvSpPr/>
          <p:nvPr/>
        </p:nvSpPr>
        <p:spPr>
          <a:xfrm>
            <a:off x="1188719" y="3337559"/>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8" name="Shape 48"/>
          <p:cNvSpPr/>
          <p:nvPr/>
        </p:nvSpPr>
        <p:spPr>
          <a:xfrm>
            <a:off x="365758" y="374904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9" name="Shape 49"/>
          <p:cNvSpPr/>
          <p:nvPr/>
        </p:nvSpPr>
        <p:spPr>
          <a:xfrm>
            <a:off x="530351" y="3749040"/>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0" name="Shape 50"/>
          <p:cNvSpPr/>
          <p:nvPr/>
        </p:nvSpPr>
        <p:spPr>
          <a:xfrm>
            <a:off x="694944" y="374904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1" name="Shape 51"/>
          <p:cNvSpPr/>
          <p:nvPr/>
        </p:nvSpPr>
        <p:spPr>
          <a:xfrm>
            <a:off x="859536" y="3749040"/>
            <a:ext cx="54864"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2" name="Shape 52"/>
          <p:cNvSpPr/>
          <p:nvPr/>
        </p:nvSpPr>
        <p:spPr>
          <a:xfrm>
            <a:off x="1024127" y="3749040"/>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3" name="Shape 53"/>
          <p:cNvSpPr/>
          <p:nvPr/>
        </p:nvSpPr>
        <p:spPr>
          <a:xfrm>
            <a:off x="1188719" y="374904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4" name="Shape 54"/>
          <p:cNvSpPr/>
          <p:nvPr/>
        </p:nvSpPr>
        <p:spPr>
          <a:xfrm>
            <a:off x="365758" y="4160520"/>
            <a:ext cx="54867"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5" name="Shape 55"/>
          <p:cNvSpPr/>
          <p:nvPr/>
        </p:nvSpPr>
        <p:spPr>
          <a:xfrm>
            <a:off x="530351" y="416052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6" name="Shape 56"/>
          <p:cNvSpPr/>
          <p:nvPr/>
        </p:nvSpPr>
        <p:spPr>
          <a:xfrm>
            <a:off x="694944" y="416052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7" name="Shape 57"/>
          <p:cNvSpPr/>
          <p:nvPr/>
        </p:nvSpPr>
        <p:spPr>
          <a:xfrm>
            <a:off x="859536" y="4160520"/>
            <a:ext cx="54864" cy="54867"/>
          </a:xfrm>
          <a:prstGeom prst="ellipse">
            <a:avLst/>
          </a:prstGeom>
          <a:solidFill>
            <a:srgbClr val="06B6D4">
              <a:alpha val="2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8" name="Shape 58"/>
          <p:cNvSpPr/>
          <p:nvPr/>
        </p:nvSpPr>
        <p:spPr>
          <a:xfrm>
            <a:off x="1024127" y="416052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79" name="Shape 59"/>
          <p:cNvSpPr/>
          <p:nvPr/>
        </p:nvSpPr>
        <p:spPr>
          <a:xfrm>
            <a:off x="1188719" y="4160520"/>
            <a:ext cx="54867" cy="54867"/>
          </a:xfrm>
          <a:prstGeom prst="ellipse">
            <a:avLst/>
          </a:prstGeom>
          <a:solidFill>
            <a:srgbClr val="06B6D4">
              <a:alpha val="6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80" name="Shape 60"/>
          <p:cNvSpPr/>
          <p:nvPr/>
        </p:nvSpPr>
        <p:spPr>
          <a:xfrm>
            <a:off x="7370064" y="2286000"/>
            <a:ext cx="256033" cy="0"/>
          </a:xfrm>
          <a:prstGeom prst="line">
            <a:avLst/>
          </a:prstGeom>
          <a:ln w="25400">
            <a:solidFill>
              <a:srgbClr val="F59E0B">
                <a:alpha val="80000"/>
              </a:srgbClr>
            </a:solidFill>
          </a:ln>
        </p:spPr>
        <p:txBody>
          <a:bodyPr lIns="45718" tIns="45718" rIns="45718" bIns="45718"/>
          <a:lstStyle/>
          <a:p>
            <a:pPr/>
          </a:p>
        </p:txBody>
      </p:sp>
      <p:sp>
        <p:nvSpPr>
          <p:cNvPr id="81" name="Shape 61"/>
          <p:cNvSpPr/>
          <p:nvPr/>
        </p:nvSpPr>
        <p:spPr>
          <a:xfrm>
            <a:off x="7259994" y="2199344"/>
            <a:ext cx="476171" cy="173312"/>
          </a:xfrm>
          <a:prstGeom prst="line">
            <a:avLst/>
          </a:prstGeom>
          <a:ln w="25400">
            <a:solidFill>
              <a:srgbClr val="F59E0B">
                <a:alpha val="80000"/>
              </a:srgbClr>
            </a:solidFill>
          </a:ln>
        </p:spPr>
        <p:txBody>
          <a:bodyPr lIns="45718" tIns="45718" rIns="45718" bIns="45718"/>
          <a:lstStyle/>
          <a:p>
            <a:pPr/>
          </a:p>
        </p:txBody>
      </p:sp>
      <p:sp>
        <p:nvSpPr>
          <p:cNvPr id="82" name="Shape 62"/>
          <p:cNvSpPr/>
          <p:nvPr/>
        </p:nvSpPr>
        <p:spPr>
          <a:xfrm>
            <a:off x="7280637" y="2103544"/>
            <a:ext cx="434887" cy="364912"/>
          </a:xfrm>
          <a:prstGeom prst="line">
            <a:avLst/>
          </a:prstGeom>
          <a:ln w="25400">
            <a:solidFill>
              <a:srgbClr val="F59E0B">
                <a:alpha val="80000"/>
              </a:srgbClr>
            </a:solidFill>
          </a:ln>
        </p:spPr>
        <p:txBody>
          <a:bodyPr lIns="45718" tIns="45718" rIns="45718" bIns="45718"/>
          <a:lstStyle/>
          <a:p>
            <a:pPr/>
          </a:p>
        </p:txBody>
      </p:sp>
      <p:sp>
        <p:nvSpPr>
          <p:cNvPr id="83" name="Shape 63"/>
          <p:cNvSpPr/>
          <p:nvPr/>
        </p:nvSpPr>
        <p:spPr>
          <a:xfrm>
            <a:off x="7399876" y="2115908"/>
            <a:ext cx="196407" cy="340184"/>
          </a:xfrm>
          <a:prstGeom prst="line">
            <a:avLst/>
          </a:prstGeom>
          <a:ln w="25400">
            <a:solidFill>
              <a:srgbClr val="F59E0B">
                <a:alpha val="80000"/>
              </a:srgbClr>
            </a:solidFill>
          </a:ln>
        </p:spPr>
        <p:txBody>
          <a:bodyPr lIns="45718" tIns="45718" rIns="45718" bIns="45718"/>
          <a:lstStyle/>
          <a:p>
            <a:pPr/>
          </a:p>
        </p:txBody>
      </p:sp>
      <p:sp>
        <p:nvSpPr>
          <p:cNvPr id="84" name="Shape 64"/>
          <p:cNvSpPr/>
          <p:nvPr/>
        </p:nvSpPr>
        <p:spPr>
          <a:xfrm>
            <a:off x="7463552" y="2090191"/>
            <a:ext cx="69054" cy="391618"/>
          </a:xfrm>
          <a:prstGeom prst="line">
            <a:avLst/>
          </a:prstGeom>
          <a:ln w="25400">
            <a:solidFill>
              <a:srgbClr val="F59E0B">
                <a:alpha val="80000"/>
              </a:srgbClr>
            </a:solidFill>
          </a:ln>
        </p:spPr>
        <p:txBody>
          <a:bodyPr lIns="45718" tIns="45718" rIns="45718" bIns="45718"/>
          <a:lstStyle/>
          <a:p>
            <a:pPr/>
          </a:p>
        </p:txBody>
      </p:sp>
      <p:sp>
        <p:nvSpPr>
          <p:cNvPr id="85" name="Shape 65"/>
          <p:cNvSpPr/>
          <p:nvPr/>
        </p:nvSpPr>
        <p:spPr>
          <a:xfrm>
            <a:off x="7448687" y="2005880"/>
            <a:ext cx="98787" cy="560240"/>
          </a:xfrm>
          <a:prstGeom prst="line">
            <a:avLst/>
          </a:prstGeom>
          <a:ln w="25400">
            <a:solidFill>
              <a:srgbClr val="F59E0B">
                <a:alpha val="80000"/>
              </a:srgbClr>
            </a:solidFill>
          </a:ln>
        </p:spPr>
        <p:txBody>
          <a:bodyPr lIns="45718" tIns="45718" rIns="45718" bIns="45718"/>
          <a:lstStyle/>
          <a:p>
            <a:pPr/>
          </a:p>
        </p:txBody>
      </p:sp>
      <p:sp>
        <p:nvSpPr>
          <p:cNvPr id="86" name="Shape 66"/>
          <p:cNvSpPr/>
          <p:nvPr/>
        </p:nvSpPr>
        <p:spPr>
          <a:xfrm>
            <a:off x="7372242" y="2068043"/>
            <a:ext cx="251676" cy="435914"/>
          </a:xfrm>
          <a:prstGeom prst="line">
            <a:avLst/>
          </a:prstGeom>
          <a:ln w="25400">
            <a:solidFill>
              <a:srgbClr val="F59E0B">
                <a:alpha val="80000"/>
              </a:srgbClr>
            </a:solidFill>
          </a:ln>
        </p:spPr>
        <p:txBody>
          <a:bodyPr lIns="45718" tIns="45718" rIns="45718" bIns="45718"/>
          <a:lstStyle/>
          <a:p>
            <a:pPr/>
          </a:p>
        </p:txBody>
      </p:sp>
      <p:sp>
        <p:nvSpPr>
          <p:cNvPr id="87" name="Shape 67"/>
          <p:cNvSpPr/>
          <p:nvPr/>
        </p:nvSpPr>
        <p:spPr>
          <a:xfrm>
            <a:off x="7397953" y="2201982"/>
            <a:ext cx="200256" cy="168036"/>
          </a:xfrm>
          <a:prstGeom prst="line">
            <a:avLst/>
          </a:prstGeom>
          <a:ln w="25400">
            <a:solidFill>
              <a:srgbClr val="F59E0B">
                <a:alpha val="80000"/>
              </a:srgbClr>
            </a:solidFill>
          </a:ln>
        </p:spPr>
        <p:txBody>
          <a:bodyPr lIns="45718" tIns="45718" rIns="45718" bIns="45718"/>
          <a:lstStyle/>
          <a:p>
            <a:pPr/>
          </a:p>
        </p:txBody>
      </p:sp>
      <p:sp>
        <p:nvSpPr>
          <p:cNvPr id="88" name="Shape 68"/>
          <p:cNvSpPr/>
          <p:nvPr/>
        </p:nvSpPr>
        <p:spPr>
          <a:xfrm>
            <a:off x="7258440" y="2198776"/>
            <a:ext cx="479279" cy="174446"/>
          </a:xfrm>
          <a:prstGeom prst="line">
            <a:avLst/>
          </a:prstGeom>
          <a:ln w="25400">
            <a:solidFill>
              <a:srgbClr val="F59E0B">
                <a:alpha val="80000"/>
              </a:srgbClr>
            </a:solidFill>
          </a:ln>
        </p:spPr>
        <p:txBody>
          <a:bodyPr lIns="45718" tIns="45718" rIns="45718" bIns="45718"/>
          <a:lstStyle/>
          <a:p>
            <a:pPr/>
          </a:p>
        </p:txBody>
      </p:sp>
      <p:sp>
        <p:nvSpPr>
          <p:cNvPr id="89" name="Text 69"/>
          <p:cNvSpPr txBox="1"/>
          <p:nvPr/>
        </p:nvSpPr>
        <p:spPr>
          <a:xfrm>
            <a:off x="1828800" y="1350185"/>
            <a:ext cx="68580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06B6D4"/>
                </a:solidFill>
                <a:latin typeface="+mn-lt"/>
                <a:ea typeface="+mn-ea"/>
                <a:cs typeface="+mn-cs"/>
                <a:sym typeface="Calibri"/>
              </a:defRPr>
            </a:lvl1pPr>
          </a:lstStyle>
          <a:p>
            <a:pPr/>
            <a:r>
              <a:t>ARI 2129  ·  PRINCIPLES OF COMPUTER VISION</a:t>
            </a:r>
          </a:p>
        </p:txBody>
      </p:sp>
      <p:sp>
        <p:nvSpPr>
          <p:cNvPr id="90" name="Text 70"/>
          <p:cNvSpPr txBox="1"/>
          <p:nvPr/>
        </p:nvSpPr>
        <p:spPr>
          <a:xfrm>
            <a:off x="1828800" y="1635719"/>
            <a:ext cx="5486400" cy="614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800">
                <a:solidFill>
                  <a:srgbClr val="F1F5F9"/>
                </a:solidFill>
                <a:latin typeface="+mn-lt"/>
                <a:ea typeface="+mn-ea"/>
                <a:cs typeface="+mn-cs"/>
                <a:sym typeface="Calibri"/>
              </a:defRPr>
            </a:lvl1pPr>
          </a:lstStyle>
          <a:p>
            <a:pPr/>
            <a:r>
              <a:t>Histogram of</a:t>
            </a:r>
          </a:p>
        </p:txBody>
      </p:sp>
      <p:sp>
        <p:nvSpPr>
          <p:cNvPr id="91" name="Text 71"/>
          <p:cNvSpPr txBox="1"/>
          <p:nvPr/>
        </p:nvSpPr>
        <p:spPr>
          <a:xfrm>
            <a:off x="1828800" y="2275800"/>
            <a:ext cx="5486400" cy="6147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800">
                <a:solidFill>
                  <a:srgbClr val="F59E0B"/>
                </a:solidFill>
                <a:latin typeface="+mn-lt"/>
                <a:ea typeface="+mn-ea"/>
                <a:cs typeface="+mn-cs"/>
                <a:sym typeface="Calibri"/>
              </a:defRPr>
            </a:lvl1pPr>
          </a:lstStyle>
          <a:p>
            <a:pPr/>
            <a:r>
              <a:t>Oriented Gradients</a:t>
            </a:r>
          </a:p>
        </p:txBody>
      </p:sp>
      <p:sp>
        <p:nvSpPr>
          <p:cNvPr id="92" name="Text 72"/>
          <p:cNvSpPr txBox="1"/>
          <p:nvPr/>
        </p:nvSpPr>
        <p:spPr>
          <a:xfrm>
            <a:off x="1828800" y="3095823"/>
            <a:ext cx="54864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600">
                <a:solidFill>
                  <a:srgbClr val="94A3B8"/>
                </a:solidFill>
                <a:latin typeface="+mn-lt"/>
                <a:ea typeface="+mn-ea"/>
                <a:cs typeface="+mn-cs"/>
                <a:sym typeface="Calibri"/>
              </a:defRPr>
            </a:lvl1pPr>
          </a:lstStyle>
          <a:p>
            <a:pPr/>
            <a:r>
              <a:t>Capturing shape, one edge direction at a time.</a:t>
            </a:r>
          </a:p>
        </p:txBody>
      </p:sp>
      <p:sp>
        <p:nvSpPr>
          <p:cNvPr id="93" name="Text 73"/>
          <p:cNvSpPr txBox="1"/>
          <p:nvPr/>
        </p:nvSpPr>
        <p:spPr>
          <a:xfrm>
            <a:off x="1828800" y="4367705"/>
            <a:ext cx="54864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4748B"/>
                </a:solidFill>
                <a:latin typeface="+mn-lt"/>
                <a:ea typeface="+mn-ea"/>
                <a:cs typeface="+mn-cs"/>
                <a:sym typeface="Calibri"/>
              </a:defRPr>
            </a:lvl1pPr>
          </a:lstStyle>
          <a:p>
            <a:pPr/>
            <a:r>
              <a:t>Group Project  ·  Learning Pack</a:t>
            </a:r>
          </a:p>
        </p:txBody>
      </p:sp>
      <p:sp>
        <p:nvSpPr>
          <p:cNvPr id="94" name="Text 73"/>
          <p:cNvSpPr txBox="1"/>
          <p:nvPr/>
        </p:nvSpPr>
        <p:spPr>
          <a:xfrm>
            <a:off x="1828800" y="3769207"/>
            <a:ext cx="54864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64748B"/>
                </a:solidFill>
                <a:latin typeface="+mn-lt"/>
                <a:ea typeface="+mn-ea"/>
                <a:cs typeface="+mn-cs"/>
                <a:sym typeface="Calibri"/>
              </a:defRPr>
            </a:lvl1pPr>
          </a:lstStyle>
          <a:p>
            <a:pPr/>
            <a:r>
              <a:t>Team 7 – Eytan Attard Vella, Julian Galea, Julian Grech, Gilmor Azzopardi, Kai James Azzopardi</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98"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MOTIVATION</a:t>
            </a:r>
          </a:p>
        </p:txBody>
      </p:sp>
      <p:sp>
        <p:nvSpPr>
          <p:cNvPr id="99"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Why do we need HOG?</a:t>
            </a:r>
          </a:p>
        </p:txBody>
      </p:sp>
      <p:sp>
        <p:nvSpPr>
          <p:cNvPr id="100" name="Shape 2"/>
          <p:cNvSpPr/>
          <p:nvPr/>
        </p:nvSpPr>
        <p:spPr>
          <a:xfrm>
            <a:off x="457198" y="1280160"/>
            <a:ext cx="4023362"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01" name="Text 3"/>
          <p:cNvSpPr txBox="1"/>
          <p:nvPr/>
        </p:nvSpPr>
        <p:spPr>
          <a:xfrm>
            <a:off x="685800" y="1485944"/>
            <a:ext cx="3657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EF4444"/>
                </a:solidFill>
                <a:latin typeface="+mn-lt"/>
                <a:ea typeface="+mn-ea"/>
                <a:cs typeface="+mn-cs"/>
                <a:sym typeface="Calibri"/>
              </a:defRPr>
            </a:lvl1pPr>
          </a:lstStyle>
          <a:p>
            <a:pPr/>
            <a:r>
              <a:t>THE PROBLEM</a:t>
            </a:r>
          </a:p>
        </p:txBody>
      </p:sp>
      <p:sp>
        <p:nvSpPr>
          <p:cNvPr id="102" name="Text 4"/>
          <p:cNvSpPr txBox="1"/>
          <p:nvPr/>
        </p:nvSpPr>
        <p:spPr>
          <a:xfrm>
            <a:off x="685800" y="1753696"/>
            <a:ext cx="365760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1F5F9"/>
                </a:solidFill>
                <a:latin typeface="+mn-lt"/>
                <a:ea typeface="+mn-ea"/>
                <a:cs typeface="+mn-cs"/>
                <a:sym typeface="Calibri"/>
              </a:defRPr>
            </a:lvl1pPr>
          </a:lstStyle>
          <a:p>
            <a:pPr/>
            <a:r>
              <a:t>Raw pixels are unstable.</a:t>
            </a:r>
          </a:p>
        </p:txBody>
      </p:sp>
      <p:sp>
        <p:nvSpPr>
          <p:cNvPr id="103" name="Text 5"/>
          <p:cNvSpPr txBox="1"/>
          <p:nvPr/>
        </p:nvSpPr>
        <p:spPr>
          <a:xfrm>
            <a:off x="685800" y="2507418"/>
            <a:ext cx="3657600" cy="1385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rgbClr val="94A3B8"/>
                </a:solidFill>
                <a:latin typeface="+mn-lt"/>
                <a:ea typeface="+mn-ea"/>
                <a:cs typeface="+mn-cs"/>
                <a:sym typeface="Calibri"/>
              </a:defRPr>
            </a:pPr>
            <a:r>
              <a:t>Lighting shifts, shadows, small movements, </a:t>
            </a:r>
          </a:p>
          <a:p>
            <a:pPr>
              <a:defRPr sz="1300">
                <a:solidFill>
                  <a:srgbClr val="94A3B8"/>
                </a:solidFill>
                <a:latin typeface="+mn-lt"/>
                <a:ea typeface="+mn-ea"/>
                <a:cs typeface="+mn-cs"/>
                <a:sym typeface="Calibri"/>
              </a:defRPr>
            </a:pPr>
            <a:r>
              <a:t>and colour changes can completely alter </a:t>
            </a:r>
          </a:p>
          <a:p>
            <a:pPr>
              <a:defRPr sz="1300">
                <a:solidFill>
                  <a:srgbClr val="94A3B8"/>
                </a:solidFill>
                <a:latin typeface="+mn-lt"/>
                <a:ea typeface="+mn-ea"/>
                <a:cs typeface="+mn-cs"/>
                <a:sym typeface="Calibri"/>
              </a:defRPr>
            </a:pPr>
            <a:r>
              <a:t>pixel values - even when the underlying </a:t>
            </a:r>
          </a:p>
          <a:p>
            <a:pPr>
              <a:defRPr sz="1300">
                <a:solidFill>
                  <a:srgbClr val="94A3B8"/>
                </a:solidFill>
                <a:latin typeface="+mn-lt"/>
                <a:ea typeface="+mn-ea"/>
                <a:cs typeface="+mn-cs"/>
                <a:sym typeface="Calibri"/>
              </a:defRPr>
            </a:pPr>
            <a:r>
              <a:t>object is identical.</a:t>
            </a:r>
          </a:p>
          <a:p>
            <a:pPr>
              <a:defRPr sz="1300">
                <a:latin typeface="+mn-lt"/>
                <a:ea typeface="+mn-ea"/>
                <a:cs typeface="+mn-cs"/>
                <a:sym typeface="Calibri"/>
              </a:defRPr>
            </a:pPr>
          </a:p>
          <a:p>
            <a:pPr>
              <a:defRPr sz="1300">
                <a:solidFill>
                  <a:srgbClr val="94A3B8"/>
                </a:solidFill>
                <a:latin typeface="+mn-lt"/>
                <a:ea typeface="+mn-ea"/>
                <a:cs typeface="+mn-cs"/>
                <a:sym typeface="Calibri"/>
              </a:defRPr>
            </a:pPr>
            <a:r>
              <a:t>Models that rely on exact pixel values </a:t>
            </a:r>
          </a:p>
          <a:p>
            <a:pPr>
              <a:defRPr i="1" sz="1300">
                <a:solidFill>
                  <a:srgbClr val="F59E0B"/>
                </a:solidFill>
                <a:latin typeface="+mn-lt"/>
                <a:ea typeface="+mn-ea"/>
                <a:cs typeface="+mn-cs"/>
                <a:sym typeface="Calibri"/>
              </a:defRPr>
            </a:pPr>
            <a:r>
              <a:t>fail at the slightest variation.</a:t>
            </a:r>
          </a:p>
        </p:txBody>
      </p:sp>
      <p:sp>
        <p:nvSpPr>
          <p:cNvPr id="104" name="Shape 6"/>
          <p:cNvSpPr/>
          <p:nvPr/>
        </p:nvSpPr>
        <p:spPr>
          <a:xfrm>
            <a:off x="4663440" y="1280160"/>
            <a:ext cx="4023360"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05" name="Text 7"/>
          <p:cNvSpPr txBox="1"/>
          <p:nvPr/>
        </p:nvSpPr>
        <p:spPr>
          <a:xfrm>
            <a:off x="4892040" y="1485944"/>
            <a:ext cx="365760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10B981"/>
                </a:solidFill>
                <a:latin typeface="+mn-lt"/>
                <a:ea typeface="+mn-ea"/>
                <a:cs typeface="+mn-cs"/>
                <a:sym typeface="Calibri"/>
              </a:defRPr>
            </a:lvl1pPr>
          </a:lstStyle>
          <a:p>
            <a:pPr/>
            <a:r>
              <a:t>THE INSIGHT</a:t>
            </a:r>
          </a:p>
        </p:txBody>
      </p:sp>
      <p:sp>
        <p:nvSpPr>
          <p:cNvPr id="106" name="Text 8"/>
          <p:cNvSpPr txBox="1"/>
          <p:nvPr/>
        </p:nvSpPr>
        <p:spPr>
          <a:xfrm>
            <a:off x="4892040" y="1753696"/>
            <a:ext cx="365760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1F5F9"/>
                </a:solidFill>
                <a:latin typeface="+mn-lt"/>
                <a:ea typeface="+mn-ea"/>
                <a:cs typeface="+mn-cs"/>
                <a:sym typeface="Calibri"/>
              </a:defRPr>
            </a:lvl1pPr>
          </a:lstStyle>
          <a:p>
            <a:pPr/>
            <a:r>
              <a:t>Edges describe shape.</a:t>
            </a:r>
          </a:p>
        </p:txBody>
      </p:sp>
      <p:sp>
        <p:nvSpPr>
          <p:cNvPr id="107" name="Text 9"/>
          <p:cNvSpPr txBox="1"/>
          <p:nvPr/>
        </p:nvSpPr>
        <p:spPr>
          <a:xfrm>
            <a:off x="4892040" y="2507418"/>
            <a:ext cx="3657602" cy="1385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rgbClr val="94A3B8"/>
                </a:solidFill>
                <a:latin typeface="+mn-lt"/>
                <a:ea typeface="+mn-ea"/>
                <a:cs typeface="+mn-cs"/>
                <a:sym typeface="Calibri"/>
              </a:defRPr>
            </a:pPr>
            <a:r>
              <a:t>An object's outline persists even when </a:t>
            </a:r>
          </a:p>
          <a:p>
            <a:pPr>
              <a:defRPr sz="1300">
                <a:solidFill>
                  <a:srgbClr val="94A3B8"/>
                </a:solidFill>
                <a:latin typeface="+mn-lt"/>
                <a:ea typeface="+mn-ea"/>
                <a:cs typeface="+mn-cs"/>
                <a:sym typeface="Calibri"/>
              </a:defRPr>
            </a:pPr>
            <a:r>
              <a:t>lighting, colour, or texture changes.</a:t>
            </a:r>
          </a:p>
          <a:p>
            <a:pPr>
              <a:defRPr sz="1300">
                <a:latin typeface="+mn-lt"/>
                <a:ea typeface="+mn-ea"/>
                <a:cs typeface="+mn-cs"/>
                <a:sym typeface="Calibri"/>
              </a:defRPr>
            </a:pPr>
          </a:p>
          <a:p>
            <a:pPr>
              <a:defRPr sz="1300">
                <a:solidFill>
                  <a:srgbClr val="94A3B8"/>
                </a:solidFill>
                <a:latin typeface="+mn-lt"/>
                <a:ea typeface="+mn-ea"/>
                <a:cs typeface="+mn-cs"/>
                <a:sym typeface="Calibri"/>
              </a:defRPr>
            </a:pPr>
            <a:r>
              <a:t>HOG captures the </a:t>
            </a:r>
            <a:r>
              <a:rPr b="1">
                <a:solidFill>
                  <a:srgbClr val="06B6D4"/>
                </a:solidFill>
              </a:rPr>
              <a:t>distribution of local </a:t>
            </a:r>
          </a:p>
          <a:p>
            <a:pPr>
              <a:defRPr b="1" sz="1300">
                <a:solidFill>
                  <a:srgbClr val="06B6D4"/>
                </a:solidFill>
                <a:latin typeface="+mn-lt"/>
                <a:ea typeface="+mn-ea"/>
                <a:cs typeface="+mn-cs"/>
                <a:sym typeface="Calibri"/>
              </a:defRPr>
            </a:pPr>
            <a:r>
              <a:t>edge directions </a:t>
            </a:r>
            <a:r>
              <a:rPr b="0">
                <a:solidFill>
                  <a:srgbClr val="94A3B8"/>
                </a:solidFill>
              </a:rPr>
              <a:t>across the image - a </a:t>
            </a:r>
          </a:p>
          <a:p>
            <a:pPr>
              <a:defRPr sz="1300">
                <a:solidFill>
                  <a:srgbClr val="94A3B8"/>
                </a:solidFill>
                <a:latin typeface="+mn-lt"/>
                <a:ea typeface="+mn-ea"/>
                <a:cs typeface="+mn-cs"/>
                <a:sym typeface="Calibri"/>
              </a:defRPr>
            </a:pPr>
            <a:r>
              <a:t>compact structural fingerprint that ignores </a:t>
            </a:r>
          </a:p>
          <a:p>
            <a:pPr>
              <a:defRPr sz="1300">
                <a:solidFill>
                  <a:srgbClr val="94A3B8"/>
                </a:solidFill>
                <a:latin typeface="+mn-lt"/>
                <a:ea typeface="+mn-ea"/>
                <a:cs typeface="+mn-cs"/>
                <a:sym typeface="Calibri"/>
              </a:defRPr>
            </a:pPr>
            <a:r>
              <a:t>everything else.</a:t>
            </a:r>
          </a:p>
        </p:txBody>
      </p:sp>
      <p:sp>
        <p:nvSpPr>
          <p:cNvPr id="108" name="Shape 10"/>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09" name="Text 11"/>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Motivation</a:t>
            </a:r>
          </a:p>
        </p:txBody>
      </p:sp>
      <p:sp>
        <p:nvSpPr>
          <p:cNvPr id="110" name="Text 12"/>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2 / 16</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114"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ROADMAP</a:t>
            </a:r>
          </a:p>
        </p:txBody>
      </p:sp>
      <p:sp>
        <p:nvSpPr>
          <p:cNvPr id="115"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The HOG Pipeline in 5 stages</a:t>
            </a:r>
          </a:p>
        </p:txBody>
      </p:sp>
      <p:sp>
        <p:nvSpPr>
          <p:cNvPr id="116" name="Shape 2"/>
          <p:cNvSpPr/>
          <p:nvPr/>
        </p:nvSpPr>
        <p:spPr>
          <a:xfrm>
            <a:off x="411480" y="1600200"/>
            <a:ext cx="1554482" cy="21945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17" name="Shape 3"/>
          <p:cNvSpPr/>
          <p:nvPr/>
        </p:nvSpPr>
        <p:spPr>
          <a:xfrm>
            <a:off x="960119" y="1783078"/>
            <a:ext cx="457202" cy="457203"/>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18" name="Text 4"/>
          <p:cNvSpPr txBox="1"/>
          <p:nvPr/>
        </p:nvSpPr>
        <p:spPr>
          <a:xfrm>
            <a:off x="960119" y="1890856"/>
            <a:ext cx="45720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F172A"/>
                </a:solidFill>
                <a:latin typeface="+mn-lt"/>
                <a:ea typeface="+mn-ea"/>
                <a:cs typeface="+mn-cs"/>
                <a:sym typeface="Calibri"/>
              </a:defRPr>
            </a:lvl1pPr>
          </a:lstStyle>
          <a:p>
            <a:pPr/>
            <a:r>
              <a:t>1</a:t>
            </a:r>
          </a:p>
        </p:txBody>
      </p:sp>
      <p:sp>
        <p:nvSpPr>
          <p:cNvPr id="119" name="Text 5"/>
          <p:cNvSpPr txBox="1"/>
          <p:nvPr/>
        </p:nvSpPr>
        <p:spPr>
          <a:xfrm>
            <a:off x="502918" y="2504746"/>
            <a:ext cx="1371603"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1F5F9"/>
                </a:solidFill>
                <a:latin typeface="+mn-lt"/>
                <a:ea typeface="+mn-ea"/>
                <a:cs typeface="+mn-cs"/>
                <a:sym typeface="Calibri"/>
              </a:defRPr>
            </a:lvl1pPr>
          </a:lstStyle>
          <a:p>
            <a:pPr/>
            <a:r>
              <a:t>Pre-processing</a:t>
            </a:r>
          </a:p>
        </p:txBody>
      </p:sp>
      <p:sp>
        <p:nvSpPr>
          <p:cNvPr id="120" name="Text 6"/>
          <p:cNvSpPr txBox="1"/>
          <p:nvPr/>
        </p:nvSpPr>
        <p:spPr>
          <a:xfrm>
            <a:off x="502918" y="3095033"/>
            <a:ext cx="1371603"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94A3B8"/>
                </a:solidFill>
                <a:latin typeface="+mn-lt"/>
                <a:ea typeface="+mn-ea"/>
                <a:cs typeface="+mn-cs"/>
                <a:sym typeface="Calibri"/>
              </a:defRPr>
            </a:pPr>
            <a:r>
              <a:t>Optional gamma /</a:t>
            </a:r>
          </a:p>
          <a:p>
            <a:pPr algn="ctr">
              <a:defRPr sz="1000">
                <a:solidFill>
                  <a:srgbClr val="94A3B8"/>
                </a:solidFill>
                <a:latin typeface="+mn-lt"/>
                <a:ea typeface="+mn-ea"/>
                <a:cs typeface="+mn-cs"/>
                <a:sym typeface="Calibri"/>
              </a:defRPr>
            </a:pPr>
            <a:r>
              <a:t>colour normalisation</a:t>
            </a:r>
          </a:p>
        </p:txBody>
      </p:sp>
      <p:sp>
        <p:nvSpPr>
          <p:cNvPr id="121" name="Shape 7"/>
          <p:cNvSpPr/>
          <p:nvPr/>
        </p:nvSpPr>
        <p:spPr>
          <a:xfrm rot="5400000">
            <a:off x="1970532" y="2624327"/>
            <a:ext cx="118873" cy="1463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22" name="Shape 8"/>
          <p:cNvSpPr/>
          <p:nvPr/>
        </p:nvSpPr>
        <p:spPr>
          <a:xfrm>
            <a:off x="2103120" y="1600200"/>
            <a:ext cx="1554482" cy="21945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23" name="Shape 9"/>
          <p:cNvSpPr/>
          <p:nvPr/>
        </p:nvSpPr>
        <p:spPr>
          <a:xfrm>
            <a:off x="2651760" y="1783078"/>
            <a:ext cx="457203" cy="457203"/>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24" name="Text 10"/>
          <p:cNvSpPr txBox="1"/>
          <p:nvPr/>
        </p:nvSpPr>
        <p:spPr>
          <a:xfrm>
            <a:off x="2651760" y="1890856"/>
            <a:ext cx="45720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F172A"/>
                </a:solidFill>
                <a:latin typeface="+mn-lt"/>
                <a:ea typeface="+mn-ea"/>
                <a:cs typeface="+mn-cs"/>
                <a:sym typeface="Calibri"/>
              </a:defRPr>
            </a:lvl1pPr>
          </a:lstStyle>
          <a:p>
            <a:pPr/>
            <a:r>
              <a:t>2</a:t>
            </a:r>
          </a:p>
        </p:txBody>
      </p:sp>
      <p:sp>
        <p:nvSpPr>
          <p:cNvPr id="125" name="Text 11"/>
          <p:cNvSpPr txBox="1"/>
          <p:nvPr/>
        </p:nvSpPr>
        <p:spPr>
          <a:xfrm>
            <a:off x="2194560" y="2409496"/>
            <a:ext cx="137160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1F5F9"/>
                </a:solidFill>
                <a:latin typeface="+mn-lt"/>
                <a:ea typeface="+mn-ea"/>
                <a:cs typeface="+mn-cs"/>
                <a:sym typeface="Calibri"/>
              </a:defRPr>
            </a:lvl1pPr>
          </a:lstStyle>
          <a:p>
            <a:pPr/>
            <a:r>
              <a:t>Gradient Computation</a:t>
            </a:r>
          </a:p>
        </p:txBody>
      </p:sp>
      <p:sp>
        <p:nvSpPr>
          <p:cNvPr id="126" name="Text 12"/>
          <p:cNvSpPr txBox="1"/>
          <p:nvPr/>
        </p:nvSpPr>
        <p:spPr>
          <a:xfrm>
            <a:off x="2194560" y="3095033"/>
            <a:ext cx="137160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94A3B8"/>
                </a:solidFill>
                <a:latin typeface="+mn-lt"/>
                <a:ea typeface="+mn-ea"/>
                <a:cs typeface="+mn-cs"/>
                <a:sym typeface="Calibri"/>
              </a:defRPr>
            </a:pPr>
            <a:r>
              <a:t>Compute Gx, Gy -&gt;</a:t>
            </a:r>
          </a:p>
          <a:p>
            <a:pPr algn="ctr">
              <a:defRPr sz="1000">
                <a:solidFill>
                  <a:srgbClr val="94A3B8"/>
                </a:solidFill>
                <a:latin typeface="+mn-lt"/>
                <a:ea typeface="+mn-ea"/>
                <a:cs typeface="+mn-cs"/>
                <a:sym typeface="Calibri"/>
              </a:defRPr>
            </a:pPr>
            <a:r>
              <a:t>edge magnitude + angle</a:t>
            </a:r>
          </a:p>
        </p:txBody>
      </p:sp>
      <p:sp>
        <p:nvSpPr>
          <p:cNvPr id="127" name="Shape 13"/>
          <p:cNvSpPr/>
          <p:nvPr/>
        </p:nvSpPr>
        <p:spPr>
          <a:xfrm rot="5400000">
            <a:off x="3662171" y="2624327"/>
            <a:ext cx="118873" cy="1463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28" name="Shape 14"/>
          <p:cNvSpPr/>
          <p:nvPr/>
        </p:nvSpPr>
        <p:spPr>
          <a:xfrm>
            <a:off x="3794759" y="1600200"/>
            <a:ext cx="1554482" cy="21945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29" name="Shape 15"/>
          <p:cNvSpPr/>
          <p:nvPr/>
        </p:nvSpPr>
        <p:spPr>
          <a:xfrm>
            <a:off x="4343400" y="1783078"/>
            <a:ext cx="457200" cy="457203"/>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30" name="Text 16"/>
          <p:cNvSpPr txBox="1"/>
          <p:nvPr/>
        </p:nvSpPr>
        <p:spPr>
          <a:xfrm>
            <a:off x="4343400" y="1890856"/>
            <a:ext cx="45720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F172A"/>
                </a:solidFill>
                <a:latin typeface="+mn-lt"/>
                <a:ea typeface="+mn-ea"/>
                <a:cs typeface="+mn-cs"/>
                <a:sym typeface="Calibri"/>
              </a:defRPr>
            </a:lvl1pPr>
          </a:lstStyle>
          <a:p>
            <a:pPr/>
            <a:r>
              <a:t>3</a:t>
            </a:r>
          </a:p>
        </p:txBody>
      </p:sp>
      <p:sp>
        <p:nvSpPr>
          <p:cNvPr id="131" name="Text 17"/>
          <p:cNvSpPr txBox="1"/>
          <p:nvPr/>
        </p:nvSpPr>
        <p:spPr>
          <a:xfrm>
            <a:off x="3886200" y="2504746"/>
            <a:ext cx="13716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1F5F9"/>
                </a:solidFill>
                <a:latin typeface="+mn-lt"/>
                <a:ea typeface="+mn-ea"/>
                <a:cs typeface="+mn-cs"/>
                <a:sym typeface="Calibri"/>
              </a:defRPr>
            </a:lvl1pPr>
          </a:lstStyle>
          <a:p>
            <a:pPr/>
            <a:r>
              <a:t>Cell Histograms</a:t>
            </a:r>
          </a:p>
        </p:txBody>
      </p:sp>
      <p:sp>
        <p:nvSpPr>
          <p:cNvPr id="132" name="Text 18"/>
          <p:cNvSpPr txBox="1"/>
          <p:nvPr/>
        </p:nvSpPr>
        <p:spPr>
          <a:xfrm>
            <a:off x="3886200" y="3095033"/>
            <a:ext cx="1371600"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94A3B8"/>
                </a:solidFill>
                <a:latin typeface="+mn-lt"/>
                <a:ea typeface="+mn-ea"/>
                <a:cs typeface="+mn-cs"/>
                <a:sym typeface="Calibri"/>
              </a:defRPr>
            </a:pPr>
            <a:r>
              <a:t>Group pixels into cells;</a:t>
            </a:r>
          </a:p>
          <a:p>
            <a:pPr algn="ctr">
              <a:defRPr sz="1000">
                <a:solidFill>
                  <a:srgbClr val="94A3B8"/>
                </a:solidFill>
                <a:latin typeface="+mn-lt"/>
                <a:ea typeface="+mn-ea"/>
                <a:cs typeface="+mn-cs"/>
                <a:sym typeface="Calibri"/>
              </a:defRPr>
            </a:pPr>
            <a:r>
              <a:t>vote into orientation bins</a:t>
            </a:r>
          </a:p>
        </p:txBody>
      </p:sp>
      <p:sp>
        <p:nvSpPr>
          <p:cNvPr id="133" name="Shape 19"/>
          <p:cNvSpPr/>
          <p:nvPr/>
        </p:nvSpPr>
        <p:spPr>
          <a:xfrm rot="5400000">
            <a:off x="5353811" y="2624327"/>
            <a:ext cx="118873" cy="1463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34" name="Shape 20"/>
          <p:cNvSpPr/>
          <p:nvPr/>
        </p:nvSpPr>
        <p:spPr>
          <a:xfrm>
            <a:off x="5486400" y="1600200"/>
            <a:ext cx="1554481" cy="21945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35" name="Shape 21"/>
          <p:cNvSpPr/>
          <p:nvPr/>
        </p:nvSpPr>
        <p:spPr>
          <a:xfrm>
            <a:off x="6035040" y="1783078"/>
            <a:ext cx="457203" cy="457203"/>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36" name="Text 22"/>
          <p:cNvSpPr txBox="1"/>
          <p:nvPr/>
        </p:nvSpPr>
        <p:spPr>
          <a:xfrm>
            <a:off x="6035040" y="1890856"/>
            <a:ext cx="45720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F172A"/>
                </a:solidFill>
                <a:latin typeface="+mn-lt"/>
                <a:ea typeface="+mn-ea"/>
                <a:cs typeface="+mn-cs"/>
                <a:sym typeface="Calibri"/>
              </a:defRPr>
            </a:lvl1pPr>
          </a:lstStyle>
          <a:p>
            <a:pPr/>
            <a:r>
              <a:t>4</a:t>
            </a:r>
          </a:p>
        </p:txBody>
      </p:sp>
      <p:sp>
        <p:nvSpPr>
          <p:cNvPr id="137" name="Text 23"/>
          <p:cNvSpPr txBox="1"/>
          <p:nvPr/>
        </p:nvSpPr>
        <p:spPr>
          <a:xfrm>
            <a:off x="5577840" y="2504746"/>
            <a:ext cx="137160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1F5F9"/>
                </a:solidFill>
                <a:latin typeface="+mn-lt"/>
                <a:ea typeface="+mn-ea"/>
                <a:cs typeface="+mn-cs"/>
                <a:sym typeface="Calibri"/>
              </a:defRPr>
            </a:lvl1pPr>
          </a:lstStyle>
          <a:p>
            <a:pPr/>
            <a:r>
              <a:t>Block Normalisation</a:t>
            </a:r>
          </a:p>
        </p:txBody>
      </p:sp>
      <p:sp>
        <p:nvSpPr>
          <p:cNvPr id="138" name="Text 24"/>
          <p:cNvSpPr txBox="1"/>
          <p:nvPr/>
        </p:nvSpPr>
        <p:spPr>
          <a:xfrm>
            <a:off x="5577840" y="3095033"/>
            <a:ext cx="137160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94A3B8"/>
                </a:solidFill>
                <a:latin typeface="+mn-lt"/>
                <a:ea typeface="+mn-ea"/>
                <a:cs typeface="+mn-cs"/>
                <a:sym typeface="Calibri"/>
              </a:defRPr>
            </a:pPr>
            <a:r>
              <a:t>Normalise across</a:t>
            </a:r>
          </a:p>
          <a:p>
            <a:pPr algn="ctr">
              <a:defRPr sz="1000">
                <a:solidFill>
                  <a:srgbClr val="94A3B8"/>
                </a:solidFill>
                <a:latin typeface="+mn-lt"/>
                <a:ea typeface="+mn-ea"/>
                <a:cs typeface="+mn-cs"/>
                <a:sym typeface="Calibri"/>
              </a:defRPr>
            </a:pPr>
            <a:r>
              <a:t>overlapping cell blocks</a:t>
            </a:r>
          </a:p>
        </p:txBody>
      </p:sp>
      <p:sp>
        <p:nvSpPr>
          <p:cNvPr id="139" name="Shape 25"/>
          <p:cNvSpPr/>
          <p:nvPr/>
        </p:nvSpPr>
        <p:spPr>
          <a:xfrm rot="5400000">
            <a:off x="7045452" y="2624327"/>
            <a:ext cx="118873" cy="1463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40" name="Shape 26"/>
          <p:cNvSpPr/>
          <p:nvPr/>
        </p:nvSpPr>
        <p:spPr>
          <a:xfrm>
            <a:off x="7178040" y="1600200"/>
            <a:ext cx="1554482" cy="21945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41" name="Shape 27"/>
          <p:cNvSpPr/>
          <p:nvPr/>
        </p:nvSpPr>
        <p:spPr>
          <a:xfrm>
            <a:off x="7726680" y="1783078"/>
            <a:ext cx="457203" cy="457203"/>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42" name="Text 28"/>
          <p:cNvSpPr txBox="1"/>
          <p:nvPr/>
        </p:nvSpPr>
        <p:spPr>
          <a:xfrm>
            <a:off x="7726680" y="1890856"/>
            <a:ext cx="45720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F172A"/>
                </a:solidFill>
                <a:latin typeface="+mn-lt"/>
                <a:ea typeface="+mn-ea"/>
                <a:cs typeface="+mn-cs"/>
                <a:sym typeface="Calibri"/>
              </a:defRPr>
            </a:lvl1pPr>
          </a:lstStyle>
          <a:p>
            <a:pPr/>
            <a:r>
              <a:t>5</a:t>
            </a:r>
          </a:p>
        </p:txBody>
      </p:sp>
      <p:sp>
        <p:nvSpPr>
          <p:cNvPr id="143" name="Text 29"/>
          <p:cNvSpPr txBox="1"/>
          <p:nvPr/>
        </p:nvSpPr>
        <p:spPr>
          <a:xfrm>
            <a:off x="7269480" y="2504746"/>
            <a:ext cx="137160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1F5F9"/>
                </a:solidFill>
                <a:latin typeface="+mn-lt"/>
                <a:ea typeface="+mn-ea"/>
                <a:cs typeface="+mn-cs"/>
                <a:sym typeface="Calibri"/>
              </a:defRPr>
            </a:lvl1pPr>
          </a:lstStyle>
          <a:p>
            <a:pPr/>
            <a:r>
              <a:t>Feature Vector</a:t>
            </a:r>
          </a:p>
        </p:txBody>
      </p:sp>
      <p:sp>
        <p:nvSpPr>
          <p:cNvPr id="144" name="Text 30"/>
          <p:cNvSpPr txBox="1"/>
          <p:nvPr/>
        </p:nvSpPr>
        <p:spPr>
          <a:xfrm>
            <a:off x="7269480" y="3095033"/>
            <a:ext cx="137160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94A3B8"/>
                </a:solidFill>
                <a:latin typeface="+mn-lt"/>
                <a:ea typeface="+mn-ea"/>
                <a:cs typeface="+mn-cs"/>
                <a:sym typeface="Calibri"/>
              </a:defRPr>
            </a:pPr>
            <a:r>
              <a:t>Concatenate all blocks</a:t>
            </a:r>
          </a:p>
          <a:p>
            <a:pPr algn="ctr">
              <a:defRPr sz="1000">
                <a:solidFill>
                  <a:srgbClr val="94A3B8"/>
                </a:solidFill>
                <a:latin typeface="+mn-lt"/>
                <a:ea typeface="+mn-ea"/>
                <a:cs typeface="+mn-cs"/>
                <a:sym typeface="Calibri"/>
              </a:defRPr>
            </a:pPr>
            <a:r>
              <a:t>into one descriptor</a:t>
            </a:r>
          </a:p>
        </p:txBody>
      </p:sp>
      <p:sp>
        <p:nvSpPr>
          <p:cNvPr id="145" name="Text 31"/>
          <p:cNvSpPr txBox="1"/>
          <p:nvPr/>
        </p:nvSpPr>
        <p:spPr>
          <a:xfrm>
            <a:off x="457200" y="4173526"/>
            <a:ext cx="82296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200">
                <a:solidFill>
                  <a:srgbClr val="94A3B8"/>
                </a:solidFill>
                <a:latin typeface="+mn-lt"/>
                <a:ea typeface="+mn-ea"/>
                <a:cs typeface="+mn-cs"/>
                <a:sym typeface="Calibri"/>
              </a:defRPr>
            </a:lvl1pPr>
          </a:lstStyle>
          <a:p>
            <a:pPr/>
            <a:r>
              <a:t>Stages 2 -&gt; 5 are the technical heart of HOG. We'll work through each one.</a:t>
            </a:r>
          </a:p>
        </p:txBody>
      </p:sp>
      <p:sp>
        <p:nvSpPr>
          <p:cNvPr id="146" name="Shape 32"/>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47" name="Text 33"/>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Roadmap</a:t>
            </a:r>
          </a:p>
        </p:txBody>
      </p:sp>
      <p:sp>
        <p:nvSpPr>
          <p:cNvPr id="148" name="Text 34"/>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3 / 16</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152"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STAGE 2</a:t>
            </a:r>
          </a:p>
        </p:txBody>
      </p:sp>
      <p:sp>
        <p:nvSpPr>
          <p:cNvPr id="153"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Gradient Computation</a:t>
            </a:r>
          </a:p>
        </p:txBody>
      </p:sp>
      <p:sp>
        <p:nvSpPr>
          <p:cNvPr id="154" name="Shape 2"/>
          <p:cNvSpPr/>
          <p:nvPr/>
        </p:nvSpPr>
        <p:spPr>
          <a:xfrm>
            <a:off x="457198" y="1280160"/>
            <a:ext cx="3931923"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55" name="Text 3"/>
          <p:cNvSpPr txBox="1"/>
          <p:nvPr/>
        </p:nvSpPr>
        <p:spPr>
          <a:xfrm>
            <a:off x="685798" y="1495623"/>
            <a:ext cx="3474723"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1F5F9"/>
                </a:solidFill>
                <a:latin typeface="+mn-lt"/>
                <a:ea typeface="+mn-ea"/>
                <a:cs typeface="+mn-cs"/>
                <a:sym typeface="Calibri"/>
              </a:defRPr>
            </a:lvl1pPr>
          </a:lstStyle>
          <a:p>
            <a:pPr/>
            <a:r>
              <a:t>Edge filters</a:t>
            </a:r>
          </a:p>
        </p:txBody>
      </p:sp>
      <p:sp>
        <p:nvSpPr>
          <p:cNvPr id="156" name="Text 4"/>
          <p:cNvSpPr txBox="1"/>
          <p:nvPr/>
        </p:nvSpPr>
        <p:spPr>
          <a:xfrm>
            <a:off x="685798" y="2058846"/>
            <a:ext cx="3474723"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94A3B8"/>
                </a:solidFill>
                <a:latin typeface="+mn-lt"/>
                <a:ea typeface="+mn-ea"/>
                <a:cs typeface="+mn-cs"/>
                <a:sym typeface="Calibri"/>
              </a:defRPr>
            </a:lvl1pPr>
          </a:lstStyle>
          <a:p>
            <a:pPr/>
            <a:r>
              <a:t>Convolve the image with the simple 1-D centred kernels:</a:t>
            </a:r>
          </a:p>
        </p:txBody>
      </p:sp>
      <p:sp>
        <p:nvSpPr>
          <p:cNvPr id="157" name="Text 5"/>
          <p:cNvSpPr txBox="1"/>
          <p:nvPr/>
        </p:nvSpPr>
        <p:spPr>
          <a:xfrm>
            <a:off x="685800" y="2568377"/>
            <a:ext cx="45720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59E0B"/>
                </a:solidFill>
                <a:latin typeface="+mn-lt"/>
                <a:ea typeface="+mn-ea"/>
                <a:cs typeface="+mn-cs"/>
                <a:sym typeface="Calibri"/>
              </a:defRPr>
            </a:lvl1pPr>
          </a:lstStyle>
          <a:p>
            <a:pPr/>
            <a:r>
              <a:t>Gx:</a:t>
            </a:r>
          </a:p>
        </p:txBody>
      </p:sp>
      <p:sp>
        <p:nvSpPr>
          <p:cNvPr id="158" name="Shape 6"/>
          <p:cNvSpPr/>
          <p:nvPr/>
        </p:nvSpPr>
        <p:spPr>
          <a:xfrm>
            <a:off x="1188719" y="2468878"/>
            <a:ext cx="347474" cy="3657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159" name="Text 7"/>
          <p:cNvSpPr txBox="1"/>
          <p:nvPr/>
        </p:nvSpPr>
        <p:spPr>
          <a:xfrm>
            <a:off x="1188719" y="2562859"/>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1F5F9"/>
                </a:solidFill>
                <a:latin typeface="Consolas"/>
                <a:ea typeface="Consolas"/>
                <a:cs typeface="Consolas"/>
                <a:sym typeface="Consolas"/>
              </a:defRPr>
            </a:lvl1pPr>
          </a:lstStyle>
          <a:p>
            <a:pPr/>
            <a:r>
              <a:t>-1</a:t>
            </a:r>
          </a:p>
        </p:txBody>
      </p:sp>
      <p:sp>
        <p:nvSpPr>
          <p:cNvPr id="160" name="Shape 8"/>
          <p:cNvSpPr/>
          <p:nvPr/>
        </p:nvSpPr>
        <p:spPr>
          <a:xfrm>
            <a:off x="1554480" y="2468878"/>
            <a:ext cx="347474" cy="3657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161" name="Text 9"/>
          <p:cNvSpPr txBox="1"/>
          <p:nvPr/>
        </p:nvSpPr>
        <p:spPr>
          <a:xfrm>
            <a:off x="1554480" y="2562859"/>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1F5F9"/>
                </a:solidFill>
                <a:latin typeface="Consolas"/>
                <a:ea typeface="Consolas"/>
                <a:cs typeface="Consolas"/>
                <a:sym typeface="Consolas"/>
              </a:defRPr>
            </a:lvl1pPr>
          </a:lstStyle>
          <a:p>
            <a:pPr/>
            <a:r>
              <a:t>0</a:t>
            </a:r>
          </a:p>
        </p:txBody>
      </p:sp>
      <p:sp>
        <p:nvSpPr>
          <p:cNvPr id="162" name="Shape 10"/>
          <p:cNvSpPr/>
          <p:nvPr/>
        </p:nvSpPr>
        <p:spPr>
          <a:xfrm>
            <a:off x="1920238" y="2468878"/>
            <a:ext cx="347474" cy="3657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163" name="Text 11"/>
          <p:cNvSpPr txBox="1"/>
          <p:nvPr/>
        </p:nvSpPr>
        <p:spPr>
          <a:xfrm>
            <a:off x="1920238" y="2562859"/>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1F5F9"/>
                </a:solidFill>
                <a:latin typeface="Consolas"/>
                <a:ea typeface="Consolas"/>
                <a:cs typeface="Consolas"/>
                <a:sym typeface="Consolas"/>
              </a:defRPr>
            </a:lvl1pPr>
          </a:lstStyle>
          <a:p>
            <a:pPr/>
            <a:r>
              <a:t>1</a:t>
            </a:r>
          </a:p>
        </p:txBody>
      </p:sp>
      <p:sp>
        <p:nvSpPr>
          <p:cNvPr id="164" name="Text 12"/>
          <p:cNvSpPr txBox="1"/>
          <p:nvPr/>
        </p:nvSpPr>
        <p:spPr>
          <a:xfrm>
            <a:off x="2423160" y="2583223"/>
            <a:ext cx="182880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64748B"/>
                </a:solidFill>
                <a:latin typeface="+mn-lt"/>
                <a:ea typeface="+mn-ea"/>
                <a:cs typeface="+mn-cs"/>
                <a:sym typeface="Calibri"/>
              </a:defRPr>
            </a:lvl1pPr>
          </a:lstStyle>
          <a:p>
            <a:pPr/>
            <a:r>
              <a:t>(horizontal change)</a:t>
            </a:r>
          </a:p>
        </p:txBody>
      </p:sp>
      <p:sp>
        <p:nvSpPr>
          <p:cNvPr id="165" name="Text 13"/>
          <p:cNvSpPr txBox="1"/>
          <p:nvPr/>
        </p:nvSpPr>
        <p:spPr>
          <a:xfrm>
            <a:off x="685800" y="3345619"/>
            <a:ext cx="45720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59E0B"/>
                </a:solidFill>
                <a:latin typeface="+mn-lt"/>
                <a:ea typeface="+mn-ea"/>
                <a:cs typeface="+mn-cs"/>
                <a:sym typeface="Calibri"/>
              </a:defRPr>
            </a:lvl1pPr>
          </a:lstStyle>
          <a:p>
            <a:pPr/>
            <a:r>
              <a:t>Gy:</a:t>
            </a:r>
          </a:p>
        </p:txBody>
      </p:sp>
      <p:sp>
        <p:nvSpPr>
          <p:cNvPr id="166" name="Shape 14"/>
          <p:cNvSpPr/>
          <p:nvPr/>
        </p:nvSpPr>
        <p:spPr>
          <a:xfrm>
            <a:off x="1188719" y="2971800"/>
            <a:ext cx="347474" cy="274321"/>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167" name="Text 15"/>
          <p:cNvSpPr txBox="1"/>
          <p:nvPr/>
        </p:nvSpPr>
        <p:spPr>
          <a:xfrm>
            <a:off x="1188719" y="3026410"/>
            <a:ext cx="34747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1F5F9"/>
                </a:solidFill>
                <a:latin typeface="Consolas"/>
                <a:ea typeface="Consolas"/>
                <a:cs typeface="Consolas"/>
                <a:sym typeface="Consolas"/>
              </a:defRPr>
            </a:lvl1pPr>
          </a:lstStyle>
          <a:p>
            <a:pPr/>
            <a:r>
              <a:t>-1</a:t>
            </a:r>
          </a:p>
        </p:txBody>
      </p:sp>
      <p:sp>
        <p:nvSpPr>
          <p:cNvPr id="168" name="Shape 16"/>
          <p:cNvSpPr/>
          <p:nvPr/>
        </p:nvSpPr>
        <p:spPr>
          <a:xfrm>
            <a:off x="1188719" y="3264408"/>
            <a:ext cx="347474" cy="27432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169" name="Text 17"/>
          <p:cNvSpPr txBox="1"/>
          <p:nvPr/>
        </p:nvSpPr>
        <p:spPr>
          <a:xfrm>
            <a:off x="1188719" y="3319017"/>
            <a:ext cx="34747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1F5F9"/>
                </a:solidFill>
                <a:latin typeface="Consolas"/>
                <a:ea typeface="Consolas"/>
                <a:cs typeface="Consolas"/>
                <a:sym typeface="Consolas"/>
              </a:defRPr>
            </a:lvl1pPr>
          </a:lstStyle>
          <a:p>
            <a:pPr/>
            <a:r>
              <a:t>0</a:t>
            </a:r>
          </a:p>
        </p:txBody>
      </p:sp>
      <p:sp>
        <p:nvSpPr>
          <p:cNvPr id="170" name="Shape 18"/>
          <p:cNvSpPr/>
          <p:nvPr/>
        </p:nvSpPr>
        <p:spPr>
          <a:xfrm>
            <a:off x="1188719" y="3557015"/>
            <a:ext cx="347474" cy="27432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171" name="Text 19"/>
          <p:cNvSpPr txBox="1"/>
          <p:nvPr/>
        </p:nvSpPr>
        <p:spPr>
          <a:xfrm>
            <a:off x="1188719" y="3611624"/>
            <a:ext cx="34747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1F5F9"/>
                </a:solidFill>
                <a:latin typeface="Consolas"/>
                <a:ea typeface="Consolas"/>
                <a:cs typeface="Consolas"/>
                <a:sym typeface="Consolas"/>
              </a:defRPr>
            </a:lvl1pPr>
          </a:lstStyle>
          <a:p>
            <a:pPr/>
            <a:r>
              <a:t>1</a:t>
            </a:r>
          </a:p>
        </p:txBody>
      </p:sp>
      <p:sp>
        <p:nvSpPr>
          <p:cNvPr id="172" name="Text 20"/>
          <p:cNvSpPr txBox="1"/>
          <p:nvPr/>
        </p:nvSpPr>
        <p:spPr>
          <a:xfrm>
            <a:off x="1691638" y="3277913"/>
            <a:ext cx="182880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i="1" sz="1000">
                <a:solidFill>
                  <a:srgbClr val="64748B"/>
                </a:solidFill>
                <a:latin typeface="+mn-lt"/>
                <a:ea typeface="+mn-ea"/>
                <a:cs typeface="+mn-cs"/>
                <a:sym typeface="Calibri"/>
              </a:defRPr>
            </a:pPr>
            <a:r>
              <a:t>(vertical change,</a:t>
            </a:r>
          </a:p>
          <a:p>
            <a:pPr>
              <a:defRPr i="1" sz="1000">
                <a:solidFill>
                  <a:srgbClr val="64748B"/>
                </a:solidFill>
                <a:latin typeface="+mn-lt"/>
                <a:ea typeface="+mn-ea"/>
                <a:cs typeface="+mn-cs"/>
                <a:sym typeface="Calibri"/>
              </a:defRPr>
            </a:pPr>
            <a:r>
              <a:t>top -&gt; bottom)</a:t>
            </a:r>
          </a:p>
        </p:txBody>
      </p:sp>
      <p:sp>
        <p:nvSpPr>
          <p:cNvPr id="173" name="Shape 21"/>
          <p:cNvSpPr/>
          <p:nvPr/>
        </p:nvSpPr>
        <p:spPr>
          <a:xfrm>
            <a:off x="4572000" y="1280160"/>
            <a:ext cx="4114800"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74" name="Text 22"/>
          <p:cNvSpPr txBox="1"/>
          <p:nvPr/>
        </p:nvSpPr>
        <p:spPr>
          <a:xfrm>
            <a:off x="4800600" y="1495623"/>
            <a:ext cx="36576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1F5F9"/>
                </a:solidFill>
                <a:latin typeface="+mn-lt"/>
                <a:ea typeface="+mn-ea"/>
                <a:cs typeface="+mn-cs"/>
                <a:sym typeface="Calibri"/>
              </a:defRPr>
            </a:lvl1pPr>
          </a:lstStyle>
          <a:p>
            <a:pPr/>
            <a:r>
              <a:t>From (Gx, Gy) -&gt; polar form</a:t>
            </a:r>
          </a:p>
        </p:txBody>
      </p:sp>
      <p:sp>
        <p:nvSpPr>
          <p:cNvPr id="175" name="Text 23"/>
          <p:cNvSpPr txBox="1"/>
          <p:nvPr/>
        </p:nvSpPr>
        <p:spPr>
          <a:xfrm>
            <a:off x="4800600" y="2035986"/>
            <a:ext cx="36576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59E0B"/>
                </a:solidFill>
                <a:latin typeface="+mn-lt"/>
                <a:ea typeface="+mn-ea"/>
                <a:cs typeface="+mn-cs"/>
                <a:sym typeface="Calibri"/>
              </a:defRPr>
            </a:lvl1pPr>
          </a:lstStyle>
          <a:p>
            <a:pPr/>
            <a:r>
              <a:t>Magnitude  (edge strength)</a:t>
            </a:r>
          </a:p>
        </p:txBody>
      </p:sp>
      <p:sp>
        <p:nvSpPr>
          <p:cNvPr id="176" name="Text 24"/>
          <p:cNvSpPr txBox="1"/>
          <p:nvPr/>
        </p:nvSpPr>
        <p:spPr>
          <a:xfrm>
            <a:off x="4800600" y="2235504"/>
            <a:ext cx="1324864" cy="375312"/>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600" i="1">
                      <a:solidFill>
                        <a:srgbClr val="F1F5F9"/>
                      </a:solidFill>
                      <a:latin typeface="Cambria Math" panose="02040503050406030204" pitchFamily="18" charset="0"/>
                    </a:rPr>
                    <m:t>M</m:t>
                  </m:r>
                  <m:r>
                    <a:rPr xmlns:a="http://schemas.openxmlformats.org/drawingml/2006/main" sz="1600" i="1">
                      <a:solidFill>
                        <a:srgbClr val="F1F5F9"/>
                      </a:solidFill>
                      <a:latin typeface="Cambria Math" panose="02040503050406030204" pitchFamily="18" charset="0"/>
                    </a:rPr>
                    <m:t>=</m:t>
                  </m:r>
                  <m:rad>
                    <m:radPr>
                      <m:ctrlPr>
                        <a:rPr xmlns:a="http://schemas.openxmlformats.org/drawingml/2006/main" sz="1600" i="1">
                          <a:solidFill>
                            <a:srgbClr val="F1F5F9"/>
                          </a:solidFill>
                          <a:latin typeface="Cambria Math" panose="02040503050406030204" pitchFamily="18" charset="0"/>
                        </a:rPr>
                      </m:ctrlPr>
                      <m:degHide m:val="on"/>
                    </m:radPr>
                    <m:deg/>
                    <m:e>
                      <m:sSubSup>
                        <m:e>
                          <m:r>
                            <a:rPr xmlns:a="http://schemas.openxmlformats.org/drawingml/2006/main" sz="1600" i="1">
                              <a:solidFill>
                                <a:srgbClr val="F1F5F9"/>
                              </a:solidFill>
                              <a:latin typeface="Cambria Math" panose="02040503050406030204" pitchFamily="18" charset="0"/>
                            </a:rPr>
                            <m:t>G</m:t>
                          </m:r>
                        </m:e>
                        <m:sub>
                          <m:r>
                            <a:rPr xmlns:a="http://schemas.openxmlformats.org/drawingml/2006/main" sz="1600" i="1">
                              <a:solidFill>
                                <a:srgbClr val="F1F5F9"/>
                              </a:solidFill>
                              <a:latin typeface="Cambria Math" panose="02040503050406030204" pitchFamily="18" charset="0"/>
                            </a:rPr>
                            <m:t>x</m:t>
                          </m:r>
                        </m:sub>
                        <m:sup>
                          <m:r>
                            <a:rPr xmlns:a="http://schemas.openxmlformats.org/drawingml/2006/main" sz="1600" i="1">
                              <a:solidFill>
                                <a:srgbClr val="F1F5F9"/>
                              </a:solidFill>
                              <a:latin typeface="Cambria Math" panose="02040503050406030204" pitchFamily="18" charset="0"/>
                            </a:rPr>
                            <m:t>2</m:t>
                          </m:r>
                        </m:sup>
                      </m:sSubSup>
                      <m:r>
                        <a:rPr xmlns:a="http://schemas.openxmlformats.org/drawingml/2006/main" sz="1600" i="1">
                          <a:solidFill>
                            <a:srgbClr val="F1F5F9"/>
                          </a:solidFill>
                          <a:latin typeface="Cambria Math" panose="02040503050406030204" pitchFamily="18" charset="0"/>
                        </a:rPr>
                        <m:t>+</m:t>
                      </m:r>
                      <m:sSubSup>
                        <m:e>
                          <m:r>
                            <a:rPr xmlns:a="http://schemas.openxmlformats.org/drawingml/2006/main" sz="1600" i="1">
                              <a:solidFill>
                                <a:srgbClr val="F1F5F9"/>
                              </a:solidFill>
                              <a:latin typeface="Cambria Math" panose="02040503050406030204" pitchFamily="18" charset="0"/>
                            </a:rPr>
                            <m:t>G</m:t>
                          </m:r>
                        </m:e>
                        <m:sub>
                          <m:r>
                            <a:rPr xmlns:a="http://schemas.openxmlformats.org/drawingml/2006/main" sz="1600" i="1">
                              <a:solidFill>
                                <a:srgbClr val="F1F5F9"/>
                              </a:solidFill>
                              <a:latin typeface="Cambria Math" panose="02040503050406030204" pitchFamily="18" charset="0"/>
                            </a:rPr>
                            <m:t>y</m:t>
                          </m:r>
                        </m:sub>
                        <m:sup>
                          <m:r>
                            <a:rPr xmlns:a="http://schemas.openxmlformats.org/drawingml/2006/main" sz="1600" i="1">
                              <a:solidFill>
                                <a:srgbClr val="F1F5F9"/>
                              </a:solidFill>
                              <a:latin typeface="Cambria Math" panose="02040503050406030204" pitchFamily="18" charset="0"/>
                            </a:rPr>
                            <m:t>2</m:t>
                          </m:r>
                        </m:sup>
                      </m:sSubSup>
                    </m:e>
                  </m:rad>
                </m:oMath>
              </m:oMathPara>
            </a14:m>
            <a:endParaRPr sz="1600">
              <a:solidFill>
                <a:srgbClr val="F1F5F9"/>
              </a:solidFill>
            </a:endParaRPr>
          </a:p>
        </p:txBody>
      </p:sp>
      <p:sp>
        <p:nvSpPr>
          <p:cNvPr id="177" name="Text 25"/>
          <p:cNvSpPr txBox="1"/>
          <p:nvPr/>
        </p:nvSpPr>
        <p:spPr>
          <a:xfrm>
            <a:off x="4800600" y="2767506"/>
            <a:ext cx="36576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59E0B"/>
                </a:solidFill>
                <a:latin typeface="+mn-lt"/>
                <a:ea typeface="+mn-ea"/>
                <a:cs typeface="+mn-cs"/>
                <a:sym typeface="Calibri"/>
              </a:defRPr>
            </a:lvl1pPr>
          </a:lstStyle>
          <a:p>
            <a:pPr/>
            <a:r>
              <a:t>Orientation  (edge angle)</a:t>
            </a:r>
          </a:p>
        </p:txBody>
      </p:sp>
      <p:sp>
        <p:nvSpPr>
          <p:cNvPr id="178" name="Text 26"/>
          <p:cNvSpPr txBox="1"/>
          <p:nvPr/>
        </p:nvSpPr>
        <p:spPr>
          <a:xfrm>
            <a:off x="4795837" y="2977153"/>
            <a:ext cx="1170420" cy="448780"/>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400" i="1">
                      <a:solidFill>
                        <a:srgbClr val="F1F5F9"/>
                      </a:solidFill>
                      <a:latin typeface="Cambria Math" panose="02040503050406030204" pitchFamily="18" charset="0"/>
                    </a:rPr>
                    <m:t>θ</m:t>
                  </m:r>
                  <m:r>
                    <a:rPr xmlns:a="http://schemas.openxmlformats.org/drawingml/2006/main" sz="1400" i="1">
                      <a:solidFill>
                        <a:srgbClr val="F1F5F9"/>
                      </a:solidFill>
                      <a:latin typeface="Cambria Math" panose="02040503050406030204" pitchFamily="18" charset="0"/>
                    </a:rPr>
                    <m:t>=</m:t>
                  </m:r>
                  <m:r>
                    <m:rPr>
                      <m:nor/>
                    </m:rPr>
                    <a:rPr xmlns:a="http://schemas.openxmlformats.org/drawingml/2006/main" sz="1400" i="1">
                      <a:solidFill>
                        <a:srgbClr val="F1F5F9"/>
                      </a:solidFill>
                      <a:latin typeface="Cambria Math" panose="02040503050406030204" pitchFamily="18" charset="0"/>
                    </a:rPr>
                    <m:t>arctan</m:t>
                  </m:r>
                  <m:r>
                    <a:rPr xmlns:a="http://schemas.openxmlformats.org/drawingml/2006/main" sz="1400" i="1">
                      <a:solidFill>
                        <a:srgbClr val="F1F5F9"/>
                      </a:solidFill>
                      <a:latin typeface="Cambria Math" panose="02040503050406030204" pitchFamily="18" charset="0"/>
                    </a:rPr>
                    <m:t>(</m:t>
                  </m:r>
                  <m:f>
                    <m:fPr>
                      <m:ctrlPr>
                        <a:rPr xmlns:a="http://schemas.openxmlformats.org/drawingml/2006/main" sz="1400" i="1">
                          <a:solidFill>
                            <a:srgbClr val="F1F5F9"/>
                          </a:solidFill>
                          <a:latin typeface="Cambria Math" panose="02040503050406030204" pitchFamily="18" charset="0"/>
                        </a:rPr>
                      </m:ctrlPr>
                      <m:type m:val="bar"/>
                    </m:fPr>
                    <m:num>
                      <m:sSub>
                        <m:e>
                          <m:r>
                            <a:rPr xmlns:a="http://schemas.openxmlformats.org/drawingml/2006/main" sz="1400" i="1">
                              <a:solidFill>
                                <a:srgbClr val="F1F5F9"/>
                              </a:solidFill>
                              <a:latin typeface="Cambria Math" panose="02040503050406030204" pitchFamily="18" charset="0"/>
                            </a:rPr>
                            <m:t>G</m:t>
                          </m:r>
                        </m:e>
                        <m:sub>
                          <m:r>
                            <a:rPr xmlns:a="http://schemas.openxmlformats.org/drawingml/2006/main" sz="1400" i="1">
                              <a:solidFill>
                                <a:srgbClr val="F1F5F9"/>
                              </a:solidFill>
                              <a:latin typeface="Cambria Math" panose="02040503050406030204" pitchFamily="18" charset="0"/>
                            </a:rPr>
                            <m:t>y</m:t>
                          </m:r>
                        </m:sub>
                      </m:sSub>
                    </m:num>
                    <m:den>
                      <m:sSub>
                        <m:e>
                          <m:r>
                            <a:rPr xmlns:a="http://schemas.openxmlformats.org/drawingml/2006/main" sz="1400" i="1">
                              <a:solidFill>
                                <a:srgbClr val="F1F5F9"/>
                              </a:solidFill>
                              <a:latin typeface="Cambria Math" panose="02040503050406030204" pitchFamily="18" charset="0"/>
                            </a:rPr>
                            <m:t>G</m:t>
                          </m:r>
                        </m:e>
                        <m:sub>
                          <m:r>
                            <a:rPr xmlns:a="http://schemas.openxmlformats.org/drawingml/2006/main" sz="1400" i="1">
                              <a:solidFill>
                                <a:srgbClr val="F1F5F9"/>
                              </a:solidFill>
                              <a:latin typeface="Cambria Math" panose="02040503050406030204" pitchFamily="18" charset="0"/>
                            </a:rPr>
                            <m:t>x</m:t>
                          </m:r>
                        </m:sub>
                      </m:sSub>
                    </m:den>
                  </m:f>
                  <m:r>
                    <a:rPr xmlns:a="http://schemas.openxmlformats.org/drawingml/2006/main" sz="1400" i="1">
                      <a:solidFill>
                        <a:srgbClr val="F1F5F9"/>
                      </a:solidFill>
                      <a:latin typeface="Cambria Math" panose="02040503050406030204" pitchFamily="18" charset="0"/>
                    </a:rPr>
                    <m:t>)</m:t>
                  </m:r>
                </m:oMath>
              </m:oMathPara>
            </a14:m>
            <a:endParaRPr sz="1400">
              <a:solidFill>
                <a:srgbClr val="F1F5F9"/>
              </a:solidFill>
            </a:endParaRPr>
          </a:p>
        </p:txBody>
      </p:sp>
      <p:sp>
        <p:nvSpPr>
          <p:cNvPr id="179" name="Shape 27"/>
          <p:cNvSpPr/>
          <p:nvPr/>
        </p:nvSpPr>
        <p:spPr>
          <a:xfrm>
            <a:off x="4800600" y="3520440"/>
            <a:ext cx="3657600" cy="685802"/>
          </a:xfrm>
          <a:prstGeom prst="rect">
            <a:avLst/>
          </a:prstGeom>
          <a:solidFill>
            <a:srgbClr val="172033"/>
          </a:solidFill>
          <a:ln w="12700">
            <a:solidFill>
              <a:srgbClr val="0E7490"/>
            </a:solidFill>
          </a:ln>
        </p:spPr>
        <p:txBody>
          <a:bodyPr lIns="45718" tIns="45718" rIns="45718" bIns="45718"/>
          <a:lstStyle/>
          <a:p>
            <a:pPr>
              <a:defRPr>
                <a:latin typeface="+mn-lt"/>
                <a:ea typeface="+mn-ea"/>
                <a:cs typeface="+mn-cs"/>
                <a:sym typeface="Calibri"/>
              </a:defRPr>
            </a:pPr>
          </a:p>
        </p:txBody>
      </p:sp>
      <p:sp>
        <p:nvSpPr>
          <p:cNvPr id="180" name="Text 28"/>
          <p:cNvSpPr txBox="1"/>
          <p:nvPr/>
        </p:nvSpPr>
        <p:spPr>
          <a:xfrm>
            <a:off x="4937759" y="3711619"/>
            <a:ext cx="3474721" cy="303441"/>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p>
            <a:pPr>
              <a:defRPr b="1" sz="1000">
                <a:solidFill>
                  <a:srgbClr val="06B6D4"/>
                </a:solidFill>
                <a:latin typeface="+mn-lt"/>
                <a:ea typeface="+mn-ea"/>
                <a:cs typeface="+mn-cs"/>
                <a:sym typeface="Calibri"/>
              </a:defRPr>
            </a:pPr>
            <a:r>
              <a:t>Unsigned gradients: </a:t>
            </a:r>
            <a:r>
              <a:rPr b="0">
                <a:solidFill>
                  <a:srgbClr val="94A3B8"/>
                </a:solidFill>
              </a:rPr>
              <a:t>angles map to 0°-180°. A dark -&gt; light and light -&gt; dark edge share the same orientation.</a:t>
            </a:r>
          </a:p>
        </p:txBody>
      </p:sp>
      <p:sp>
        <p:nvSpPr>
          <p:cNvPr id="181" name="Shape 29"/>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182" name="Text 30"/>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Stage 2 - Gradients</a:t>
            </a:r>
          </a:p>
        </p:txBody>
      </p:sp>
      <p:sp>
        <p:nvSpPr>
          <p:cNvPr id="183" name="Text 31"/>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4 / 16</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187"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STAGE 3</a:t>
            </a:r>
          </a:p>
        </p:txBody>
      </p:sp>
      <p:sp>
        <p:nvSpPr>
          <p:cNvPr id="188"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Cell Histograms - Spatial Binning</a:t>
            </a:r>
          </a:p>
        </p:txBody>
      </p:sp>
      <p:sp>
        <p:nvSpPr>
          <p:cNvPr id="189" name="Shape 2"/>
          <p:cNvSpPr/>
          <p:nvPr/>
        </p:nvSpPr>
        <p:spPr>
          <a:xfrm>
            <a:off x="457200" y="1280160"/>
            <a:ext cx="3200400"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190" name="Text 3"/>
          <p:cNvSpPr txBox="1"/>
          <p:nvPr/>
        </p:nvSpPr>
        <p:spPr>
          <a:xfrm>
            <a:off x="457200" y="1441625"/>
            <a:ext cx="32004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latin typeface="+mn-lt"/>
                <a:ea typeface="+mn-ea"/>
                <a:cs typeface="+mn-cs"/>
                <a:sym typeface="Calibri"/>
              </a:defRPr>
            </a:lvl1pPr>
          </a:lstStyle>
          <a:p>
            <a:pPr/>
            <a:r>
              <a:t>8×8 pixel cell</a:t>
            </a:r>
          </a:p>
        </p:txBody>
      </p:sp>
      <p:sp>
        <p:nvSpPr>
          <p:cNvPr id="191" name="Shape 4"/>
          <p:cNvSpPr/>
          <p:nvPr/>
        </p:nvSpPr>
        <p:spPr>
          <a:xfrm>
            <a:off x="868680" y="1737360"/>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192" name="Shape 5"/>
          <p:cNvSpPr/>
          <p:nvPr/>
        </p:nvSpPr>
        <p:spPr>
          <a:xfrm>
            <a:off x="1069847" y="1737360"/>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193" name="Shape 6"/>
          <p:cNvSpPr/>
          <p:nvPr/>
        </p:nvSpPr>
        <p:spPr>
          <a:xfrm>
            <a:off x="1271016" y="1737360"/>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194" name="Shape 7"/>
          <p:cNvSpPr/>
          <p:nvPr/>
        </p:nvSpPr>
        <p:spPr>
          <a:xfrm>
            <a:off x="1472183" y="1737360"/>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195" name="Shape 8"/>
          <p:cNvSpPr/>
          <p:nvPr/>
        </p:nvSpPr>
        <p:spPr>
          <a:xfrm>
            <a:off x="1673350" y="1737360"/>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196" name="Shape 9"/>
          <p:cNvSpPr/>
          <p:nvPr/>
        </p:nvSpPr>
        <p:spPr>
          <a:xfrm>
            <a:off x="1874520" y="1737360"/>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197" name="Shape 10"/>
          <p:cNvSpPr/>
          <p:nvPr/>
        </p:nvSpPr>
        <p:spPr>
          <a:xfrm>
            <a:off x="2075688" y="1737360"/>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198" name="Shape 11"/>
          <p:cNvSpPr/>
          <p:nvPr/>
        </p:nvSpPr>
        <p:spPr>
          <a:xfrm>
            <a:off x="2276855" y="1737360"/>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199" name="Shape 12"/>
          <p:cNvSpPr/>
          <p:nvPr/>
        </p:nvSpPr>
        <p:spPr>
          <a:xfrm>
            <a:off x="868680" y="1938527"/>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0" name="Shape 13"/>
          <p:cNvSpPr/>
          <p:nvPr/>
        </p:nvSpPr>
        <p:spPr>
          <a:xfrm>
            <a:off x="1069847" y="1938527"/>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1" name="Shape 14"/>
          <p:cNvSpPr/>
          <p:nvPr/>
        </p:nvSpPr>
        <p:spPr>
          <a:xfrm>
            <a:off x="1271016" y="1938527"/>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2" name="Shape 15"/>
          <p:cNvSpPr/>
          <p:nvPr/>
        </p:nvSpPr>
        <p:spPr>
          <a:xfrm>
            <a:off x="1472183" y="1938527"/>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3" name="Shape 16"/>
          <p:cNvSpPr/>
          <p:nvPr/>
        </p:nvSpPr>
        <p:spPr>
          <a:xfrm>
            <a:off x="1673350" y="1938527"/>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4" name="Shape 17"/>
          <p:cNvSpPr/>
          <p:nvPr/>
        </p:nvSpPr>
        <p:spPr>
          <a:xfrm>
            <a:off x="1874520" y="1938527"/>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5" name="Shape 18"/>
          <p:cNvSpPr/>
          <p:nvPr/>
        </p:nvSpPr>
        <p:spPr>
          <a:xfrm>
            <a:off x="2075688" y="1938527"/>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6" name="Shape 19"/>
          <p:cNvSpPr/>
          <p:nvPr/>
        </p:nvSpPr>
        <p:spPr>
          <a:xfrm>
            <a:off x="2276855" y="1938527"/>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7" name="Shape 20"/>
          <p:cNvSpPr/>
          <p:nvPr/>
        </p:nvSpPr>
        <p:spPr>
          <a:xfrm>
            <a:off x="868680" y="213969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8" name="Shape 21"/>
          <p:cNvSpPr/>
          <p:nvPr/>
        </p:nvSpPr>
        <p:spPr>
          <a:xfrm>
            <a:off x="1069847" y="213969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09" name="Shape 22"/>
          <p:cNvSpPr/>
          <p:nvPr/>
        </p:nvSpPr>
        <p:spPr>
          <a:xfrm>
            <a:off x="1271016" y="213969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0" name="Shape 23"/>
          <p:cNvSpPr/>
          <p:nvPr/>
        </p:nvSpPr>
        <p:spPr>
          <a:xfrm>
            <a:off x="1472183" y="213969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1" name="Shape 24"/>
          <p:cNvSpPr/>
          <p:nvPr/>
        </p:nvSpPr>
        <p:spPr>
          <a:xfrm>
            <a:off x="1673350" y="213969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2" name="Shape 25"/>
          <p:cNvSpPr/>
          <p:nvPr/>
        </p:nvSpPr>
        <p:spPr>
          <a:xfrm>
            <a:off x="1874520" y="213969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3" name="Shape 26"/>
          <p:cNvSpPr/>
          <p:nvPr/>
        </p:nvSpPr>
        <p:spPr>
          <a:xfrm>
            <a:off x="2075688" y="213969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4" name="Shape 27"/>
          <p:cNvSpPr/>
          <p:nvPr/>
        </p:nvSpPr>
        <p:spPr>
          <a:xfrm>
            <a:off x="2276855" y="213969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5" name="Shape 28"/>
          <p:cNvSpPr/>
          <p:nvPr/>
        </p:nvSpPr>
        <p:spPr>
          <a:xfrm>
            <a:off x="868680" y="234086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6" name="Shape 29"/>
          <p:cNvSpPr/>
          <p:nvPr/>
        </p:nvSpPr>
        <p:spPr>
          <a:xfrm>
            <a:off x="1069847" y="234086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7" name="Shape 30"/>
          <p:cNvSpPr/>
          <p:nvPr/>
        </p:nvSpPr>
        <p:spPr>
          <a:xfrm>
            <a:off x="1271016" y="234086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8" name="Shape 31"/>
          <p:cNvSpPr/>
          <p:nvPr/>
        </p:nvSpPr>
        <p:spPr>
          <a:xfrm>
            <a:off x="1472183" y="234086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19" name="Shape 32"/>
          <p:cNvSpPr/>
          <p:nvPr/>
        </p:nvSpPr>
        <p:spPr>
          <a:xfrm>
            <a:off x="1673350" y="234086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0" name="Shape 33"/>
          <p:cNvSpPr/>
          <p:nvPr/>
        </p:nvSpPr>
        <p:spPr>
          <a:xfrm>
            <a:off x="1874520" y="234086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1" name="Shape 34"/>
          <p:cNvSpPr/>
          <p:nvPr/>
        </p:nvSpPr>
        <p:spPr>
          <a:xfrm>
            <a:off x="2075688" y="234086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2" name="Shape 35"/>
          <p:cNvSpPr/>
          <p:nvPr/>
        </p:nvSpPr>
        <p:spPr>
          <a:xfrm>
            <a:off x="2276855" y="234086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3" name="Shape 36"/>
          <p:cNvSpPr/>
          <p:nvPr/>
        </p:nvSpPr>
        <p:spPr>
          <a:xfrm>
            <a:off x="868680" y="2542032"/>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4" name="Shape 37"/>
          <p:cNvSpPr/>
          <p:nvPr/>
        </p:nvSpPr>
        <p:spPr>
          <a:xfrm>
            <a:off x="1069847" y="2542032"/>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5" name="Shape 38"/>
          <p:cNvSpPr/>
          <p:nvPr/>
        </p:nvSpPr>
        <p:spPr>
          <a:xfrm>
            <a:off x="1271016" y="2542032"/>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6" name="Shape 39"/>
          <p:cNvSpPr/>
          <p:nvPr/>
        </p:nvSpPr>
        <p:spPr>
          <a:xfrm>
            <a:off x="1472183" y="2542032"/>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7" name="Shape 40"/>
          <p:cNvSpPr/>
          <p:nvPr/>
        </p:nvSpPr>
        <p:spPr>
          <a:xfrm>
            <a:off x="1673350" y="2542032"/>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8" name="Shape 41"/>
          <p:cNvSpPr/>
          <p:nvPr/>
        </p:nvSpPr>
        <p:spPr>
          <a:xfrm>
            <a:off x="1874520" y="2542032"/>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29" name="Shape 42"/>
          <p:cNvSpPr/>
          <p:nvPr/>
        </p:nvSpPr>
        <p:spPr>
          <a:xfrm>
            <a:off x="2075688" y="2542032"/>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0" name="Shape 43"/>
          <p:cNvSpPr/>
          <p:nvPr/>
        </p:nvSpPr>
        <p:spPr>
          <a:xfrm>
            <a:off x="2276855" y="2542032"/>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1" name="Shape 44"/>
          <p:cNvSpPr/>
          <p:nvPr/>
        </p:nvSpPr>
        <p:spPr>
          <a:xfrm>
            <a:off x="868680" y="2743200"/>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2" name="Shape 45"/>
          <p:cNvSpPr/>
          <p:nvPr/>
        </p:nvSpPr>
        <p:spPr>
          <a:xfrm>
            <a:off x="1069847" y="2743200"/>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3" name="Shape 46"/>
          <p:cNvSpPr/>
          <p:nvPr/>
        </p:nvSpPr>
        <p:spPr>
          <a:xfrm>
            <a:off x="1271016" y="2743200"/>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4" name="Shape 47"/>
          <p:cNvSpPr/>
          <p:nvPr/>
        </p:nvSpPr>
        <p:spPr>
          <a:xfrm>
            <a:off x="1472183" y="2743200"/>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5" name="Shape 48"/>
          <p:cNvSpPr/>
          <p:nvPr/>
        </p:nvSpPr>
        <p:spPr>
          <a:xfrm>
            <a:off x="1673350" y="2743200"/>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6" name="Shape 49"/>
          <p:cNvSpPr/>
          <p:nvPr/>
        </p:nvSpPr>
        <p:spPr>
          <a:xfrm>
            <a:off x="1874520" y="2743200"/>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7" name="Shape 50"/>
          <p:cNvSpPr/>
          <p:nvPr/>
        </p:nvSpPr>
        <p:spPr>
          <a:xfrm>
            <a:off x="2075688" y="2743200"/>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8" name="Shape 51"/>
          <p:cNvSpPr/>
          <p:nvPr/>
        </p:nvSpPr>
        <p:spPr>
          <a:xfrm>
            <a:off x="2276855" y="2743200"/>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39" name="Shape 52"/>
          <p:cNvSpPr/>
          <p:nvPr/>
        </p:nvSpPr>
        <p:spPr>
          <a:xfrm>
            <a:off x="868680" y="2944366"/>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0" name="Shape 53"/>
          <p:cNvSpPr/>
          <p:nvPr/>
        </p:nvSpPr>
        <p:spPr>
          <a:xfrm>
            <a:off x="1069847" y="2944366"/>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1" name="Shape 54"/>
          <p:cNvSpPr/>
          <p:nvPr/>
        </p:nvSpPr>
        <p:spPr>
          <a:xfrm>
            <a:off x="1271016" y="2944366"/>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2" name="Shape 55"/>
          <p:cNvSpPr/>
          <p:nvPr/>
        </p:nvSpPr>
        <p:spPr>
          <a:xfrm>
            <a:off x="1472183" y="2944366"/>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3" name="Shape 56"/>
          <p:cNvSpPr/>
          <p:nvPr/>
        </p:nvSpPr>
        <p:spPr>
          <a:xfrm>
            <a:off x="1673350" y="2944366"/>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4" name="Shape 57"/>
          <p:cNvSpPr/>
          <p:nvPr/>
        </p:nvSpPr>
        <p:spPr>
          <a:xfrm>
            <a:off x="1874520" y="2944366"/>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5" name="Shape 58"/>
          <p:cNvSpPr/>
          <p:nvPr/>
        </p:nvSpPr>
        <p:spPr>
          <a:xfrm>
            <a:off x="2075688" y="2944366"/>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6" name="Shape 59"/>
          <p:cNvSpPr/>
          <p:nvPr/>
        </p:nvSpPr>
        <p:spPr>
          <a:xfrm>
            <a:off x="2276855" y="2944366"/>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7" name="Shape 60"/>
          <p:cNvSpPr/>
          <p:nvPr/>
        </p:nvSpPr>
        <p:spPr>
          <a:xfrm>
            <a:off x="868680" y="314553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8" name="Shape 61"/>
          <p:cNvSpPr/>
          <p:nvPr/>
        </p:nvSpPr>
        <p:spPr>
          <a:xfrm>
            <a:off x="1069847" y="314553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49" name="Shape 62"/>
          <p:cNvSpPr/>
          <p:nvPr/>
        </p:nvSpPr>
        <p:spPr>
          <a:xfrm>
            <a:off x="1271016" y="314553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50" name="Shape 63"/>
          <p:cNvSpPr/>
          <p:nvPr/>
        </p:nvSpPr>
        <p:spPr>
          <a:xfrm>
            <a:off x="1472183" y="314553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51" name="Shape 64"/>
          <p:cNvSpPr/>
          <p:nvPr/>
        </p:nvSpPr>
        <p:spPr>
          <a:xfrm>
            <a:off x="1673350" y="314553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52" name="Shape 65"/>
          <p:cNvSpPr/>
          <p:nvPr/>
        </p:nvSpPr>
        <p:spPr>
          <a:xfrm>
            <a:off x="1874520" y="314553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53" name="Shape 66"/>
          <p:cNvSpPr/>
          <p:nvPr/>
        </p:nvSpPr>
        <p:spPr>
          <a:xfrm>
            <a:off x="2075688" y="3145534"/>
            <a:ext cx="201170" cy="201170"/>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54" name="Shape 67"/>
          <p:cNvSpPr/>
          <p:nvPr/>
        </p:nvSpPr>
        <p:spPr>
          <a:xfrm>
            <a:off x="2276855" y="3145534"/>
            <a:ext cx="201170" cy="20117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255" name="Shape 68"/>
          <p:cNvSpPr/>
          <p:nvPr/>
        </p:nvSpPr>
        <p:spPr>
          <a:xfrm>
            <a:off x="1170432" y="1956815"/>
            <a:ext cx="1" cy="164594"/>
          </a:xfrm>
          <a:prstGeom prst="line">
            <a:avLst/>
          </a:prstGeom>
          <a:ln w="19050">
            <a:solidFill>
              <a:srgbClr val="06B6D4"/>
            </a:solidFill>
          </a:ln>
        </p:spPr>
        <p:txBody>
          <a:bodyPr lIns="45718" tIns="45718" rIns="45718" bIns="45718"/>
          <a:lstStyle/>
          <a:p>
            <a:pPr/>
          </a:p>
        </p:txBody>
      </p:sp>
      <p:sp>
        <p:nvSpPr>
          <p:cNvPr id="256" name="Shape 69"/>
          <p:cNvSpPr/>
          <p:nvPr/>
        </p:nvSpPr>
        <p:spPr>
          <a:xfrm>
            <a:off x="1544619" y="2162946"/>
            <a:ext cx="56297" cy="154669"/>
          </a:xfrm>
          <a:prstGeom prst="line">
            <a:avLst/>
          </a:prstGeom>
          <a:ln w="19050">
            <a:solidFill>
              <a:srgbClr val="06B6D4"/>
            </a:solidFill>
          </a:ln>
        </p:spPr>
        <p:txBody>
          <a:bodyPr lIns="45718" tIns="45718" rIns="45718" bIns="45718"/>
          <a:lstStyle/>
          <a:p>
            <a:pPr/>
          </a:p>
        </p:txBody>
      </p:sp>
      <p:sp>
        <p:nvSpPr>
          <p:cNvPr id="257" name="Shape 70"/>
          <p:cNvSpPr/>
          <p:nvPr/>
        </p:nvSpPr>
        <p:spPr>
          <a:xfrm>
            <a:off x="1946956" y="1961779"/>
            <a:ext cx="56296" cy="154668"/>
          </a:xfrm>
          <a:prstGeom prst="line">
            <a:avLst/>
          </a:prstGeom>
          <a:ln w="19050">
            <a:solidFill>
              <a:srgbClr val="06B6D4"/>
            </a:solidFill>
          </a:ln>
        </p:spPr>
        <p:txBody>
          <a:bodyPr lIns="45718" tIns="45718" rIns="45718" bIns="45718"/>
          <a:lstStyle/>
          <a:p>
            <a:pPr/>
          </a:p>
        </p:txBody>
      </p:sp>
      <p:sp>
        <p:nvSpPr>
          <p:cNvPr id="258" name="Shape 71"/>
          <p:cNvSpPr/>
          <p:nvPr/>
        </p:nvSpPr>
        <p:spPr>
          <a:xfrm>
            <a:off x="2098937" y="2614467"/>
            <a:ext cx="154668" cy="56296"/>
          </a:xfrm>
          <a:prstGeom prst="line">
            <a:avLst/>
          </a:prstGeom>
          <a:ln w="19050">
            <a:solidFill>
              <a:srgbClr val="06B6D4"/>
            </a:solidFill>
          </a:ln>
        </p:spPr>
        <p:txBody>
          <a:bodyPr lIns="45718" tIns="45718" rIns="45718" bIns="45718"/>
          <a:lstStyle/>
          <a:p>
            <a:pPr/>
          </a:p>
        </p:txBody>
      </p:sp>
      <p:sp>
        <p:nvSpPr>
          <p:cNvPr id="259" name="Shape 72"/>
          <p:cNvSpPr/>
          <p:nvPr/>
        </p:nvSpPr>
        <p:spPr>
          <a:xfrm>
            <a:off x="1300327" y="2802634"/>
            <a:ext cx="142543" cy="82298"/>
          </a:xfrm>
          <a:prstGeom prst="line">
            <a:avLst/>
          </a:prstGeom>
          <a:ln w="19050">
            <a:solidFill>
              <a:srgbClr val="06B6D4"/>
            </a:solidFill>
          </a:ln>
        </p:spPr>
        <p:txBody>
          <a:bodyPr lIns="45718" tIns="45718" rIns="45718" bIns="45718"/>
          <a:lstStyle/>
          <a:p>
            <a:pPr/>
          </a:p>
        </p:txBody>
      </p:sp>
      <p:sp>
        <p:nvSpPr>
          <p:cNvPr id="260" name="Shape 73"/>
          <p:cNvSpPr/>
          <p:nvPr/>
        </p:nvSpPr>
        <p:spPr>
          <a:xfrm>
            <a:off x="1773935" y="2962655"/>
            <a:ext cx="1" cy="164594"/>
          </a:xfrm>
          <a:prstGeom prst="line">
            <a:avLst/>
          </a:prstGeom>
          <a:ln w="19050">
            <a:solidFill>
              <a:srgbClr val="06B6D4"/>
            </a:solidFill>
          </a:ln>
        </p:spPr>
        <p:txBody>
          <a:bodyPr lIns="45718" tIns="45718" rIns="45718" bIns="45718"/>
          <a:lstStyle/>
          <a:p>
            <a:pPr/>
          </a:p>
        </p:txBody>
      </p:sp>
      <p:sp>
        <p:nvSpPr>
          <p:cNvPr id="261" name="Shape 74"/>
          <p:cNvSpPr/>
          <p:nvPr/>
        </p:nvSpPr>
        <p:spPr>
          <a:xfrm>
            <a:off x="928116" y="2571345"/>
            <a:ext cx="82297" cy="142543"/>
          </a:xfrm>
          <a:prstGeom prst="line">
            <a:avLst/>
          </a:prstGeom>
          <a:ln w="19050">
            <a:solidFill>
              <a:srgbClr val="06B6D4"/>
            </a:solidFill>
          </a:ln>
        </p:spPr>
        <p:txBody>
          <a:bodyPr lIns="45718" tIns="45718" rIns="45718" bIns="45718"/>
          <a:lstStyle/>
          <a:p>
            <a:pPr/>
          </a:p>
        </p:txBody>
      </p:sp>
      <p:sp>
        <p:nvSpPr>
          <p:cNvPr id="262" name="Shape 75"/>
          <p:cNvSpPr/>
          <p:nvPr/>
        </p:nvSpPr>
        <p:spPr>
          <a:xfrm>
            <a:off x="2306170" y="3204971"/>
            <a:ext cx="142543" cy="82298"/>
          </a:xfrm>
          <a:prstGeom prst="line">
            <a:avLst/>
          </a:prstGeom>
          <a:ln w="19050">
            <a:solidFill>
              <a:srgbClr val="06B6D4"/>
            </a:solidFill>
          </a:ln>
        </p:spPr>
        <p:txBody>
          <a:bodyPr lIns="45718" tIns="45718" rIns="45718" bIns="45718"/>
          <a:lstStyle/>
          <a:p>
            <a:pPr/>
          </a:p>
        </p:txBody>
      </p:sp>
      <p:sp>
        <p:nvSpPr>
          <p:cNvPr id="263" name="Text 76"/>
          <p:cNvSpPr txBox="1"/>
          <p:nvPr/>
        </p:nvSpPr>
        <p:spPr>
          <a:xfrm>
            <a:off x="457200" y="4091984"/>
            <a:ext cx="32004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64748B"/>
                </a:solidFill>
                <a:latin typeface="+mn-lt"/>
                <a:ea typeface="+mn-ea"/>
                <a:cs typeface="+mn-cs"/>
                <a:sym typeface="Calibri"/>
              </a:defRPr>
            </a:lvl1pPr>
          </a:lstStyle>
          <a:p>
            <a:pPr/>
            <a:r>
              <a:t>64 pixels -&gt; one histogram</a:t>
            </a:r>
          </a:p>
        </p:txBody>
      </p:sp>
      <p:sp>
        <p:nvSpPr>
          <p:cNvPr id="264" name="Shape 77"/>
          <p:cNvSpPr/>
          <p:nvPr/>
        </p:nvSpPr>
        <p:spPr>
          <a:xfrm>
            <a:off x="3840479" y="1280160"/>
            <a:ext cx="4846322"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265" name="Text 78"/>
          <p:cNvSpPr txBox="1"/>
          <p:nvPr/>
        </p:nvSpPr>
        <p:spPr>
          <a:xfrm>
            <a:off x="3840479" y="1441625"/>
            <a:ext cx="484632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latin typeface="+mn-lt"/>
                <a:ea typeface="+mn-ea"/>
                <a:cs typeface="+mn-cs"/>
                <a:sym typeface="Calibri"/>
              </a:defRPr>
            </a:lvl1pPr>
          </a:lstStyle>
          <a:p>
            <a:pPr/>
            <a:r>
              <a:t>9-bin histogram  (each bin = 20°)</a:t>
            </a:r>
          </a:p>
        </p:txBody>
      </p:sp>
      <p:sp>
        <p:nvSpPr>
          <p:cNvPr id="266" name="Shape 79"/>
          <p:cNvSpPr/>
          <p:nvPr/>
        </p:nvSpPr>
        <p:spPr>
          <a:xfrm>
            <a:off x="4160520" y="3291840"/>
            <a:ext cx="384050" cy="365762"/>
          </a:xfrm>
          <a:prstGeom prst="rect">
            <a:avLst/>
          </a:prstGeom>
          <a:solidFill>
            <a:srgbClr val="06B6D4">
              <a:alpha val="7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67" name="Text 80"/>
          <p:cNvSpPr txBox="1"/>
          <p:nvPr/>
        </p:nvSpPr>
        <p:spPr>
          <a:xfrm>
            <a:off x="4114800" y="3754119"/>
            <a:ext cx="4754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64748B"/>
                </a:solidFill>
                <a:latin typeface="Consolas"/>
                <a:ea typeface="Consolas"/>
                <a:cs typeface="Consolas"/>
                <a:sym typeface="Consolas"/>
              </a:defRPr>
            </a:lvl1pPr>
          </a:lstStyle>
          <a:p>
            <a:pPr/>
            <a:r>
              <a:t>0°</a:t>
            </a:r>
          </a:p>
        </p:txBody>
      </p:sp>
      <p:sp>
        <p:nvSpPr>
          <p:cNvPr id="268" name="Shape 81"/>
          <p:cNvSpPr/>
          <p:nvPr/>
        </p:nvSpPr>
        <p:spPr>
          <a:xfrm>
            <a:off x="4663440" y="2194560"/>
            <a:ext cx="384050" cy="1463042"/>
          </a:xfrm>
          <a:prstGeom prst="rect">
            <a:avLst/>
          </a:prstGeom>
          <a:solidFill>
            <a:srgbClr val="F59E0B"/>
          </a:solidFill>
          <a:ln w="12700">
            <a:solidFill>
              <a:srgbClr val="F59E0B"/>
            </a:solidFill>
          </a:ln>
        </p:spPr>
        <p:txBody>
          <a:bodyPr lIns="45718" tIns="45718" rIns="45718" bIns="45718"/>
          <a:lstStyle/>
          <a:p>
            <a:pPr>
              <a:defRPr>
                <a:latin typeface="+mn-lt"/>
                <a:ea typeface="+mn-ea"/>
                <a:cs typeface="+mn-cs"/>
                <a:sym typeface="Calibri"/>
              </a:defRPr>
            </a:pPr>
          </a:p>
        </p:txBody>
      </p:sp>
      <p:sp>
        <p:nvSpPr>
          <p:cNvPr id="269" name="Text 82"/>
          <p:cNvSpPr txBox="1"/>
          <p:nvPr/>
        </p:nvSpPr>
        <p:spPr>
          <a:xfrm>
            <a:off x="4617720" y="3754119"/>
            <a:ext cx="4754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64748B"/>
                </a:solidFill>
                <a:latin typeface="Consolas"/>
                <a:ea typeface="Consolas"/>
                <a:cs typeface="Consolas"/>
                <a:sym typeface="Consolas"/>
              </a:defRPr>
            </a:lvl1pPr>
          </a:lstStyle>
          <a:p>
            <a:pPr/>
            <a:r>
              <a:t>20°</a:t>
            </a:r>
          </a:p>
        </p:txBody>
      </p:sp>
      <p:sp>
        <p:nvSpPr>
          <p:cNvPr id="270" name="Shape 83"/>
          <p:cNvSpPr/>
          <p:nvPr/>
        </p:nvSpPr>
        <p:spPr>
          <a:xfrm>
            <a:off x="5166359" y="3017520"/>
            <a:ext cx="384050" cy="640082"/>
          </a:xfrm>
          <a:prstGeom prst="rect">
            <a:avLst/>
          </a:prstGeom>
          <a:solidFill>
            <a:srgbClr val="06B6D4">
              <a:alpha val="7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71" name="Text 84"/>
          <p:cNvSpPr txBox="1"/>
          <p:nvPr/>
        </p:nvSpPr>
        <p:spPr>
          <a:xfrm>
            <a:off x="5120640" y="3754119"/>
            <a:ext cx="4754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64748B"/>
                </a:solidFill>
                <a:latin typeface="Consolas"/>
                <a:ea typeface="Consolas"/>
                <a:cs typeface="Consolas"/>
                <a:sym typeface="Consolas"/>
              </a:defRPr>
            </a:lvl1pPr>
          </a:lstStyle>
          <a:p>
            <a:pPr/>
            <a:r>
              <a:t>40°</a:t>
            </a:r>
          </a:p>
        </p:txBody>
      </p:sp>
      <p:sp>
        <p:nvSpPr>
          <p:cNvPr id="272" name="Shape 85"/>
          <p:cNvSpPr/>
          <p:nvPr/>
        </p:nvSpPr>
        <p:spPr>
          <a:xfrm>
            <a:off x="5669279" y="3383279"/>
            <a:ext cx="384050" cy="274322"/>
          </a:xfrm>
          <a:prstGeom prst="rect">
            <a:avLst/>
          </a:prstGeom>
          <a:solidFill>
            <a:srgbClr val="06B6D4">
              <a:alpha val="7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73" name="Text 86"/>
          <p:cNvSpPr txBox="1"/>
          <p:nvPr/>
        </p:nvSpPr>
        <p:spPr>
          <a:xfrm>
            <a:off x="5623559" y="3754119"/>
            <a:ext cx="4754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64748B"/>
                </a:solidFill>
                <a:latin typeface="Consolas"/>
                <a:ea typeface="Consolas"/>
                <a:cs typeface="Consolas"/>
                <a:sym typeface="Consolas"/>
              </a:defRPr>
            </a:lvl1pPr>
          </a:lstStyle>
          <a:p>
            <a:pPr/>
            <a:r>
              <a:t>60°</a:t>
            </a:r>
          </a:p>
        </p:txBody>
      </p:sp>
      <p:sp>
        <p:nvSpPr>
          <p:cNvPr id="274" name="Shape 87"/>
          <p:cNvSpPr/>
          <p:nvPr/>
        </p:nvSpPr>
        <p:spPr>
          <a:xfrm>
            <a:off x="6172200" y="3474720"/>
            <a:ext cx="384048" cy="182882"/>
          </a:xfrm>
          <a:prstGeom prst="rect">
            <a:avLst/>
          </a:prstGeom>
          <a:solidFill>
            <a:srgbClr val="06B6D4">
              <a:alpha val="7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75" name="Text 88"/>
          <p:cNvSpPr txBox="1"/>
          <p:nvPr/>
        </p:nvSpPr>
        <p:spPr>
          <a:xfrm>
            <a:off x="6126479" y="3754119"/>
            <a:ext cx="4754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64748B"/>
                </a:solidFill>
                <a:latin typeface="Consolas"/>
                <a:ea typeface="Consolas"/>
                <a:cs typeface="Consolas"/>
                <a:sym typeface="Consolas"/>
              </a:defRPr>
            </a:lvl1pPr>
          </a:lstStyle>
          <a:p>
            <a:pPr/>
            <a:r>
              <a:t>80°</a:t>
            </a:r>
          </a:p>
        </p:txBody>
      </p:sp>
      <p:sp>
        <p:nvSpPr>
          <p:cNvPr id="276" name="Shape 89"/>
          <p:cNvSpPr/>
          <p:nvPr/>
        </p:nvSpPr>
        <p:spPr>
          <a:xfrm>
            <a:off x="6675118" y="3429000"/>
            <a:ext cx="384050" cy="228600"/>
          </a:xfrm>
          <a:prstGeom prst="rect">
            <a:avLst/>
          </a:prstGeom>
          <a:solidFill>
            <a:srgbClr val="06B6D4">
              <a:alpha val="7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77" name="Text 90"/>
          <p:cNvSpPr txBox="1"/>
          <p:nvPr/>
        </p:nvSpPr>
        <p:spPr>
          <a:xfrm>
            <a:off x="6629400" y="3754119"/>
            <a:ext cx="4754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64748B"/>
                </a:solidFill>
                <a:latin typeface="Consolas"/>
                <a:ea typeface="Consolas"/>
                <a:cs typeface="Consolas"/>
                <a:sym typeface="Consolas"/>
              </a:defRPr>
            </a:lvl1pPr>
          </a:lstStyle>
          <a:p>
            <a:pPr/>
            <a:r>
              <a:t>100°</a:t>
            </a:r>
          </a:p>
        </p:txBody>
      </p:sp>
      <p:sp>
        <p:nvSpPr>
          <p:cNvPr id="278" name="Shape 91"/>
          <p:cNvSpPr/>
          <p:nvPr/>
        </p:nvSpPr>
        <p:spPr>
          <a:xfrm>
            <a:off x="7178040" y="3200400"/>
            <a:ext cx="384050" cy="457200"/>
          </a:xfrm>
          <a:prstGeom prst="rect">
            <a:avLst/>
          </a:prstGeom>
          <a:solidFill>
            <a:srgbClr val="06B6D4">
              <a:alpha val="7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79" name="Text 92"/>
          <p:cNvSpPr txBox="1"/>
          <p:nvPr/>
        </p:nvSpPr>
        <p:spPr>
          <a:xfrm>
            <a:off x="7132318" y="3754119"/>
            <a:ext cx="4754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64748B"/>
                </a:solidFill>
                <a:latin typeface="Consolas"/>
                <a:ea typeface="Consolas"/>
                <a:cs typeface="Consolas"/>
                <a:sym typeface="Consolas"/>
              </a:defRPr>
            </a:lvl1pPr>
          </a:lstStyle>
          <a:p>
            <a:pPr/>
            <a:r>
              <a:t>120°</a:t>
            </a:r>
          </a:p>
        </p:txBody>
      </p:sp>
      <p:sp>
        <p:nvSpPr>
          <p:cNvPr id="280" name="Shape 93"/>
          <p:cNvSpPr/>
          <p:nvPr/>
        </p:nvSpPr>
        <p:spPr>
          <a:xfrm>
            <a:off x="7680959" y="2743200"/>
            <a:ext cx="384050" cy="914400"/>
          </a:xfrm>
          <a:prstGeom prst="rect">
            <a:avLst/>
          </a:prstGeom>
          <a:solidFill>
            <a:srgbClr val="06B6D4">
              <a:alpha val="7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81" name="Text 94"/>
          <p:cNvSpPr txBox="1"/>
          <p:nvPr/>
        </p:nvSpPr>
        <p:spPr>
          <a:xfrm>
            <a:off x="7635240" y="3754119"/>
            <a:ext cx="4754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64748B"/>
                </a:solidFill>
                <a:latin typeface="Consolas"/>
                <a:ea typeface="Consolas"/>
                <a:cs typeface="Consolas"/>
                <a:sym typeface="Consolas"/>
              </a:defRPr>
            </a:lvl1pPr>
          </a:lstStyle>
          <a:p>
            <a:pPr/>
            <a:r>
              <a:t>140°</a:t>
            </a:r>
          </a:p>
        </p:txBody>
      </p:sp>
      <p:sp>
        <p:nvSpPr>
          <p:cNvPr id="282" name="Shape 95"/>
          <p:cNvSpPr/>
          <p:nvPr/>
        </p:nvSpPr>
        <p:spPr>
          <a:xfrm>
            <a:off x="8183880" y="3154678"/>
            <a:ext cx="384050" cy="502920"/>
          </a:xfrm>
          <a:prstGeom prst="rect">
            <a:avLst/>
          </a:prstGeom>
          <a:solidFill>
            <a:srgbClr val="06B6D4">
              <a:alpha val="7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83" name="Text 96"/>
          <p:cNvSpPr txBox="1"/>
          <p:nvPr/>
        </p:nvSpPr>
        <p:spPr>
          <a:xfrm>
            <a:off x="8138159" y="3754119"/>
            <a:ext cx="4754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64748B"/>
                </a:solidFill>
                <a:latin typeface="Consolas"/>
                <a:ea typeface="Consolas"/>
                <a:cs typeface="Consolas"/>
                <a:sym typeface="Consolas"/>
              </a:defRPr>
            </a:lvl1pPr>
          </a:lstStyle>
          <a:p>
            <a:pPr/>
            <a:r>
              <a:t>160°</a:t>
            </a:r>
          </a:p>
        </p:txBody>
      </p:sp>
      <p:sp>
        <p:nvSpPr>
          <p:cNvPr id="284" name="Shape 97"/>
          <p:cNvSpPr/>
          <p:nvPr/>
        </p:nvSpPr>
        <p:spPr>
          <a:xfrm>
            <a:off x="4114800" y="3657600"/>
            <a:ext cx="4498848" cy="0"/>
          </a:xfrm>
          <a:prstGeom prst="line">
            <a:avLst/>
          </a:prstGeom>
          <a:ln w="12700">
            <a:solidFill>
              <a:srgbClr val="334155"/>
            </a:solidFill>
          </a:ln>
        </p:spPr>
        <p:txBody>
          <a:bodyPr lIns="45718" tIns="45718" rIns="45718" bIns="45718"/>
          <a:lstStyle/>
          <a:p>
            <a:pPr/>
          </a:p>
        </p:txBody>
      </p:sp>
      <p:sp>
        <p:nvSpPr>
          <p:cNvPr id="285" name="Text 98"/>
          <p:cNvSpPr txBox="1"/>
          <p:nvPr/>
        </p:nvSpPr>
        <p:spPr>
          <a:xfrm>
            <a:off x="4023359" y="3926884"/>
            <a:ext cx="4572002" cy="4672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000">
                <a:solidFill>
                  <a:srgbClr val="94A3B8"/>
                </a:solidFill>
                <a:latin typeface="+mn-lt"/>
                <a:ea typeface="+mn-ea"/>
                <a:cs typeface="+mn-cs"/>
                <a:sym typeface="Calibri"/>
              </a:defRPr>
            </a:pPr>
            <a:r>
              <a:t>Each pixel votes </a:t>
            </a:r>
            <a:r>
              <a:rPr b="1">
                <a:solidFill>
                  <a:srgbClr val="06B6D4"/>
                </a:solidFill>
              </a:rPr>
              <a:t>into a bin </a:t>
            </a:r>
            <a:r>
              <a:t>based on its orientation,</a:t>
            </a:r>
          </a:p>
          <a:p>
            <a:pPr>
              <a:defRPr sz="1000">
                <a:solidFill>
                  <a:srgbClr val="94A3B8"/>
                </a:solidFill>
                <a:latin typeface="+mn-lt"/>
                <a:ea typeface="+mn-ea"/>
                <a:cs typeface="+mn-cs"/>
                <a:sym typeface="Calibri"/>
              </a:defRPr>
            </a:pPr>
            <a:r>
              <a:t>weighted by its </a:t>
            </a:r>
            <a:r>
              <a:rPr b="1">
                <a:solidFill>
                  <a:srgbClr val="F59E0B"/>
                </a:solidFill>
              </a:rPr>
              <a:t>magnitude. </a:t>
            </a:r>
            <a:r>
              <a:t>Bilinear interpolation splits each vote between the two nearest bins.</a:t>
            </a:r>
          </a:p>
        </p:txBody>
      </p:sp>
      <p:sp>
        <p:nvSpPr>
          <p:cNvPr id="286" name="Shape 99"/>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287" name="Text 100"/>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Stage 3 - Cells</a:t>
            </a:r>
          </a:p>
        </p:txBody>
      </p:sp>
      <p:sp>
        <p:nvSpPr>
          <p:cNvPr id="288" name="Text 101"/>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5 / 16</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292"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STAGE 4</a:t>
            </a:r>
          </a:p>
        </p:txBody>
      </p:sp>
      <p:sp>
        <p:nvSpPr>
          <p:cNvPr id="293"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Block Normalisation</a:t>
            </a:r>
          </a:p>
        </p:txBody>
      </p:sp>
      <p:sp>
        <p:nvSpPr>
          <p:cNvPr id="294" name="Shape 2"/>
          <p:cNvSpPr/>
          <p:nvPr/>
        </p:nvSpPr>
        <p:spPr>
          <a:xfrm>
            <a:off x="457200" y="1280160"/>
            <a:ext cx="3657600"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295" name="Text 3"/>
          <p:cNvSpPr txBox="1"/>
          <p:nvPr/>
        </p:nvSpPr>
        <p:spPr>
          <a:xfrm>
            <a:off x="685800" y="1472763"/>
            <a:ext cx="32004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1F5F9"/>
                </a:solidFill>
                <a:latin typeface="+mn-lt"/>
                <a:ea typeface="+mn-ea"/>
                <a:cs typeface="+mn-cs"/>
                <a:sym typeface="Calibri"/>
              </a:defRPr>
            </a:lvl1pPr>
          </a:lstStyle>
          <a:p>
            <a:pPr/>
            <a:r>
              <a:t>Why normalise?</a:t>
            </a:r>
          </a:p>
        </p:txBody>
      </p:sp>
      <p:sp>
        <p:nvSpPr>
          <p:cNvPr id="296" name="Text 4"/>
          <p:cNvSpPr txBox="1"/>
          <p:nvPr/>
        </p:nvSpPr>
        <p:spPr>
          <a:xfrm>
            <a:off x="685798" y="1898824"/>
            <a:ext cx="329184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94A3B8"/>
                </a:solidFill>
                <a:latin typeface="+mn-lt"/>
                <a:ea typeface="+mn-ea"/>
                <a:cs typeface="+mn-cs"/>
                <a:sym typeface="Calibri"/>
              </a:defRPr>
            </a:lvl1pPr>
          </a:lstStyle>
          <a:p>
            <a:pPr/>
            <a:r>
              <a:t>Same shape, different lighting -&gt; different magnitudes.</a:t>
            </a:r>
          </a:p>
        </p:txBody>
      </p:sp>
      <p:sp>
        <p:nvSpPr>
          <p:cNvPr id="297" name="Shape 5"/>
          <p:cNvSpPr/>
          <p:nvPr/>
        </p:nvSpPr>
        <p:spPr>
          <a:xfrm>
            <a:off x="685800" y="2331720"/>
            <a:ext cx="3200400" cy="502920"/>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298" name="Text 6"/>
          <p:cNvSpPr txBox="1"/>
          <p:nvPr/>
        </p:nvSpPr>
        <p:spPr>
          <a:xfrm>
            <a:off x="777240" y="2493980"/>
            <a:ext cx="3108962" cy="1783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94A3B8"/>
                </a:solidFill>
                <a:latin typeface="+mn-lt"/>
                <a:ea typeface="+mn-ea"/>
                <a:cs typeface="+mn-cs"/>
                <a:sym typeface="Calibri"/>
              </a:defRPr>
            </a:pPr>
            <a:r>
              <a:t>Dark image:  </a:t>
            </a:r>
            <a:r>
              <a:rPr b="1">
                <a:solidFill>
                  <a:srgbClr val="F1F5F9"/>
                </a:solidFill>
                <a:latin typeface="Consolas"/>
                <a:ea typeface="Consolas"/>
                <a:cs typeface="Consolas"/>
                <a:sym typeface="Consolas"/>
              </a:rPr>
              <a:t>[2, 4, 6]</a:t>
            </a:r>
          </a:p>
        </p:txBody>
      </p:sp>
      <p:sp>
        <p:nvSpPr>
          <p:cNvPr id="299" name="Shape 7"/>
          <p:cNvSpPr/>
          <p:nvPr/>
        </p:nvSpPr>
        <p:spPr>
          <a:xfrm>
            <a:off x="685800" y="2926078"/>
            <a:ext cx="3200400" cy="502920"/>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300" name="Text 8"/>
          <p:cNvSpPr txBox="1"/>
          <p:nvPr/>
        </p:nvSpPr>
        <p:spPr>
          <a:xfrm>
            <a:off x="777240" y="3088340"/>
            <a:ext cx="3108962" cy="1783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94A3B8"/>
                </a:solidFill>
                <a:latin typeface="+mn-lt"/>
                <a:ea typeface="+mn-ea"/>
                <a:cs typeface="+mn-cs"/>
                <a:sym typeface="Calibri"/>
              </a:defRPr>
            </a:pPr>
            <a:r>
              <a:t>Bright image:  </a:t>
            </a:r>
            <a:r>
              <a:rPr b="1">
                <a:solidFill>
                  <a:srgbClr val="F1F5F9"/>
                </a:solidFill>
                <a:latin typeface="Consolas"/>
                <a:ea typeface="Consolas"/>
                <a:cs typeface="Consolas"/>
                <a:sym typeface="Consolas"/>
              </a:rPr>
              <a:t>[4, 8, 12]</a:t>
            </a:r>
          </a:p>
        </p:txBody>
      </p:sp>
      <p:sp>
        <p:nvSpPr>
          <p:cNvPr id="301" name="Text 9"/>
          <p:cNvSpPr txBox="1"/>
          <p:nvPr/>
        </p:nvSpPr>
        <p:spPr>
          <a:xfrm>
            <a:off x="685798" y="3827955"/>
            <a:ext cx="3291844"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100">
                <a:solidFill>
                  <a:srgbClr val="94A3B8"/>
                </a:solidFill>
                <a:latin typeface="+mn-lt"/>
                <a:ea typeface="+mn-ea"/>
                <a:cs typeface="+mn-cs"/>
                <a:sym typeface="Calibri"/>
              </a:defRPr>
            </a:pPr>
            <a:r>
              <a:t>Different magnitudes -&gt; </a:t>
            </a:r>
            <a:r>
              <a:rPr b="1">
                <a:solidFill>
                  <a:srgbClr val="F59E0B"/>
                </a:solidFill>
              </a:rPr>
              <a:t>identical ratios.</a:t>
            </a:r>
            <a:r>
              <a:t> Normalisation keeps the pattern, drops the brightness.</a:t>
            </a:r>
          </a:p>
        </p:txBody>
      </p:sp>
      <p:sp>
        <p:nvSpPr>
          <p:cNvPr id="302" name="Shape 10"/>
          <p:cNvSpPr/>
          <p:nvPr/>
        </p:nvSpPr>
        <p:spPr>
          <a:xfrm>
            <a:off x="4297679" y="1280160"/>
            <a:ext cx="4389121" cy="141732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303" name="Text 11"/>
          <p:cNvSpPr txBox="1"/>
          <p:nvPr/>
        </p:nvSpPr>
        <p:spPr>
          <a:xfrm>
            <a:off x="4434840" y="1441625"/>
            <a:ext cx="42062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F59E0B"/>
                </a:solidFill>
                <a:latin typeface="+mn-lt"/>
                <a:ea typeface="+mn-ea"/>
                <a:cs typeface="+mn-cs"/>
                <a:sym typeface="Calibri"/>
              </a:defRPr>
            </a:pPr>
            <a:r>
              <a:t>L2-Hys normalisation  </a:t>
            </a:r>
            <a:r>
              <a:rPr i="1"/>
              <a:t>(Dalal &amp; Triggs)</a:t>
            </a:r>
          </a:p>
        </p:txBody>
      </p:sp>
      <p:sp>
        <p:nvSpPr>
          <p:cNvPr id="304" name="Text 12"/>
          <p:cNvSpPr txBox="1"/>
          <p:nvPr/>
        </p:nvSpPr>
        <p:spPr>
          <a:xfrm>
            <a:off x="4434840" y="1662385"/>
            <a:ext cx="1399064" cy="424270"/>
          </a:xfrm>
          <a:prstGeom prst="rect">
            <a:avLst/>
          </a:prstGeom>
          <a:ln w="12700">
            <a:miter lim="400000"/>
          </a:ln>
        </p:spPr>
        <p:txBody>
          <a:bodyPr wrap="none" lIns="0" tIns="0" rIns="0" bIns="0">
            <a:spAutoFit/>
          </a:bodyPr>
          <a:lstStyle/>
          <a:p>
            <a:pPr latinLnBrk="1"/>
            <a14:m>
              <m:oMathPara>
                <m:oMathParaPr>
                  <m:jc m:val="centerGroup"/>
                </m:oMathParaPr>
                <m:oMath>
                  <m:r>
                    <m:rPr>
                      <m:nor/>
                    </m:rPr>
                    <a:rPr xmlns:a="http://schemas.openxmlformats.org/drawingml/2006/main" sz="1100" i="1">
                      <a:solidFill>
                        <a:srgbClr val="F1F5F9"/>
                      </a:solidFill>
                      <a:latin typeface="Cambria Math" panose="02040503050406030204" pitchFamily="18" charset="0"/>
                    </a:rPr>
                    <m:t>vnorm</m:t>
                  </m:r>
                  <m:r>
                    <a:rPr xmlns:a="http://schemas.openxmlformats.org/drawingml/2006/main" sz="1100" i="1">
                      <a:solidFill>
                        <a:srgbClr val="F1F5F9"/>
                      </a:solidFill>
                      <a:latin typeface="Cambria Math" panose="02040503050406030204" pitchFamily="18" charset="0"/>
                    </a:rPr>
                    <m:t>=</m:t>
                  </m:r>
                  <m:f>
                    <m:fPr>
                      <m:ctrlPr>
                        <a:rPr xmlns:a="http://schemas.openxmlformats.org/drawingml/2006/main" sz="1100" i="1">
                          <a:solidFill>
                            <a:srgbClr val="F1F5F9"/>
                          </a:solidFill>
                          <a:latin typeface="Cambria Math" panose="02040503050406030204" pitchFamily="18" charset="0"/>
                        </a:rPr>
                      </m:ctrlPr>
                      <m:type m:val="bar"/>
                    </m:fPr>
                    <m:num>
                      <m:r>
                        <a:rPr xmlns:a="http://schemas.openxmlformats.org/drawingml/2006/main" sz="1100" i="1">
                          <a:solidFill>
                            <a:srgbClr val="F1F5F9"/>
                          </a:solidFill>
                          <a:latin typeface="Cambria Math" panose="02040503050406030204" pitchFamily="18" charset="0"/>
                        </a:rPr>
                        <m:t>v</m:t>
                      </m:r>
                    </m:num>
                    <m:den>
                      <m:rad>
                        <m:radPr>
                          <m:ctrlPr>
                            <a:rPr xmlns:a="http://schemas.openxmlformats.org/drawingml/2006/main" sz="1100" i="1">
                              <a:solidFill>
                                <a:srgbClr val="F1F5F9"/>
                              </a:solidFill>
                              <a:latin typeface="Cambria Math" panose="02040503050406030204" pitchFamily="18" charset="0"/>
                            </a:rPr>
                          </m:ctrlPr>
                          <m:degHide m:val="on"/>
                        </m:radPr>
                        <m:deg/>
                        <m:e>
                          <m:r>
                            <a:rPr xmlns:a="http://schemas.openxmlformats.org/drawingml/2006/main" sz="1100" i="1">
                              <a:solidFill>
                                <a:srgbClr val="F1F5F9"/>
                              </a:solidFill>
                              <a:latin typeface="Cambria Math" panose="02040503050406030204" pitchFamily="18" charset="0"/>
                            </a:rPr>
                            <m:t>|</m:t>
                          </m:r>
                          <m:r>
                            <a:rPr xmlns:a="http://schemas.openxmlformats.org/drawingml/2006/main" sz="1100" i="1">
                              <a:solidFill>
                                <a:srgbClr val="F1F5F9"/>
                              </a:solidFill>
                              <a:latin typeface="Cambria Math" panose="02040503050406030204" pitchFamily="18" charset="0"/>
                            </a:rPr>
                            <m:t>|</m:t>
                          </m:r>
                          <m:r>
                            <a:rPr xmlns:a="http://schemas.openxmlformats.org/drawingml/2006/main" sz="1100" i="1">
                              <a:solidFill>
                                <a:srgbClr val="F1F5F9"/>
                              </a:solidFill>
                              <a:latin typeface="Cambria Math" panose="02040503050406030204" pitchFamily="18" charset="0"/>
                            </a:rPr>
                            <m:t>v</m:t>
                          </m:r>
                          <m:r>
                            <a:rPr xmlns:a="http://schemas.openxmlformats.org/drawingml/2006/main" sz="1100" i="1">
                              <a:solidFill>
                                <a:srgbClr val="F1F5F9"/>
                              </a:solidFill>
                              <a:latin typeface="Cambria Math" panose="02040503050406030204" pitchFamily="18" charset="0"/>
                            </a:rPr>
                            <m:t>|</m:t>
                          </m:r>
                          <m:sSup>
                            <m:e>
                              <m:r>
                                <a:rPr xmlns:a="http://schemas.openxmlformats.org/drawingml/2006/main" sz="1100" i="1">
                                  <a:solidFill>
                                    <a:srgbClr val="F1F5F9"/>
                                  </a:solidFill>
                                  <a:latin typeface="Cambria Math" panose="02040503050406030204" pitchFamily="18" charset="0"/>
                                </a:rPr>
                                <m:t>|</m:t>
                              </m:r>
                            </m:e>
                            <m:sup>
                              <m:r>
                                <a:rPr xmlns:a="http://schemas.openxmlformats.org/drawingml/2006/main" sz="1100" i="1">
                                  <a:solidFill>
                                    <a:srgbClr val="F1F5F9"/>
                                  </a:solidFill>
                                  <a:latin typeface="Cambria Math" panose="02040503050406030204" pitchFamily="18" charset="0"/>
                                </a:rPr>
                                <m:t>2</m:t>
                              </m:r>
                            </m:sup>
                          </m:sSup>
                          <m:r>
                            <a:rPr xmlns:a="http://schemas.openxmlformats.org/drawingml/2006/main" sz="1100" i="1">
                              <a:solidFill>
                                <a:srgbClr val="F1F5F9"/>
                              </a:solidFill>
                              <a:latin typeface="Cambria Math" panose="02040503050406030204" pitchFamily="18" charset="0"/>
                            </a:rPr>
                            <m:t>+</m:t>
                          </m:r>
                          <m:sSup>
                            <m:e>
                              <m:r>
                                <a:rPr xmlns:a="http://schemas.openxmlformats.org/drawingml/2006/main" sz="1100" i="1">
                                  <a:solidFill>
                                    <a:srgbClr val="F1F5F9"/>
                                  </a:solidFill>
                                  <a:latin typeface="Cambria Math" panose="02040503050406030204" pitchFamily="18" charset="0"/>
                                </a:rPr>
                                <m:t>ϵ</m:t>
                              </m:r>
                            </m:e>
                            <m:sup>
                              <m:r>
                                <a:rPr xmlns:a="http://schemas.openxmlformats.org/drawingml/2006/main" sz="1100" i="1">
                                  <a:solidFill>
                                    <a:srgbClr val="F1F5F9"/>
                                  </a:solidFill>
                                  <a:latin typeface="Cambria Math" panose="02040503050406030204" pitchFamily="18" charset="0"/>
                                </a:rPr>
                                <m:t>2</m:t>
                              </m:r>
                            </m:sup>
                          </m:sSup>
                        </m:e>
                      </m:rad>
                    </m:den>
                  </m:f>
                </m:oMath>
              </m:oMathPara>
            </a14:m>
            <a:endParaRPr sz="1100">
              <a:solidFill>
                <a:srgbClr val="F1F5F9"/>
              </a:solidFill>
            </a:endParaRPr>
          </a:p>
        </p:txBody>
      </p:sp>
      <p:sp>
        <p:nvSpPr>
          <p:cNvPr id="305" name="Text 13"/>
          <p:cNvSpPr txBox="1"/>
          <p:nvPr/>
        </p:nvSpPr>
        <p:spPr>
          <a:xfrm>
            <a:off x="4434840" y="2226353"/>
            <a:ext cx="420624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94A3B8"/>
                </a:solidFill>
                <a:latin typeface="+mn-lt"/>
                <a:ea typeface="+mn-ea"/>
                <a:cs typeface="+mn-cs"/>
                <a:sym typeface="Calibri"/>
              </a:defRPr>
            </a:lvl1pPr>
          </a:lstStyle>
          <a:p>
            <a:pPr/>
            <a:r>
              <a:t>…then clip values at 0.2 and re-normalise (the 'Hys' step). This reduces the difference between the brightest and darkest values.</a:t>
            </a:r>
          </a:p>
        </p:txBody>
      </p:sp>
      <p:sp>
        <p:nvSpPr>
          <p:cNvPr id="306" name="Shape 14"/>
          <p:cNvSpPr/>
          <p:nvPr/>
        </p:nvSpPr>
        <p:spPr>
          <a:xfrm>
            <a:off x="4297679" y="2834638"/>
            <a:ext cx="4389121" cy="155448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307" name="Text 15"/>
          <p:cNvSpPr txBox="1"/>
          <p:nvPr/>
        </p:nvSpPr>
        <p:spPr>
          <a:xfrm>
            <a:off x="4434840" y="2996106"/>
            <a:ext cx="42062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59E0B"/>
                </a:solidFill>
                <a:latin typeface="+mn-lt"/>
                <a:ea typeface="+mn-ea"/>
                <a:cs typeface="+mn-cs"/>
                <a:sym typeface="Calibri"/>
              </a:defRPr>
            </a:lvl1pPr>
          </a:lstStyle>
          <a:p>
            <a:pPr/>
            <a:r>
              <a:t>Overlapping 2×2 blocks  (stride = 1 cell)</a:t>
            </a:r>
          </a:p>
        </p:txBody>
      </p:sp>
      <p:sp>
        <p:nvSpPr>
          <p:cNvPr id="308" name="Shape 16"/>
          <p:cNvSpPr/>
          <p:nvPr/>
        </p:nvSpPr>
        <p:spPr>
          <a:xfrm>
            <a:off x="4617720" y="32461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09" name="Shape 17"/>
          <p:cNvSpPr/>
          <p:nvPr/>
        </p:nvSpPr>
        <p:spPr>
          <a:xfrm>
            <a:off x="4846320" y="32461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0" name="Shape 18"/>
          <p:cNvSpPr/>
          <p:nvPr/>
        </p:nvSpPr>
        <p:spPr>
          <a:xfrm>
            <a:off x="5074920" y="32461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1" name="Shape 19"/>
          <p:cNvSpPr/>
          <p:nvPr/>
        </p:nvSpPr>
        <p:spPr>
          <a:xfrm>
            <a:off x="5303520" y="32461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2" name="Shape 20"/>
          <p:cNvSpPr/>
          <p:nvPr/>
        </p:nvSpPr>
        <p:spPr>
          <a:xfrm>
            <a:off x="4617720" y="34747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3" name="Shape 21"/>
          <p:cNvSpPr/>
          <p:nvPr/>
        </p:nvSpPr>
        <p:spPr>
          <a:xfrm>
            <a:off x="4846320" y="34747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4" name="Shape 22"/>
          <p:cNvSpPr/>
          <p:nvPr/>
        </p:nvSpPr>
        <p:spPr>
          <a:xfrm>
            <a:off x="5074920" y="34747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5" name="Shape 23"/>
          <p:cNvSpPr/>
          <p:nvPr/>
        </p:nvSpPr>
        <p:spPr>
          <a:xfrm>
            <a:off x="5303520" y="34747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6" name="Shape 24"/>
          <p:cNvSpPr/>
          <p:nvPr/>
        </p:nvSpPr>
        <p:spPr>
          <a:xfrm>
            <a:off x="4617720" y="37033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7" name="Shape 25"/>
          <p:cNvSpPr/>
          <p:nvPr/>
        </p:nvSpPr>
        <p:spPr>
          <a:xfrm>
            <a:off x="4846320" y="37033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8" name="Shape 26"/>
          <p:cNvSpPr/>
          <p:nvPr/>
        </p:nvSpPr>
        <p:spPr>
          <a:xfrm>
            <a:off x="5074920" y="37033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19" name="Shape 27"/>
          <p:cNvSpPr/>
          <p:nvPr/>
        </p:nvSpPr>
        <p:spPr>
          <a:xfrm>
            <a:off x="5303520" y="37033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20" name="Shape 28"/>
          <p:cNvSpPr/>
          <p:nvPr/>
        </p:nvSpPr>
        <p:spPr>
          <a:xfrm>
            <a:off x="4617720" y="39319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21" name="Shape 29"/>
          <p:cNvSpPr/>
          <p:nvPr/>
        </p:nvSpPr>
        <p:spPr>
          <a:xfrm>
            <a:off x="4846320" y="39319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22" name="Shape 30"/>
          <p:cNvSpPr/>
          <p:nvPr/>
        </p:nvSpPr>
        <p:spPr>
          <a:xfrm>
            <a:off x="5074920" y="39319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23" name="Shape 31"/>
          <p:cNvSpPr/>
          <p:nvPr/>
        </p:nvSpPr>
        <p:spPr>
          <a:xfrm>
            <a:off x="5303520" y="3931920"/>
            <a:ext cx="228602" cy="228602"/>
          </a:xfrm>
          <a:prstGeom prst="rect">
            <a:avLst/>
          </a:prstGeom>
          <a:solidFill>
            <a:srgbClr val="172033"/>
          </a:solidFill>
          <a:ln w="6350">
            <a:solidFill>
              <a:srgbClr val="334155"/>
            </a:solidFill>
          </a:ln>
        </p:spPr>
        <p:txBody>
          <a:bodyPr lIns="45718" tIns="45718" rIns="45718" bIns="45718"/>
          <a:lstStyle/>
          <a:p>
            <a:pPr>
              <a:defRPr>
                <a:latin typeface="+mn-lt"/>
                <a:ea typeface="+mn-ea"/>
                <a:cs typeface="+mn-cs"/>
                <a:sym typeface="Calibri"/>
              </a:defRPr>
            </a:pPr>
          </a:p>
        </p:txBody>
      </p:sp>
      <p:sp>
        <p:nvSpPr>
          <p:cNvPr id="324" name="Shape 32"/>
          <p:cNvSpPr/>
          <p:nvPr/>
        </p:nvSpPr>
        <p:spPr>
          <a:xfrm>
            <a:off x="4599432" y="3227832"/>
            <a:ext cx="493777" cy="493777"/>
          </a:xfrm>
          <a:prstGeom prst="rect">
            <a:avLst/>
          </a:prstGeom>
          <a:solidFill>
            <a:srgbClr val="06B6D4">
              <a:alpha val="30000"/>
            </a:srgbClr>
          </a:solidFill>
          <a:ln w="25400">
            <a:solidFill>
              <a:srgbClr val="06B6D4"/>
            </a:solidFill>
          </a:ln>
        </p:spPr>
        <p:txBody>
          <a:bodyPr lIns="45718" tIns="45718" rIns="45718" bIns="45718"/>
          <a:lstStyle/>
          <a:p>
            <a:pPr>
              <a:defRPr>
                <a:latin typeface="+mn-lt"/>
                <a:ea typeface="+mn-ea"/>
                <a:cs typeface="+mn-cs"/>
                <a:sym typeface="Calibri"/>
              </a:defRPr>
            </a:pPr>
          </a:p>
        </p:txBody>
      </p:sp>
      <p:sp>
        <p:nvSpPr>
          <p:cNvPr id="325" name="Shape 33"/>
          <p:cNvSpPr/>
          <p:nvPr/>
        </p:nvSpPr>
        <p:spPr>
          <a:xfrm>
            <a:off x="4828032" y="3456432"/>
            <a:ext cx="493777" cy="493777"/>
          </a:xfrm>
          <a:prstGeom prst="rect">
            <a:avLst/>
          </a:prstGeom>
          <a:solidFill>
            <a:srgbClr val="F59E0B">
              <a:alpha val="30000"/>
            </a:srgbClr>
          </a:solidFill>
          <a:ln w="25400">
            <a:solidFill>
              <a:srgbClr val="F59E0B"/>
            </a:solidFill>
          </a:ln>
        </p:spPr>
        <p:txBody>
          <a:bodyPr lIns="45718" tIns="45718" rIns="45718" bIns="45718"/>
          <a:lstStyle/>
          <a:p>
            <a:pPr>
              <a:defRPr>
                <a:latin typeface="+mn-lt"/>
                <a:ea typeface="+mn-ea"/>
                <a:cs typeface="+mn-cs"/>
                <a:sym typeface="Calibri"/>
              </a:defRPr>
            </a:pPr>
          </a:p>
        </p:txBody>
      </p:sp>
      <p:sp>
        <p:nvSpPr>
          <p:cNvPr id="326" name="Text 34"/>
          <p:cNvSpPr txBox="1"/>
          <p:nvPr/>
        </p:nvSpPr>
        <p:spPr>
          <a:xfrm>
            <a:off x="5852159" y="3643674"/>
            <a:ext cx="2743202" cy="3021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4A3B8"/>
                </a:solidFill>
                <a:latin typeface="+mn-lt"/>
                <a:ea typeface="+mn-ea"/>
                <a:cs typeface="+mn-cs"/>
                <a:sym typeface="Calibri"/>
              </a:defRPr>
            </a:lvl1pPr>
          </a:lstStyle>
          <a:p>
            <a:pPr/>
            <a:r>
              <a:t>Same cell -&gt; multiple blocks -&gt; multiple normalisations within different areas -&gt; more robust.</a:t>
            </a:r>
          </a:p>
        </p:txBody>
      </p:sp>
      <p:sp>
        <p:nvSpPr>
          <p:cNvPr id="327" name="Shape 35"/>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28" name="Text 36"/>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Stage 4 - Normalisation</a:t>
            </a:r>
          </a:p>
        </p:txBody>
      </p:sp>
      <p:sp>
        <p:nvSpPr>
          <p:cNvPr id="329" name="Text 37"/>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6 / 16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333"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STAGE 5</a:t>
            </a:r>
          </a:p>
        </p:txBody>
      </p:sp>
      <p:sp>
        <p:nvSpPr>
          <p:cNvPr id="334"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Feature Vector &amp; Sliding Window</a:t>
            </a:r>
          </a:p>
        </p:txBody>
      </p:sp>
      <p:sp>
        <p:nvSpPr>
          <p:cNvPr id="335" name="Shape 2"/>
          <p:cNvSpPr/>
          <p:nvPr/>
        </p:nvSpPr>
        <p:spPr>
          <a:xfrm>
            <a:off x="457200" y="1280160"/>
            <a:ext cx="3200400"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336" name="Text 3"/>
          <p:cNvSpPr txBox="1"/>
          <p:nvPr/>
        </p:nvSpPr>
        <p:spPr>
          <a:xfrm>
            <a:off x="457200" y="1441625"/>
            <a:ext cx="32004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latin typeface="+mn-lt"/>
                <a:ea typeface="+mn-ea"/>
                <a:cs typeface="+mn-cs"/>
                <a:sym typeface="Calibri"/>
              </a:defRPr>
            </a:lvl1pPr>
          </a:lstStyle>
          <a:p>
            <a:pPr/>
            <a:r>
              <a:t>Sliding window  (64 × 128 px)</a:t>
            </a:r>
          </a:p>
        </p:txBody>
      </p:sp>
      <p:sp>
        <p:nvSpPr>
          <p:cNvPr id="337" name="Shape 4"/>
          <p:cNvSpPr/>
          <p:nvPr/>
        </p:nvSpPr>
        <p:spPr>
          <a:xfrm>
            <a:off x="822958" y="1783078"/>
            <a:ext cx="2468884" cy="2377443"/>
          </a:xfrm>
          <a:prstGeom prst="rect">
            <a:avLst/>
          </a:prstGeom>
          <a:solidFill>
            <a:srgbClr val="172033"/>
          </a:solidFill>
          <a:ln w="12700">
            <a:solidFill>
              <a:srgbClr val="334155"/>
            </a:solidFill>
          </a:ln>
        </p:spPr>
        <p:txBody>
          <a:bodyPr lIns="45718" tIns="45718" rIns="45718" bIns="45718"/>
          <a:lstStyle/>
          <a:p>
            <a:pPr>
              <a:defRPr>
                <a:latin typeface="+mn-lt"/>
                <a:ea typeface="+mn-ea"/>
                <a:cs typeface="+mn-cs"/>
                <a:sym typeface="Calibri"/>
              </a:defRPr>
            </a:pPr>
          </a:p>
        </p:txBody>
      </p:sp>
      <p:sp>
        <p:nvSpPr>
          <p:cNvPr id="338" name="Shape 5"/>
          <p:cNvSpPr/>
          <p:nvPr/>
        </p:nvSpPr>
        <p:spPr>
          <a:xfrm>
            <a:off x="1691638" y="2103120"/>
            <a:ext cx="274324" cy="274323"/>
          </a:xfrm>
          <a:prstGeom prst="ellipse">
            <a:avLst/>
          </a:prstGeom>
          <a:solidFill>
            <a:srgbClr val="0E7490"/>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39" name="Shape 6"/>
          <p:cNvSpPr/>
          <p:nvPr/>
        </p:nvSpPr>
        <p:spPr>
          <a:xfrm>
            <a:off x="1600200" y="2423160"/>
            <a:ext cx="457200" cy="822962"/>
          </a:xfrm>
          <a:prstGeom prst="roundRect">
            <a:avLst>
              <a:gd name="adj" fmla="val 16000"/>
            </a:avLst>
          </a:prstGeom>
          <a:solidFill>
            <a:srgbClr val="0E7490"/>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40" name="Shape 7"/>
          <p:cNvSpPr/>
          <p:nvPr/>
        </p:nvSpPr>
        <p:spPr>
          <a:xfrm>
            <a:off x="1627632" y="3246120"/>
            <a:ext cx="164594" cy="640082"/>
          </a:xfrm>
          <a:prstGeom prst="roundRect">
            <a:avLst>
              <a:gd name="adj" fmla="val 27778"/>
            </a:avLst>
          </a:prstGeom>
          <a:solidFill>
            <a:srgbClr val="0E7490"/>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41" name="Shape 8"/>
          <p:cNvSpPr/>
          <p:nvPr/>
        </p:nvSpPr>
        <p:spPr>
          <a:xfrm>
            <a:off x="1865376" y="3246120"/>
            <a:ext cx="164594" cy="640082"/>
          </a:xfrm>
          <a:prstGeom prst="roundRect">
            <a:avLst>
              <a:gd name="adj" fmla="val 27778"/>
            </a:avLst>
          </a:prstGeom>
          <a:solidFill>
            <a:srgbClr val="0E7490"/>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42" name="Shape 9"/>
          <p:cNvSpPr/>
          <p:nvPr/>
        </p:nvSpPr>
        <p:spPr>
          <a:xfrm>
            <a:off x="1463038" y="2011678"/>
            <a:ext cx="777243" cy="1965962"/>
          </a:xfrm>
          <a:prstGeom prst="rect">
            <a:avLst/>
          </a:prstGeom>
          <a:solidFill>
            <a:srgbClr val="F59E0B">
              <a:alpha val="12000"/>
            </a:srgbClr>
          </a:solidFill>
          <a:ln w="25400">
            <a:solidFill>
              <a:srgbClr val="F59E0B"/>
            </a:solidFill>
            <a:prstDash val="dash"/>
          </a:ln>
        </p:spPr>
        <p:txBody>
          <a:bodyPr lIns="45718" tIns="45718" rIns="45718" bIns="45718"/>
          <a:lstStyle/>
          <a:p>
            <a:pPr>
              <a:defRPr>
                <a:latin typeface="+mn-lt"/>
                <a:ea typeface="+mn-ea"/>
                <a:cs typeface="+mn-cs"/>
                <a:sym typeface="Calibri"/>
              </a:defRPr>
            </a:pPr>
          </a:p>
        </p:txBody>
      </p:sp>
      <p:sp>
        <p:nvSpPr>
          <p:cNvPr id="343" name="Text 10"/>
          <p:cNvSpPr txBox="1"/>
          <p:nvPr/>
        </p:nvSpPr>
        <p:spPr>
          <a:xfrm>
            <a:off x="2286000" y="2667000"/>
            <a:ext cx="9144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F59E0B"/>
                </a:solidFill>
                <a:latin typeface="Consolas"/>
                <a:ea typeface="Consolas"/>
                <a:cs typeface="Consolas"/>
                <a:sym typeface="Consolas"/>
              </a:defRPr>
            </a:lvl1pPr>
          </a:lstStyle>
          <a:p>
            <a:pPr/>
            <a:r>
              <a:t>64 × 128</a:t>
            </a:r>
          </a:p>
        </p:txBody>
      </p:sp>
      <p:sp>
        <p:nvSpPr>
          <p:cNvPr id="344" name="Shape 11"/>
          <p:cNvSpPr/>
          <p:nvPr/>
        </p:nvSpPr>
        <p:spPr>
          <a:xfrm>
            <a:off x="3840479" y="1280160"/>
            <a:ext cx="4846322"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345" name="Text 12"/>
          <p:cNvSpPr txBox="1"/>
          <p:nvPr/>
        </p:nvSpPr>
        <p:spPr>
          <a:xfrm>
            <a:off x="4069079" y="1495623"/>
            <a:ext cx="457200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1F5F9"/>
                </a:solidFill>
                <a:latin typeface="+mn-lt"/>
                <a:ea typeface="+mn-ea"/>
                <a:cs typeface="+mn-cs"/>
                <a:sym typeface="Calibri"/>
              </a:defRPr>
            </a:lvl1pPr>
          </a:lstStyle>
          <a:p>
            <a:pPr/>
            <a:r>
              <a:t>The Dalal &amp; Triggs descriptor</a:t>
            </a:r>
          </a:p>
        </p:txBody>
      </p:sp>
      <p:sp>
        <p:nvSpPr>
          <p:cNvPr id="346" name="Text 13"/>
          <p:cNvSpPr txBox="1"/>
          <p:nvPr/>
        </p:nvSpPr>
        <p:spPr>
          <a:xfrm>
            <a:off x="4069079" y="1990265"/>
            <a:ext cx="210312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94A3B8"/>
                </a:solidFill>
                <a:latin typeface="+mn-lt"/>
                <a:ea typeface="+mn-ea"/>
                <a:cs typeface="+mn-cs"/>
                <a:sym typeface="Calibri"/>
              </a:defRPr>
            </a:lvl1pPr>
          </a:lstStyle>
          <a:p>
            <a:pPr/>
            <a:r>
              <a:t>Cells per window</a:t>
            </a:r>
          </a:p>
        </p:txBody>
      </p:sp>
      <p:sp>
        <p:nvSpPr>
          <p:cNvPr id="347" name="Text 14"/>
          <p:cNvSpPr txBox="1"/>
          <p:nvPr/>
        </p:nvSpPr>
        <p:spPr>
          <a:xfrm>
            <a:off x="6172200" y="1974850"/>
            <a:ext cx="128016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06B6D4"/>
                </a:solidFill>
                <a:latin typeface="Consolas"/>
                <a:ea typeface="Consolas"/>
                <a:cs typeface="Consolas"/>
                <a:sym typeface="Consolas"/>
              </a:defRPr>
            </a:lvl1pPr>
          </a:lstStyle>
          <a:p>
            <a:pPr/>
            <a:r>
              <a:t>8 × 16</a:t>
            </a:r>
          </a:p>
        </p:txBody>
      </p:sp>
      <p:sp>
        <p:nvSpPr>
          <p:cNvPr id="348" name="Text 15"/>
          <p:cNvSpPr txBox="1"/>
          <p:nvPr/>
        </p:nvSpPr>
        <p:spPr>
          <a:xfrm>
            <a:off x="7452359" y="1968499"/>
            <a:ext cx="109728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F1F5F9"/>
                </a:solidFill>
                <a:latin typeface="Consolas"/>
                <a:ea typeface="Consolas"/>
                <a:cs typeface="Consolas"/>
                <a:sym typeface="Consolas"/>
              </a:defRPr>
            </a:pPr>
            <a:r>
              <a:t>= </a:t>
            </a:r>
            <a:r>
              <a:rPr>
                <a:solidFill>
                  <a:schemeClr val="accent4"/>
                </a:solidFill>
              </a:rPr>
              <a:t>128</a:t>
            </a:r>
          </a:p>
        </p:txBody>
      </p:sp>
      <p:sp>
        <p:nvSpPr>
          <p:cNvPr id="349" name="Text 16"/>
          <p:cNvSpPr txBox="1"/>
          <p:nvPr/>
        </p:nvSpPr>
        <p:spPr>
          <a:xfrm>
            <a:off x="4069079" y="2447465"/>
            <a:ext cx="210312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94A3B8"/>
                </a:solidFill>
                <a:latin typeface="+mn-lt"/>
                <a:ea typeface="+mn-ea"/>
                <a:cs typeface="+mn-cs"/>
                <a:sym typeface="Calibri"/>
              </a:defRPr>
            </a:lvl1pPr>
          </a:lstStyle>
          <a:p>
            <a:pPr/>
            <a:r>
              <a:t>Blocks (2×2, stride 1)</a:t>
            </a:r>
          </a:p>
        </p:txBody>
      </p:sp>
      <p:sp>
        <p:nvSpPr>
          <p:cNvPr id="350" name="Text 17"/>
          <p:cNvSpPr txBox="1"/>
          <p:nvPr/>
        </p:nvSpPr>
        <p:spPr>
          <a:xfrm>
            <a:off x="6172200" y="2432050"/>
            <a:ext cx="128016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06B6D4"/>
                </a:solidFill>
                <a:latin typeface="Consolas"/>
                <a:ea typeface="Consolas"/>
                <a:cs typeface="Consolas"/>
                <a:sym typeface="Consolas"/>
              </a:defRPr>
            </a:lvl1pPr>
          </a:lstStyle>
          <a:p>
            <a:pPr/>
            <a:r>
              <a:t>7 × 15</a:t>
            </a:r>
          </a:p>
        </p:txBody>
      </p:sp>
      <p:sp>
        <p:nvSpPr>
          <p:cNvPr id="351" name="Text 18"/>
          <p:cNvSpPr txBox="1"/>
          <p:nvPr/>
        </p:nvSpPr>
        <p:spPr>
          <a:xfrm>
            <a:off x="7452359" y="2425699"/>
            <a:ext cx="109728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F1F5F9"/>
                </a:solidFill>
                <a:latin typeface="Consolas"/>
                <a:ea typeface="Consolas"/>
                <a:cs typeface="Consolas"/>
                <a:sym typeface="Consolas"/>
              </a:defRPr>
            </a:pPr>
            <a:r>
              <a:t>= </a:t>
            </a:r>
            <a:r>
              <a:rPr>
                <a:solidFill>
                  <a:schemeClr val="accent4"/>
                </a:solidFill>
              </a:rPr>
              <a:t>105</a:t>
            </a:r>
          </a:p>
        </p:txBody>
      </p:sp>
      <p:sp>
        <p:nvSpPr>
          <p:cNvPr id="352" name="Text 19"/>
          <p:cNvSpPr txBox="1"/>
          <p:nvPr/>
        </p:nvSpPr>
        <p:spPr>
          <a:xfrm>
            <a:off x="4069079" y="2904665"/>
            <a:ext cx="210312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94A3B8"/>
                </a:solidFill>
                <a:latin typeface="+mn-lt"/>
                <a:ea typeface="+mn-ea"/>
                <a:cs typeface="+mn-cs"/>
                <a:sym typeface="Calibri"/>
              </a:defRPr>
            </a:lvl1pPr>
          </a:lstStyle>
          <a:p>
            <a:pPr/>
            <a:r>
              <a:t>Values per block</a:t>
            </a:r>
          </a:p>
        </p:txBody>
      </p:sp>
      <p:sp>
        <p:nvSpPr>
          <p:cNvPr id="353" name="Text 20"/>
          <p:cNvSpPr txBox="1"/>
          <p:nvPr/>
        </p:nvSpPr>
        <p:spPr>
          <a:xfrm>
            <a:off x="6172200" y="2806700"/>
            <a:ext cx="128016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06B6D4"/>
                </a:solidFill>
                <a:latin typeface="Consolas"/>
                <a:ea typeface="Consolas"/>
                <a:cs typeface="Consolas"/>
                <a:sym typeface="Consolas"/>
              </a:defRPr>
            </a:lvl1pPr>
          </a:lstStyle>
          <a:p>
            <a:pPr/>
            <a:r>
              <a:t>4 cells × 9 bins</a:t>
            </a:r>
          </a:p>
        </p:txBody>
      </p:sp>
      <p:sp>
        <p:nvSpPr>
          <p:cNvPr id="354" name="Text 21"/>
          <p:cNvSpPr txBox="1"/>
          <p:nvPr/>
        </p:nvSpPr>
        <p:spPr>
          <a:xfrm>
            <a:off x="7452359" y="2882899"/>
            <a:ext cx="109728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F1F5F9"/>
                </a:solidFill>
                <a:latin typeface="Consolas"/>
                <a:ea typeface="Consolas"/>
                <a:cs typeface="Consolas"/>
                <a:sym typeface="Consolas"/>
              </a:defRPr>
            </a:pPr>
            <a:r>
              <a:t>= </a:t>
            </a:r>
            <a:r>
              <a:rPr>
                <a:solidFill>
                  <a:schemeClr val="accent4"/>
                </a:solidFill>
              </a:rPr>
              <a:t>36</a:t>
            </a:r>
          </a:p>
        </p:txBody>
      </p:sp>
      <p:sp>
        <p:nvSpPr>
          <p:cNvPr id="355" name="Shape 22"/>
          <p:cNvSpPr/>
          <p:nvPr/>
        </p:nvSpPr>
        <p:spPr>
          <a:xfrm>
            <a:off x="4069079" y="3383279"/>
            <a:ext cx="4480562" cy="868682"/>
          </a:xfrm>
          <a:prstGeom prst="rect">
            <a:avLst/>
          </a:prstGeom>
          <a:solidFill>
            <a:srgbClr val="F59E0B">
              <a:alpha val="15000"/>
            </a:srgbClr>
          </a:solidFill>
          <a:ln w="19050">
            <a:solidFill>
              <a:srgbClr val="F59E0B"/>
            </a:solidFill>
          </a:ln>
        </p:spPr>
        <p:txBody>
          <a:bodyPr lIns="45718" tIns="45718" rIns="45718" bIns="45718"/>
          <a:lstStyle/>
          <a:p>
            <a:pPr>
              <a:defRPr>
                <a:latin typeface="+mn-lt"/>
                <a:ea typeface="+mn-ea"/>
                <a:cs typeface="+mn-cs"/>
                <a:sym typeface="Calibri"/>
              </a:defRPr>
            </a:pPr>
          </a:p>
        </p:txBody>
      </p:sp>
      <p:sp>
        <p:nvSpPr>
          <p:cNvPr id="356" name="Text 23"/>
          <p:cNvSpPr txBox="1"/>
          <p:nvPr/>
        </p:nvSpPr>
        <p:spPr>
          <a:xfrm>
            <a:off x="4206240" y="3589195"/>
            <a:ext cx="4297682" cy="5025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400">
                <a:solidFill>
                  <a:srgbClr val="F1F5F9"/>
                </a:solidFill>
                <a:latin typeface="+mn-lt"/>
                <a:ea typeface="+mn-ea"/>
                <a:cs typeface="+mn-cs"/>
                <a:sym typeface="Calibri"/>
              </a:defRPr>
            </a:pPr>
            <a:r>
              <a:t>105 blocks × 36 values = </a:t>
            </a:r>
            <a:r>
              <a:rPr b="1" sz="2400">
                <a:solidFill>
                  <a:srgbClr val="F59E0B"/>
                </a:solidFill>
              </a:rPr>
              <a:t>3,780</a:t>
            </a:r>
            <a:r>
              <a:rPr sz="1300">
                <a:solidFill>
                  <a:srgbClr val="94A3B8"/>
                </a:solidFill>
              </a:rPr>
              <a:t>  features per window</a:t>
            </a:r>
          </a:p>
          <a:p>
            <a:pPr>
              <a:defRPr i="1" sz="1100">
                <a:solidFill>
                  <a:srgbClr val="94A3B8"/>
                </a:solidFill>
                <a:latin typeface="+mn-lt"/>
                <a:ea typeface="+mn-ea"/>
                <a:cs typeface="+mn-cs"/>
                <a:sym typeface="Calibri"/>
              </a:defRPr>
            </a:pPr>
            <a:r>
              <a:t>  -&gt; fed to a linear SVM classifier</a:t>
            </a:r>
          </a:p>
        </p:txBody>
      </p:sp>
      <p:sp>
        <p:nvSpPr>
          <p:cNvPr id="357" name="Shape 24"/>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58" name="Text 25"/>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Stage 5 - Descriptor</a:t>
            </a:r>
          </a:p>
        </p:txBody>
      </p:sp>
      <p:sp>
        <p:nvSpPr>
          <p:cNvPr id="359" name="Text 26"/>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7 / 16</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363"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WORKED EXAMPLE  ·  PART 1</a:t>
            </a:r>
          </a:p>
        </p:txBody>
      </p:sp>
      <p:sp>
        <p:nvSpPr>
          <p:cNvPr id="364"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From pixels to polar coordinates</a:t>
            </a:r>
          </a:p>
        </p:txBody>
      </p:sp>
      <p:sp>
        <p:nvSpPr>
          <p:cNvPr id="365" name="Shape 2"/>
          <p:cNvSpPr/>
          <p:nvPr/>
        </p:nvSpPr>
        <p:spPr>
          <a:xfrm>
            <a:off x="457200" y="1280160"/>
            <a:ext cx="3383280"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366" name="Text 3"/>
          <p:cNvSpPr txBox="1"/>
          <p:nvPr/>
        </p:nvSpPr>
        <p:spPr>
          <a:xfrm>
            <a:off x="457200" y="1441625"/>
            <a:ext cx="338328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latin typeface="+mn-lt"/>
                <a:ea typeface="+mn-ea"/>
                <a:cs typeface="+mn-cs"/>
                <a:sym typeface="Calibri"/>
              </a:defRPr>
            </a:lvl1pPr>
          </a:lstStyle>
          <a:p>
            <a:pPr/>
            <a:r>
              <a:t>3 × 3 patch  ·  centre pixel highlighted</a:t>
            </a:r>
          </a:p>
        </p:txBody>
      </p:sp>
      <p:sp>
        <p:nvSpPr>
          <p:cNvPr id="367" name="Shape 4"/>
          <p:cNvSpPr/>
          <p:nvPr/>
        </p:nvSpPr>
        <p:spPr>
          <a:xfrm>
            <a:off x="1143000" y="1874520"/>
            <a:ext cx="594360" cy="5943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368" name="Text 5"/>
          <p:cNvSpPr txBox="1"/>
          <p:nvPr/>
        </p:nvSpPr>
        <p:spPr>
          <a:xfrm>
            <a:off x="1143000" y="2051050"/>
            <a:ext cx="59436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1F5F9"/>
                </a:solidFill>
                <a:latin typeface="Consolas"/>
                <a:ea typeface="Consolas"/>
                <a:cs typeface="Consolas"/>
                <a:sym typeface="Consolas"/>
              </a:defRPr>
            </a:lvl1pPr>
          </a:lstStyle>
          <a:p>
            <a:pPr/>
            <a:r>
              <a:t>80</a:t>
            </a:r>
          </a:p>
        </p:txBody>
      </p:sp>
      <p:sp>
        <p:nvSpPr>
          <p:cNvPr id="369" name="Shape 6"/>
          <p:cNvSpPr/>
          <p:nvPr/>
        </p:nvSpPr>
        <p:spPr>
          <a:xfrm>
            <a:off x="1737360" y="1874520"/>
            <a:ext cx="594362" cy="5943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370" name="Text 7"/>
          <p:cNvSpPr txBox="1"/>
          <p:nvPr/>
        </p:nvSpPr>
        <p:spPr>
          <a:xfrm>
            <a:off x="1737360" y="2051050"/>
            <a:ext cx="59436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1F5F9"/>
                </a:solidFill>
                <a:latin typeface="Consolas"/>
                <a:ea typeface="Consolas"/>
                <a:cs typeface="Consolas"/>
                <a:sym typeface="Consolas"/>
              </a:defRPr>
            </a:lvl1pPr>
          </a:lstStyle>
          <a:p>
            <a:pPr/>
            <a:r>
              <a:t>100</a:t>
            </a:r>
          </a:p>
        </p:txBody>
      </p:sp>
      <p:sp>
        <p:nvSpPr>
          <p:cNvPr id="371" name="Shape 8"/>
          <p:cNvSpPr/>
          <p:nvPr/>
        </p:nvSpPr>
        <p:spPr>
          <a:xfrm>
            <a:off x="2331720" y="1874520"/>
            <a:ext cx="594362" cy="5943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372" name="Text 9"/>
          <p:cNvSpPr txBox="1"/>
          <p:nvPr/>
        </p:nvSpPr>
        <p:spPr>
          <a:xfrm>
            <a:off x="2331720" y="2051050"/>
            <a:ext cx="59436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1F5F9"/>
                </a:solidFill>
                <a:latin typeface="Consolas"/>
                <a:ea typeface="Consolas"/>
                <a:cs typeface="Consolas"/>
                <a:sym typeface="Consolas"/>
              </a:defRPr>
            </a:lvl1pPr>
          </a:lstStyle>
          <a:p>
            <a:pPr/>
            <a:r>
              <a:t>120</a:t>
            </a:r>
          </a:p>
        </p:txBody>
      </p:sp>
      <p:sp>
        <p:nvSpPr>
          <p:cNvPr id="373" name="Shape 10"/>
          <p:cNvSpPr/>
          <p:nvPr/>
        </p:nvSpPr>
        <p:spPr>
          <a:xfrm>
            <a:off x="1143000" y="2468878"/>
            <a:ext cx="594360" cy="5943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374" name="Text 11"/>
          <p:cNvSpPr txBox="1"/>
          <p:nvPr/>
        </p:nvSpPr>
        <p:spPr>
          <a:xfrm>
            <a:off x="1143000" y="2645409"/>
            <a:ext cx="59436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1F5F9"/>
                </a:solidFill>
                <a:latin typeface="Consolas"/>
                <a:ea typeface="Consolas"/>
                <a:cs typeface="Consolas"/>
                <a:sym typeface="Consolas"/>
              </a:defRPr>
            </a:lvl1pPr>
          </a:lstStyle>
          <a:p>
            <a:pPr/>
            <a:r>
              <a:t>80</a:t>
            </a:r>
          </a:p>
        </p:txBody>
      </p:sp>
      <p:sp>
        <p:nvSpPr>
          <p:cNvPr id="375" name="Shape 12"/>
          <p:cNvSpPr/>
          <p:nvPr/>
        </p:nvSpPr>
        <p:spPr>
          <a:xfrm>
            <a:off x="1737360" y="2468878"/>
            <a:ext cx="594362" cy="594362"/>
          </a:xfrm>
          <a:prstGeom prst="rect">
            <a:avLst/>
          </a:prstGeom>
          <a:solidFill>
            <a:srgbClr val="F59E0B">
              <a:alpha val="40000"/>
            </a:srgbClr>
          </a:solidFill>
          <a:ln w="25400">
            <a:solidFill>
              <a:srgbClr val="F59E0B"/>
            </a:solidFill>
          </a:ln>
        </p:spPr>
        <p:txBody>
          <a:bodyPr lIns="45718" tIns="45718" rIns="45718" bIns="45718"/>
          <a:lstStyle/>
          <a:p>
            <a:pPr>
              <a:defRPr>
                <a:latin typeface="+mn-lt"/>
                <a:ea typeface="+mn-ea"/>
                <a:cs typeface="+mn-cs"/>
                <a:sym typeface="Calibri"/>
              </a:defRPr>
            </a:pPr>
          </a:p>
        </p:txBody>
      </p:sp>
      <p:sp>
        <p:nvSpPr>
          <p:cNvPr id="376" name="Text 13"/>
          <p:cNvSpPr txBox="1"/>
          <p:nvPr/>
        </p:nvSpPr>
        <p:spPr>
          <a:xfrm>
            <a:off x="1737360" y="2645409"/>
            <a:ext cx="59436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59E0B"/>
                </a:solidFill>
                <a:latin typeface="Consolas"/>
                <a:ea typeface="Consolas"/>
                <a:cs typeface="Consolas"/>
                <a:sym typeface="Consolas"/>
              </a:defRPr>
            </a:lvl1pPr>
          </a:lstStyle>
          <a:p>
            <a:pPr/>
            <a:r>
              <a:t>100</a:t>
            </a:r>
          </a:p>
        </p:txBody>
      </p:sp>
      <p:sp>
        <p:nvSpPr>
          <p:cNvPr id="377" name="Shape 14"/>
          <p:cNvSpPr/>
          <p:nvPr/>
        </p:nvSpPr>
        <p:spPr>
          <a:xfrm>
            <a:off x="2331720" y="2468878"/>
            <a:ext cx="594362" cy="5943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378" name="Text 15"/>
          <p:cNvSpPr txBox="1"/>
          <p:nvPr/>
        </p:nvSpPr>
        <p:spPr>
          <a:xfrm>
            <a:off x="2331720" y="2645409"/>
            <a:ext cx="59436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1F5F9"/>
                </a:solidFill>
                <a:latin typeface="Consolas"/>
                <a:ea typeface="Consolas"/>
                <a:cs typeface="Consolas"/>
                <a:sym typeface="Consolas"/>
              </a:defRPr>
            </a:lvl1pPr>
          </a:lstStyle>
          <a:p>
            <a:pPr/>
            <a:r>
              <a:t>190</a:t>
            </a:r>
          </a:p>
        </p:txBody>
      </p:sp>
      <p:sp>
        <p:nvSpPr>
          <p:cNvPr id="379" name="Shape 16"/>
          <p:cNvSpPr/>
          <p:nvPr/>
        </p:nvSpPr>
        <p:spPr>
          <a:xfrm>
            <a:off x="1143000" y="3063238"/>
            <a:ext cx="594360" cy="5943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380" name="Text 17"/>
          <p:cNvSpPr txBox="1"/>
          <p:nvPr/>
        </p:nvSpPr>
        <p:spPr>
          <a:xfrm>
            <a:off x="1143000" y="3239769"/>
            <a:ext cx="59436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1F5F9"/>
                </a:solidFill>
                <a:latin typeface="Consolas"/>
                <a:ea typeface="Consolas"/>
                <a:cs typeface="Consolas"/>
                <a:sym typeface="Consolas"/>
              </a:defRPr>
            </a:lvl1pPr>
          </a:lstStyle>
          <a:p>
            <a:pPr/>
            <a:r>
              <a:t>80</a:t>
            </a:r>
          </a:p>
        </p:txBody>
      </p:sp>
      <p:sp>
        <p:nvSpPr>
          <p:cNvPr id="381" name="Shape 18"/>
          <p:cNvSpPr/>
          <p:nvPr/>
        </p:nvSpPr>
        <p:spPr>
          <a:xfrm>
            <a:off x="1737360" y="3063238"/>
            <a:ext cx="594362" cy="5943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382" name="Text 19"/>
          <p:cNvSpPr txBox="1"/>
          <p:nvPr/>
        </p:nvSpPr>
        <p:spPr>
          <a:xfrm>
            <a:off x="1737360" y="3239769"/>
            <a:ext cx="59436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1F5F9"/>
                </a:solidFill>
                <a:latin typeface="Consolas"/>
                <a:ea typeface="Consolas"/>
                <a:cs typeface="Consolas"/>
                <a:sym typeface="Consolas"/>
              </a:defRPr>
            </a:lvl1pPr>
          </a:lstStyle>
          <a:p>
            <a:pPr/>
            <a:r>
              <a:t>142</a:t>
            </a:r>
          </a:p>
        </p:txBody>
      </p:sp>
      <p:sp>
        <p:nvSpPr>
          <p:cNvPr id="383" name="Shape 20"/>
          <p:cNvSpPr/>
          <p:nvPr/>
        </p:nvSpPr>
        <p:spPr>
          <a:xfrm>
            <a:off x="2331720" y="3063238"/>
            <a:ext cx="594362" cy="594362"/>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384" name="Text 21"/>
          <p:cNvSpPr txBox="1"/>
          <p:nvPr/>
        </p:nvSpPr>
        <p:spPr>
          <a:xfrm>
            <a:off x="2331720" y="3239769"/>
            <a:ext cx="59436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1F5F9"/>
                </a:solidFill>
                <a:latin typeface="Consolas"/>
                <a:ea typeface="Consolas"/>
                <a:cs typeface="Consolas"/>
                <a:sym typeface="Consolas"/>
              </a:defRPr>
            </a:lvl1pPr>
          </a:lstStyle>
          <a:p>
            <a:pPr/>
            <a:r>
              <a:t>120</a:t>
            </a:r>
          </a:p>
        </p:txBody>
      </p:sp>
      <p:sp>
        <p:nvSpPr>
          <p:cNvPr id="385" name="Text 22"/>
          <p:cNvSpPr txBox="1"/>
          <p:nvPr/>
        </p:nvSpPr>
        <p:spPr>
          <a:xfrm>
            <a:off x="548640" y="3817664"/>
            <a:ext cx="32004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06B6D4"/>
                </a:solidFill>
                <a:latin typeface="+mn-lt"/>
                <a:ea typeface="+mn-ea"/>
                <a:cs typeface="+mn-cs"/>
                <a:sym typeface="Calibri"/>
              </a:defRPr>
            </a:lvl1pPr>
          </a:lstStyle>
          <a:p>
            <a:pPr/>
            <a:r>
              <a:t>Gx -&gt; right - left</a:t>
            </a:r>
          </a:p>
        </p:txBody>
      </p:sp>
      <p:sp>
        <p:nvSpPr>
          <p:cNvPr id="386" name="Text 23"/>
          <p:cNvSpPr txBox="1"/>
          <p:nvPr/>
        </p:nvSpPr>
        <p:spPr>
          <a:xfrm>
            <a:off x="548640" y="4091984"/>
            <a:ext cx="32004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06B6D4"/>
                </a:solidFill>
                <a:latin typeface="+mn-lt"/>
                <a:ea typeface="+mn-ea"/>
                <a:cs typeface="+mn-cs"/>
                <a:sym typeface="Calibri"/>
              </a:defRPr>
            </a:lvl1pPr>
          </a:lstStyle>
          <a:p>
            <a:pPr/>
            <a:r>
              <a:t>Gy -&gt; bottom - top</a:t>
            </a:r>
          </a:p>
        </p:txBody>
      </p:sp>
      <p:sp>
        <p:nvSpPr>
          <p:cNvPr id="387" name="Shape 24"/>
          <p:cNvSpPr/>
          <p:nvPr/>
        </p:nvSpPr>
        <p:spPr>
          <a:xfrm>
            <a:off x="4023359" y="1280160"/>
            <a:ext cx="4663441"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388" name="Text 25"/>
          <p:cNvSpPr txBox="1"/>
          <p:nvPr/>
        </p:nvSpPr>
        <p:spPr>
          <a:xfrm>
            <a:off x="4206240" y="1485944"/>
            <a:ext cx="438912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06B6D4"/>
                </a:solidFill>
                <a:latin typeface="+mn-lt"/>
                <a:ea typeface="+mn-ea"/>
                <a:cs typeface="+mn-cs"/>
                <a:sym typeface="Calibri"/>
              </a:defRPr>
            </a:lvl1pPr>
          </a:lstStyle>
          <a:p>
            <a:pPr/>
            <a:r>
              <a:t>STEP 1 · Compute gradients</a:t>
            </a:r>
          </a:p>
        </p:txBody>
      </p:sp>
      <p:sp>
        <p:nvSpPr>
          <p:cNvPr id="389" name="Text 26"/>
          <p:cNvSpPr txBox="1"/>
          <p:nvPr/>
        </p:nvSpPr>
        <p:spPr>
          <a:xfrm>
            <a:off x="4206240" y="1735146"/>
            <a:ext cx="4389122" cy="2330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F1F5F9"/>
                </a:solidFill>
                <a:latin typeface="Cambria Math"/>
                <a:ea typeface="Cambria Math"/>
                <a:cs typeface="Cambria Math"/>
                <a:sym typeface="Cambria Math"/>
              </a:defRPr>
            </a:pPr>
            <a14:m>
              <m:oMathPara>
                <m:oMathParaPr>
                  <m:jc m:val="left"/>
                </m:oMathParaPr>
                <m:oMath>
                  <m:sSub>
                    <m:e>
                      <m:r>
                        <a:rPr xmlns:a="http://schemas.openxmlformats.org/drawingml/2006/main" sz="1600" i="1">
                          <a:solidFill>
                            <a:srgbClr val="F1F5F9"/>
                          </a:solidFill>
                          <a:latin typeface="Cambria Math" panose="02040503050406030204" pitchFamily="18" charset="0"/>
                        </a:rPr>
                        <m:t>G</m:t>
                      </m:r>
                    </m:e>
                    <m:sub>
                      <m:r>
                        <a:rPr xmlns:a="http://schemas.openxmlformats.org/drawingml/2006/main" sz="1600" i="1">
                          <a:solidFill>
                            <a:srgbClr val="F1F5F9"/>
                          </a:solidFill>
                          <a:latin typeface="Cambria Math" panose="02040503050406030204" pitchFamily="18" charset="0"/>
                        </a:rPr>
                        <m:t>x</m:t>
                      </m:r>
                    </m:sub>
                  </m:sSub>
                  <m:r>
                    <a:rPr xmlns:a="http://schemas.openxmlformats.org/drawingml/2006/main" sz="1600" i="1">
                      <a:solidFill>
                        <a:srgbClr val="F1F5F9"/>
                      </a:solidFill>
                      <a:latin typeface="Cambria Math" panose="02040503050406030204" pitchFamily="18" charset="0"/>
                    </a:rPr>
                    <m:t>=</m:t>
                  </m:r>
                  <m:r>
                    <a:rPr xmlns:a="http://schemas.openxmlformats.org/drawingml/2006/main" sz="1600" i="1">
                      <a:solidFill>
                        <a:srgbClr val="F1F5F9"/>
                      </a:solidFill>
                      <a:latin typeface="Cambria Math" panose="02040503050406030204" pitchFamily="18" charset="0"/>
                    </a:rPr>
                    <m:t>190</m:t>
                  </m:r>
                  <m:r>
                    <a:rPr xmlns:a="http://schemas.openxmlformats.org/drawingml/2006/main" sz="1600" i="1">
                      <a:solidFill>
                        <a:srgbClr val="F1F5F9"/>
                      </a:solidFill>
                      <a:latin typeface="Cambria Math" panose="02040503050406030204" pitchFamily="18" charset="0"/>
                    </a:rPr>
                    <m:t>-</m:t>
                  </m:r>
                  <m:r>
                    <a:rPr xmlns:a="http://schemas.openxmlformats.org/drawingml/2006/main" sz="1600" i="1">
                      <a:solidFill>
                        <a:srgbClr val="F1F5F9"/>
                      </a:solidFill>
                      <a:latin typeface="Cambria Math" panose="02040503050406030204" pitchFamily="18" charset="0"/>
                    </a:rPr>
                    <m:t>80</m:t>
                  </m:r>
                  <m:r>
                    <a:rPr xmlns:a="http://schemas.openxmlformats.org/drawingml/2006/main" sz="1600" i="1">
                      <a:solidFill>
                        <a:srgbClr val="F1F5F9"/>
                      </a:solidFill>
                      <a:latin typeface="Cambria Math" panose="02040503050406030204" pitchFamily="18" charset="0"/>
                    </a:rPr>
                    <m:t>=</m:t>
                  </m:r>
                </m:oMath>
              </m:oMathPara>
            </a14:m>
            <a14:m>
              <m:oMathPara>
                <m:oMathParaPr>
                  <m:jc m:val="left"/>
                </m:oMathParaPr>
                <m:oMath>
                  <m:r>
                    <a:rPr xmlns:a="http://schemas.openxmlformats.org/drawingml/2006/main" sz="1700" i="1">
                      <a:solidFill>
                        <a:srgbClr val="FFC000"/>
                      </a:solidFill>
                      <a:latin typeface="Cambria Math" panose="02040503050406030204" pitchFamily="18" charset="0"/>
                    </a:rPr>
                    <m:t>110</m:t>
                  </m:r>
                </m:oMath>
              </m:oMathPara>
            </a14:m>
          </a:p>
        </p:txBody>
      </p:sp>
      <p:sp>
        <p:nvSpPr>
          <p:cNvPr id="390" name="Text 27"/>
          <p:cNvSpPr txBox="1"/>
          <p:nvPr/>
        </p:nvSpPr>
        <p:spPr>
          <a:xfrm>
            <a:off x="4206240" y="2041209"/>
            <a:ext cx="4389122" cy="2609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F1F5F9"/>
                </a:solidFill>
                <a:latin typeface="Cambria Math"/>
                <a:ea typeface="Cambria Math"/>
                <a:cs typeface="Cambria Math"/>
                <a:sym typeface="Cambria Math"/>
              </a:defRPr>
            </a:pPr>
            <a14:m>
              <m:oMathPara>
                <m:oMathParaPr>
                  <m:jc m:val="left"/>
                </m:oMathParaPr>
                <m:oMath>
                  <m:sSub>
                    <m:e>
                      <m:r>
                        <a:rPr xmlns:a="http://schemas.openxmlformats.org/drawingml/2006/main" sz="1550" i="1">
                          <a:solidFill>
                            <a:srgbClr val="F1F5F9"/>
                          </a:solidFill>
                          <a:latin typeface="Cambria Math" panose="02040503050406030204" pitchFamily="18" charset="0"/>
                        </a:rPr>
                        <m:t>G</m:t>
                      </m:r>
                    </m:e>
                    <m:sub>
                      <m:r>
                        <a:rPr xmlns:a="http://schemas.openxmlformats.org/drawingml/2006/main" sz="1550" i="1">
                          <a:solidFill>
                            <a:srgbClr val="F1F5F9"/>
                          </a:solidFill>
                          <a:latin typeface="Cambria Math" panose="02040503050406030204" pitchFamily="18" charset="0"/>
                        </a:rPr>
                        <m:t>y</m:t>
                      </m:r>
                    </m:sub>
                  </m:sSub>
                  <m:r>
                    <a:rPr xmlns:a="http://schemas.openxmlformats.org/drawingml/2006/main" sz="1550" i="1">
                      <a:solidFill>
                        <a:srgbClr val="F1F5F9"/>
                      </a:solidFill>
                      <a:latin typeface="Cambria Math" panose="02040503050406030204" pitchFamily="18" charset="0"/>
                    </a:rPr>
                    <m:t>=</m:t>
                  </m:r>
                  <m:r>
                    <a:rPr xmlns:a="http://schemas.openxmlformats.org/drawingml/2006/main" sz="1550" i="1">
                      <a:solidFill>
                        <a:srgbClr val="F1F5F9"/>
                      </a:solidFill>
                      <a:latin typeface="Cambria Math" panose="02040503050406030204" pitchFamily="18" charset="0"/>
                    </a:rPr>
                    <m:t>142</m:t>
                  </m:r>
                  <m:r>
                    <a:rPr xmlns:a="http://schemas.openxmlformats.org/drawingml/2006/main" sz="1550" i="1">
                      <a:solidFill>
                        <a:srgbClr val="F1F5F9"/>
                      </a:solidFill>
                      <a:latin typeface="Cambria Math" panose="02040503050406030204" pitchFamily="18" charset="0"/>
                    </a:rPr>
                    <m:t>-</m:t>
                  </m:r>
                  <m:r>
                    <a:rPr xmlns:a="http://schemas.openxmlformats.org/drawingml/2006/main" sz="1550" i="1">
                      <a:solidFill>
                        <a:srgbClr val="F1F5F9"/>
                      </a:solidFill>
                      <a:latin typeface="Cambria Math" panose="02040503050406030204" pitchFamily="18" charset="0"/>
                    </a:rPr>
                    <m:t>100</m:t>
                  </m:r>
                  <m:r>
                    <a:rPr xmlns:a="http://schemas.openxmlformats.org/drawingml/2006/main" sz="1550" i="1">
                      <a:solidFill>
                        <a:srgbClr val="F1F5F9"/>
                      </a:solidFill>
                      <a:latin typeface="Cambria Math" panose="02040503050406030204" pitchFamily="18" charset="0"/>
                    </a:rPr>
                    <m:t>=</m:t>
                  </m:r>
                </m:oMath>
              </m:oMathPara>
            </a14:m>
            <a14:m>
              <m:oMathPara>
                <m:oMathParaPr>
                  <m:jc m:val="left"/>
                </m:oMathParaPr>
                <m:oMath>
                  <m:r>
                    <a:rPr xmlns:a="http://schemas.openxmlformats.org/drawingml/2006/main" sz="1650" i="1">
                      <a:solidFill>
                        <a:srgbClr val="FFC000"/>
                      </a:solidFill>
                      <a:latin typeface="Cambria Math" panose="02040503050406030204" pitchFamily="18" charset="0"/>
                    </a:rPr>
                    <m:t>42</m:t>
                  </m:r>
                </m:oMath>
              </m:oMathPara>
            </a14:m>
          </a:p>
        </p:txBody>
      </p:sp>
      <p:sp>
        <p:nvSpPr>
          <p:cNvPr id="391" name="Shape 28"/>
          <p:cNvSpPr/>
          <p:nvPr/>
        </p:nvSpPr>
        <p:spPr>
          <a:xfrm>
            <a:off x="4206240" y="2468879"/>
            <a:ext cx="4297682" cy="1"/>
          </a:xfrm>
          <a:prstGeom prst="line">
            <a:avLst/>
          </a:prstGeom>
          <a:ln>
            <a:solidFill>
              <a:srgbClr val="334155"/>
            </a:solidFill>
          </a:ln>
        </p:spPr>
        <p:txBody>
          <a:bodyPr lIns="45718" tIns="45718" rIns="45718" bIns="45718"/>
          <a:lstStyle/>
          <a:p>
            <a:pPr/>
          </a:p>
        </p:txBody>
      </p:sp>
      <p:sp>
        <p:nvSpPr>
          <p:cNvPr id="392" name="Text 29"/>
          <p:cNvSpPr txBox="1"/>
          <p:nvPr/>
        </p:nvSpPr>
        <p:spPr>
          <a:xfrm>
            <a:off x="4206240" y="2628943"/>
            <a:ext cx="438912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06B6D4"/>
                </a:solidFill>
                <a:latin typeface="+mn-lt"/>
                <a:ea typeface="+mn-ea"/>
                <a:cs typeface="+mn-cs"/>
                <a:sym typeface="Calibri"/>
              </a:defRPr>
            </a:lvl1pPr>
          </a:lstStyle>
          <a:p>
            <a:pPr/>
            <a:r>
              <a:t>STEP 2 · Convert to polar</a:t>
            </a:r>
          </a:p>
        </p:txBody>
      </p:sp>
      <p:sp>
        <p:nvSpPr>
          <p:cNvPr id="393" name="Text 30"/>
          <p:cNvSpPr txBox="1"/>
          <p:nvPr/>
        </p:nvSpPr>
        <p:spPr>
          <a:xfrm>
            <a:off x="4206240" y="2875019"/>
            <a:ext cx="4389122" cy="2392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rgbClr val="F1F5F9"/>
                </a:solidFill>
                <a:latin typeface="Cambria Math"/>
                <a:ea typeface="Cambria Math"/>
                <a:cs typeface="Cambria Math"/>
                <a:sym typeface="Cambria Math"/>
              </a:defRPr>
            </a:pPr>
            <a14:m>
              <m:oMathPara>
                <m:oMathParaPr>
                  <m:jc m:val="left"/>
                </m:oMathParaPr>
                <m:oMath>
                  <m:r>
                    <a:rPr xmlns:a="http://schemas.openxmlformats.org/drawingml/2006/main" sz="1350" i="1">
                      <a:solidFill>
                        <a:srgbClr val="F1F5F9"/>
                      </a:solidFill>
                      <a:latin typeface="Cambria Math" panose="02040503050406030204" pitchFamily="18" charset="0"/>
                    </a:rPr>
                    <m:t>M</m:t>
                  </m:r>
                  <m:r>
                    <a:rPr xmlns:a="http://schemas.openxmlformats.org/drawingml/2006/main" sz="1350" i="1">
                      <a:solidFill>
                        <a:srgbClr val="F1F5F9"/>
                      </a:solidFill>
                      <a:latin typeface="Cambria Math" panose="02040503050406030204" pitchFamily="18" charset="0"/>
                    </a:rPr>
                    <m:t>=</m:t>
                  </m:r>
                  <m:rad>
                    <m:radPr>
                      <m:ctrlPr>
                        <a:rPr xmlns:a="http://schemas.openxmlformats.org/drawingml/2006/main" sz="1350" i="1">
                          <a:solidFill>
                            <a:srgbClr val="F1F5F9"/>
                          </a:solidFill>
                          <a:latin typeface="Cambria Math" panose="02040503050406030204" pitchFamily="18" charset="0"/>
                        </a:rPr>
                      </m:ctrlPr>
                      <m:degHide m:val="on"/>
                    </m:radPr>
                    <m:deg/>
                    <m:e>
                      <m:sSup>
                        <m:e>
                          <m:r>
                            <a:rPr xmlns:a="http://schemas.openxmlformats.org/drawingml/2006/main" sz="1350" i="1">
                              <a:solidFill>
                                <a:srgbClr val="F1F5F9"/>
                              </a:solidFill>
                              <a:latin typeface="Cambria Math" panose="02040503050406030204" pitchFamily="18" charset="0"/>
                            </a:rPr>
                            <m:t>110</m:t>
                          </m:r>
                        </m:e>
                        <m:sup>
                          <m:r>
                            <a:rPr xmlns:a="http://schemas.openxmlformats.org/drawingml/2006/main" sz="1350" i="1">
                              <a:solidFill>
                                <a:srgbClr val="F1F5F9"/>
                              </a:solidFill>
                              <a:latin typeface="Cambria Math" panose="02040503050406030204" pitchFamily="18" charset="0"/>
                            </a:rPr>
                            <m:t>2</m:t>
                          </m:r>
                        </m:sup>
                      </m:sSup>
                      <m:r>
                        <a:rPr xmlns:a="http://schemas.openxmlformats.org/drawingml/2006/main" sz="1350" i="1">
                          <a:solidFill>
                            <a:srgbClr val="F1F5F9"/>
                          </a:solidFill>
                          <a:latin typeface="Cambria Math" panose="02040503050406030204" pitchFamily="18" charset="0"/>
                        </a:rPr>
                        <m:t>+</m:t>
                      </m:r>
                      <m:sSup>
                        <m:e>
                          <m:r>
                            <a:rPr xmlns:a="http://schemas.openxmlformats.org/drawingml/2006/main" sz="1350" i="1">
                              <a:solidFill>
                                <a:srgbClr val="F1F5F9"/>
                              </a:solidFill>
                              <a:latin typeface="Cambria Math" panose="02040503050406030204" pitchFamily="18" charset="0"/>
                            </a:rPr>
                            <m:t>42</m:t>
                          </m:r>
                        </m:e>
                        <m:sup>
                          <m:r>
                            <a:rPr xmlns:a="http://schemas.openxmlformats.org/drawingml/2006/main" sz="1350" i="1">
                              <a:solidFill>
                                <a:srgbClr val="F1F5F9"/>
                              </a:solidFill>
                              <a:latin typeface="Cambria Math" panose="02040503050406030204" pitchFamily="18" charset="0"/>
                            </a:rPr>
                            <m:t>2</m:t>
                          </m:r>
                        </m:sup>
                      </m:sSup>
                    </m:e>
                  </m:rad>
                  <m:r>
                    <a:rPr xmlns:a="http://schemas.openxmlformats.org/drawingml/2006/main" sz="1350" i="1">
                      <a:solidFill>
                        <a:srgbClr val="F1F5F9"/>
                      </a:solidFill>
                      <a:latin typeface="Cambria Math" panose="02040503050406030204" pitchFamily="18" charset="0"/>
                    </a:rPr>
                    <m:t>=</m:t>
                  </m:r>
                  <m:rad>
                    <m:radPr>
                      <m:ctrlPr>
                        <a:rPr xmlns:a="http://schemas.openxmlformats.org/drawingml/2006/main" sz="1350" i="1">
                          <a:solidFill>
                            <a:srgbClr val="F1F5F9"/>
                          </a:solidFill>
                          <a:latin typeface="Cambria Math" panose="02040503050406030204" pitchFamily="18" charset="0"/>
                        </a:rPr>
                      </m:ctrlPr>
                      <m:degHide m:val="on"/>
                    </m:radPr>
                    <m:deg/>
                    <m:e>
                      <m:r>
                        <a:rPr xmlns:a="http://schemas.openxmlformats.org/drawingml/2006/main" sz="1350" i="1">
                          <a:solidFill>
                            <a:srgbClr val="F1F5F9"/>
                          </a:solidFill>
                          <a:latin typeface="Cambria Math" panose="02040503050406030204" pitchFamily="18" charset="0"/>
                        </a:rPr>
                        <m:t>13864</m:t>
                      </m:r>
                    </m:e>
                  </m:rad>
                  <m:r>
                    <a:rPr xmlns:a="http://schemas.openxmlformats.org/drawingml/2006/main" sz="1350" i="1">
                      <a:solidFill>
                        <a:srgbClr val="F1F5F9"/>
                      </a:solidFill>
                      <a:latin typeface="Cambria Math" panose="02040503050406030204" pitchFamily="18" charset="0"/>
                    </a:rPr>
                    <m:t>≈</m:t>
                  </m:r>
                </m:oMath>
              </m:oMathPara>
            </a14:m>
            <a14:m>
              <m:oMathPara>
                <m:oMathParaPr>
                  <m:jc m:val="left"/>
                </m:oMathParaPr>
                <m:oMath>
                  <m:r>
                    <a:rPr xmlns:a="http://schemas.openxmlformats.org/drawingml/2006/main" sz="1450" i="1">
                      <a:solidFill>
                        <a:srgbClr val="FFC000"/>
                      </a:solidFill>
                      <a:latin typeface="Cambria Math" panose="02040503050406030204" pitchFamily="18" charset="0"/>
                    </a:rPr>
                    <m:t>117.7</m:t>
                  </m:r>
                </m:oMath>
              </m:oMathPara>
            </a14:m>
          </a:p>
        </p:txBody>
      </p:sp>
      <p:sp>
        <p:nvSpPr>
          <p:cNvPr id="394" name="Text 31"/>
          <p:cNvSpPr txBox="1"/>
          <p:nvPr/>
        </p:nvSpPr>
        <p:spPr>
          <a:xfrm>
            <a:off x="4206240" y="3211864"/>
            <a:ext cx="4389122" cy="2056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rgbClr val="F1F5F9"/>
                </a:solidFill>
                <a:latin typeface="Cambria Math"/>
                <a:ea typeface="Cambria Math"/>
                <a:cs typeface="Cambria Math"/>
                <a:sym typeface="Cambria Math"/>
              </a:defRPr>
            </a:pPr>
            <a14:m>
              <m:oMathPara>
                <m:oMathParaPr>
                  <m:jc m:val="left"/>
                </m:oMathParaPr>
                <m:oMath>
                  <m:r>
                    <a:rPr xmlns:a="http://schemas.openxmlformats.org/drawingml/2006/main" sz="1350" i="1">
                      <a:solidFill>
                        <a:srgbClr val="F1F5F9"/>
                      </a:solidFill>
                      <a:latin typeface="Cambria Math" panose="02040503050406030204" pitchFamily="18" charset="0"/>
                    </a:rPr>
                    <m:t>θ</m:t>
                  </m:r>
                  <m:r>
                    <a:rPr xmlns:a="http://schemas.openxmlformats.org/drawingml/2006/main" sz="1350" i="1">
                      <a:solidFill>
                        <a:srgbClr val="F1F5F9"/>
                      </a:solidFill>
                      <a:latin typeface="Cambria Math" panose="02040503050406030204" pitchFamily="18" charset="0"/>
                    </a:rPr>
                    <m:t>=</m:t>
                  </m:r>
                  <m:r>
                    <m:rPr>
                      <m:nor/>
                    </m:rPr>
                    <a:rPr xmlns:a="http://schemas.openxmlformats.org/drawingml/2006/main" sz="1350" i="1">
                      <a:solidFill>
                        <a:srgbClr val="F1F5F9"/>
                      </a:solidFill>
                      <a:latin typeface="Cambria Math" panose="02040503050406030204" pitchFamily="18" charset="0"/>
                    </a:rPr>
                    <m:t>arctan</m:t>
                  </m:r>
                  <m:r>
                    <a:rPr xmlns:a="http://schemas.openxmlformats.org/drawingml/2006/main" sz="1350" i="1">
                      <a:solidFill>
                        <a:srgbClr val="F1F5F9"/>
                      </a:solidFill>
                      <a:latin typeface="Cambria Math" panose="02040503050406030204" pitchFamily="18" charset="0"/>
                    </a:rPr>
                    <m:t>(</m:t>
                  </m:r>
                  <m:r>
                    <a:rPr xmlns:a="http://schemas.openxmlformats.org/drawingml/2006/main" sz="1350" i="1">
                      <a:solidFill>
                        <a:srgbClr val="F1F5F9"/>
                      </a:solidFill>
                      <a:latin typeface="Cambria Math" panose="02040503050406030204" pitchFamily="18" charset="0"/>
                    </a:rPr>
                    <m:t>42</m:t>
                  </m:r>
                  <m:r>
                    <a:rPr xmlns:a="http://schemas.openxmlformats.org/drawingml/2006/main" sz="1350" i="1">
                      <a:solidFill>
                        <a:srgbClr val="F1F5F9"/>
                      </a:solidFill>
                      <a:latin typeface="Cambria Math" panose="02040503050406030204" pitchFamily="18" charset="0"/>
                    </a:rPr>
                    <m:t>/</m:t>
                  </m:r>
                  <m:r>
                    <a:rPr xmlns:a="http://schemas.openxmlformats.org/drawingml/2006/main" sz="1350" i="1">
                      <a:solidFill>
                        <a:srgbClr val="F1F5F9"/>
                      </a:solidFill>
                      <a:latin typeface="Cambria Math" panose="02040503050406030204" pitchFamily="18" charset="0"/>
                    </a:rPr>
                    <m:t>110</m:t>
                  </m:r>
                  <m:r>
                    <a:rPr xmlns:a="http://schemas.openxmlformats.org/drawingml/2006/main" sz="1350" i="1">
                      <a:solidFill>
                        <a:srgbClr val="F1F5F9"/>
                      </a:solidFill>
                      <a:latin typeface="Cambria Math" panose="02040503050406030204" pitchFamily="18" charset="0"/>
                    </a:rPr>
                    <m:t>)</m:t>
                  </m:r>
                  <m:r>
                    <a:rPr xmlns:a="http://schemas.openxmlformats.org/drawingml/2006/main" sz="1350" i="1">
                      <a:solidFill>
                        <a:srgbClr val="F1F5F9"/>
                      </a:solidFill>
                      <a:latin typeface="Cambria Math" panose="02040503050406030204" pitchFamily="18" charset="0"/>
                    </a:rPr>
                    <m:t>≈</m:t>
                  </m:r>
                </m:oMath>
              </m:oMathPara>
            </a14:m>
            <a14:m>
              <m:oMathPara>
                <m:oMathParaPr>
                  <m:jc m:val="left"/>
                </m:oMathParaPr>
                <m:oMath>
                  <m:sSup>
                    <m:e>
                      <m:r>
                        <a:rPr xmlns:a="http://schemas.openxmlformats.org/drawingml/2006/main" sz="1400" i="1">
                          <a:solidFill>
                            <a:srgbClr val="FFC000"/>
                          </a:solidFill>
                          <a:latin typeface="Cambria Math" panose="02040503050406030204" pitchFamily="18" charset="0"/>
                        </a:rPr>
                        <m:t>20.9</m:t>
                      </m:r>
                    </m:e>
                    <m:sup>
                      <m:r>
                        <a:rPr xmlns:a="http://schemas.openxmlformats.org/drawingml/2006/main" sz="1400" i="1">
                          <a:solidFill>
                            <a:srgbClr val="FFC000"/>
                          </a:solidFill>
                          <a:latin typeface="Cambria Math" panose="02040503050406030204" pitchFamily="18" charset="0"/>
                        </a:rPr>
                        <m:t>∘</m:t>
                      </m:r>
                    </m:sup>
                  </m:sSup>
                </m:oMath>
              </m:oMathPara>
            </a14:m>
          </a:p>
        </p:txBody>
      </p:sp>
      <p:sp>
        <p:nvSpPr>
          <p:cNvPr id="395" name="Shape 32"/>
          <p:cNvSpPr/>
          <p:nvPr/>
        </p:nvSpPr>
        <p:spPr>
          <a:xfrm>
            <a:off x="4206240" y="3611879"/>
            <a:ext cx="4297682" cy="685802"/>
          </a:xfrm>
          <a:prstGeom prst="rect">
            <a:avLst/>
          </a:prstGeom>
          <a:solidFill>
            <a:srgbClr val="06B6D4">
              <a:alpha val="15000"/>
            </a:srgbClr>
          </a:solidFill>
          <a:ln w="19050">
            <a:solidFill>
              <a:srgbClr val="06B6D4"/>
            </a:solidFill>
          </a:ln>
        </p:spPr>
        <p:txBody>
          <a:bodyPr lIns="45718" tIns="45718" rIns="45718" bIns="45718"/>
          <a:lstStyle/>
          <a:p>
            <a:pPr>
              <a:defRPr>
                <a:latin typeface="+mn-lt"/>
                <a:ea typeface="+mn-ea"/>
                <a:cs typeface="+mn-cs"/>
                <a:sym typeface="Calibri"/>
              </a:defRPr>
            </a:pPr>
          </a:p>
        </p:txBody>
      </p:sp>
      <p:sp>
        <p:nvSpPr>
          <p:cNvPr id="396" name="Text 33"/>
          <p:cNvSpPr txBox="1"/>
          <p:nvPr/>
        </p:nvSpPr>
        <p:spPr>
          <a:xfrm>
            <a:off x="4343400" y="3876346"/>
            <a:ext cx="41148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100">
                <a:solidFill>
                  <a:srgbClr val="94A3B8"/>
                </a:solidFill>
                <a:latin typeface="+mn-lt"/>
                <a:ea typeface="+mn-ea"/>
                <a:cs typeface="+mn-cs"/>
                <a:sym typeface="Calibri"/>
              </a:defRPr>
            </a:pPr>
            <a:r>
              <a:t>One pixel -&gt; one vector:  </a:t>
            </a:r>
            <a:r>
              <a:rPr b="1" sz="1200">
                <a:solidFill>
                  <a:schemeClr val="accent4"/>
                </a:solidFill>
              </a:rPr>
              <a:t>magnitude 117.7</a:t>
            </a:r>
            <a:r>
              <a:t>  at  </a:t>
            </a:r>
            <a:r>
              <a:rPr b="1" sz="1200">
                <a:solidFill>
                  <a:schemeClr val="accent4"/>
                </a:solidFill>
              </a:rPr>
              <a:t>20.9°</a:t>
            </a:r>
          </a:p>
        </p:txBody>
      </p:sp>
      <p:sp>
        <p:nvSpPr>
          <p:cNvPr id="397" name="Shape 34"/>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398" name="Text 35"/>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Worked Example</a:t>
            </a:r>
          </a:p>
        </p:txBody>
      </p:sp>
      <p:sp>
        <p:nvSpPr>
          <p:cNvPr id="399" name="Text 36"/>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8 / 16</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403"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WORKED EXAMPLE  ·  PART 2</a:t>
            </a:r>
          </a:p>
        </p:txBody>
      </p:sp>
      <p:sp>
        <p:nvSpPr>
          <p:cNvPr id="404"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Voting and normalisation</a:t>
            </a:r>
          </a:p>
        </p:txBody>
      </p:sp>
      <p:sp>
        <p:nvSpPr>
          <p:cNvPr id="405" name="Shape 2"/>
          <p:cNvSpPr/>
          <p:nvPr/>
        </p:nvSpPr>
        <p:spPr>
          <a:xfrm>
            <a:off x="457200" y="1280160"/>
            <a:ext cx="4114800"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406" name="Text 3"/>
          <p:cNvSpPr txBox="1"/>
          <p:nvPr/>
        </p:nvSpPr>
        <p:spPr>
          <a:xfrm>
            <a:off x="640080" y="1440224"/>
            <a:ext cx="384048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06B6D4"/>
                </a:solidFill>
                <a:latin typeface="+mn-lt"/>
                <a:ea typeface="+mn-ea"/>
                <a:cs typeface="+mn-cs"/>
                <a:sym typeface="Calibri"/>
              </a:defRPr>
            </a:lvl1pPr>
          </a:lstStyle>
          <a:p>
            <a:pPr/>
            <a:r>
              <a:t>STEP 3 · Bilinear vote split</a:t>
            </a:r>
          </a:p>
        </p:txBody>
      </p:sp>
      <p:sp>
        <p:nvSpPr>
          <p:cNvPr id="407" name="Text 4"/>
          <p:cNvSpPr txBox="1"/>
          <p:nvPr/>
        </p:nvSpPr>
        <p:spPr>
          <a:xfrm>
            <a:off x="640080" y="1704646"/>
            <a:ext cx="384048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F1F5F9"/>
                </a:solidFill>
                <a:latin typeface="+mn-lt"/>
                <a:ea typeface="+mn-ea"/>
                <a:cs typeface="+mn-cs"/>
                <a:sym typeface="Calibri"/>
              </a:defRPr>
            </a:pPr>
            <a:r>
              <a:t>Pixel at </a:t>
            </a:r>
            <a:r>
              <a:rPr b="1">
                <a:solidFill>
                  <a:srgbClr val="F59E0B"/>
                </a:solidFill>
              </a:rPr>
              <a:t>20.9°</a:t>
            </a:r>
            <a:r>
              <a:t>  carries magnitude </a:t>
            </a:r>
            <a:r>
              <a:rPr b="1">
                <a:solidFill>
                  <a:srgbClr val="F59E0B"/>
                </a:solidFill>
              </a:rPr>
              <a:t>117.7.</a:t>
            </a:r>
          </a:p>
        </p:txBody>
      </p:sp>
      <p:sp>
        <p:nvSpPr>
          <p:cNvPr id="408" name="Text 5"/>
          <p:cNvSpPr txBox="1"/>
          <p:nvPr/>
        </p:nvSpPr>
        <p:spPr>
          <a:xfrm>
            <a:off x="640080" y="1990265"/>
            <a:ext cx="384048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94A3B8"/>
                </a:solidFill>
                <a:latin typeface="+mn-lt"/>
                <a:ea typeface="+mn-ea"/>
                <a:cs typeface="+mn-cs"/>
                <a:sym typeface="Calibri"/>
              </a:defRPr>
            </a:lvl1pPr>
          </a:lstStyle>
          <a:p>
            <a:pPr/>
            <a:r>
              <a:t>It falls between bins 20° and 40° - split the vote by proximity.</a:t>
            </a:r>
          </a:p>
        </p:txBody>
      </p:sp>
      <p:sp>
        <p:nvSpPr>
          <p:cNvPr id="409" name="Shape 6"/>
          <p:cNvSpPr/>
          <p:nvPr/>
        </p:nvSpPr>
        <p:spPr>
          <a:xfrm>
            <a:off x="640080" y="2331720"/>
            <a:ext cx="3840480" cy="502920"/>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410" name="Text 7"/>
          <p:cNvSpPr txBox="1"/>
          <p:nvPr/>
        </p:nvSpPr>
        <p:spPr>
          <a:xfrm>
            <a:off x="777239" y="2475229"/>
            <a:ext cx="36576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100">
                <a:solidFill>
                  <a:srgbClr val="94A3B8"/>
                </a:solidFill>
                <a:latin typeface="Consolas"/>
                <a:ea typeface="Consolas"/>
                <a:cs typeface="Consolas"/>
                <a:sym typeface="Consolas"/>
              </a:defRPr>
            </a:pPr>
            <a:r>
              <a:t>Bin 20° (near):  117.7 × (19.1/20) = </a:t>
            </a:r>
            <a:r>
              <a:rPr b="1" sz="1400">
                <a:solidFill>
                  <a:srgbClr val="F59E0B"/>
                </a:solidFill>
              </a:rPr>
              <a:t>112.4</a:t>
            </a:r>
          </a:p>
        </p:txBody>
      </p:sp>
      <p:sp>
        <p:nvSpPr>
          <p:cNvPr id="411" name="Shape 8"/>
          <p:cNvSpPr/>
          <p:nvPr/>
        </p:nvSpPr>
        <p:spPr>
          <a:xfrm>
            <a:off x="640080" y="2926078"/>
            <a:ext cx="3840480" cy="502920"/>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412" name="Text 9"/>
          <p:cNvSpPr txBox="1"/>
          <p:nvPr/>
        </p:nvSpPr>
        <p:spPr>
          <a:xfrm>
            <a:off x="777239" y="3069589"/>
            <a:ext cx="36576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100">
                <a:solidFill>
                  <a:srgbClr val="94A3B8"/>
                </a:solidFill>
                <a:latin typeface="Consolas"/>
                <a:ea typeface="Consolas"/>
                <a:cs typeface="Consolas"/>
                <a:sym typeface="Consolas"/>
              </a:defRPr>
            </a:pPr>
            <a:r>
              <a:t>Bin 40° (far):    117.7 × (0.9/20)  = </a:t>
            </a:r>
            <a:r>
              <a:rPr b="1" sz="1400">
                <a:solidFill>
                  <a:srgbClr val="F59E0B"/>
                </a:solidFill>
              </a:rPr>
              <a:t>5.3</a:t>
            </a:r>
          </a:p>
        </p:txBody>
      </p:sp>
      <p:sp>
        <p:nvSpPr>
          <p:cNvPr id="413" name="Text 10"/>
          <p:cNvSpPr txBox="1"/>
          <p:nvPr/>
        </p:nvSpPr>
        <p:spPr>
          <a:xfrm>
            <a:off x="640080" y="3864786"/>
            <a:ext cx="38404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94A3B8"/>
                </a:solidFill>
                <a:latin typeface="+mn-lt"/>
                <a:ea typeface="+mn-ea"/>
                <a:cs typeface="+mn-cs"/>
                <a:sym typeface="Calibri"/>
              </a:defRPr>
            </a:lvl1pPr>
          </a:lstStyle>
          <a:p>
            <a:pPr/>
            <a:r>
              <a:t>Closer angle -&gt; larger share of the magnitude.</a:t>
            </a:r>
          </a:p>
        </p:txBody>
      </p:sp>
      <p:sp>
        <p:nvSpPr>
          <p:cNvPr id="414" name="Shape 11"/>
          <p:cNvSpPr/>
          <p:nvPr/>
        </p:nvSpPr>
        <p:spPr>
          <a:xfrm>
            <a:off x="4754879" y="1280160"/>
            <a:ext cx="3931921"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415" name="Text 12"/>
          <p:cNvSpPr txBox="1"/>
          <p:nvPr/>
        </p:nvSpPr>
        <p:spPr>
          <a:xfrm>
            <a:off x="4937759" y="1440224"/>
            <a:ext cx="365760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06B6D4"/>
                </a:solidFill>
                <a:latin typeface="+mn-lt"/>
                <a:ea typeface="+mn-ea"/>
                <a:cs typeface="+mn-cs"/>
                <a:sym typeface="Calibri"/>
              </a:defRPr>
            </a:lvl1pPr>
          </a:lstStyle>
          <a:p>
            <a:pPr/>
            <a:r>
              <a:t>STEP 4 · Sum into the cell histogram</a:t>
            </a:r>
          </a:p>
        </p:txBody>
      </p:sp>
      <p:sp>
        <p:nvSpPr>
          <p:cNvPr id="416" name="Text 13"/>
          <p:cNvSpPr txBox="1"/>
          <p:nvPr/>
        </p:nvSpPr>
        <p:spPr>
          <a:xfrm>
            <a:off x="4937759" y="1768219"/>
            <a:ext cx="3657602" cy="212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100">
                <a:solidFill>
                  <a:srgbClr val="F1F5F9"/>
                </a:solidFill>
                <a:latin typeface="Consolas"/>
                <a:ea typeface="Consolas"/>
                <a:cs typeface="Consolas"/>
                <a:sym typeface="Consolas"/>
              </a:defRPr>
            </a:pPr>
            <a:r>
              <a:t>H</a:t>
            </a:r>
            <a:r>
              <a:rPr baseline="-40000"/>
              <a:t>cell</a:t>
            </a:r>
            <a:r>
              <a:t> = [15, </a:t>
            </a:r>
            <a:r>
              <a:rPr b="1">
                <a:solidFill>
                  <a:srgbClr val="F59E0B"/>
                </a:solidFill>
              </a:rPr>
              <a:t>250</a:t>
            </a:r>
            <a:r>
              <a:t>, 40, 10, 5, 5, 10, 20, 15]</a:t>
            </a:r>
          </a:p>
        </p:txBody>
      </p:sp>
      <p:sp>
        <p:nvSpPr>
          <p:cNvPr id="417" name="Text 14"/>
          <p:cNvSpPr txBox="1"/>
          <p:nvPr/>
        </p:nvSpPr>
        <p:spPr>
          <a:xfrm>
            <a:off x="4937759" y="2126023"/>
            <a:ext cx="365760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64748B"/>
                </a:solidFill>
                <a:latin typeface="+mn-lt"/>
                <a:ea typeface="+mn-ea"/>
                <a:cs typeface="+mn-cs"/>
                <a:sym typeface="Calibri"/>
              </a:defRPr>
            </a:lvl1pPr>
          </a:lstStyle>
          <a:p>
            <a:pPr/>
            <a:r>
              <a:t>Peak at 20° reflects the strong horizontal edge.</a:t>
            </a:r>
          </a:p>
        </p:txBody>
      </p:sp>
      <p:sp>
        <p:nvSpPr>
          <p:cNvPr id="418" name="Shape 15"/>
          <p:cNvSpPr/>
          <p:nvPr/>
        </p:nvSpPr>
        <p:spPr>
          <a:xfrm>
            <a:off x="4937759" y="2468878"/>
            <a:ext cx="3566160" cy="3"/>
          </a:xfrm>
          <a:prstGeom prst="line">
            <a:avLst/>
          </a:prstGeom>
          <a:ln>
            <a:solidFill>
              <a:srgbClr val="334155"/>
            </a:solidFill>
          </a:ln>
        </p:spPr>
        <p:txBody>
          <a:bodyPr lIns="45718" tIns="45718" rIns="45718" bIns="45718"/>
          <a:lstStyle/>
          <a:p>
            <a:pPr/>
          </a:p>
        </p:txBody>
      </p:sp>
      <p:sp>
        <p:nvSpPr>
          <p:cNvPr id="419" name="Text 16"/>
          <p:cNvSpPr txBox="1"/>
          <p:nvPr/>
        </p:nvSpPr>
        <p:spPr>
          <a:xfrm>
            <a:off x="4937759" y="2628943"/>
            <a:ext cx="365760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06B6D4"/>
                </a:solidFill>
                <a:latin typeface="+mn-lt"/>
                <a:ea typeface="+mn-ea"/>
                <a:cs typeface="+mn-cs"/>
                <a:sym typeface="Calibri"/>
              </a:defRPr>
            </a:lvl1pPr>
          </a:lstStyle>
          <a:p>
            <a:pPr/>
            <a:r>
              <a:t>STEP 5 · L2 normalise the block</a:t>
            </a:r>
          </a:p>
        </p:txBody>
      </p:sp>
      <p:sp>
        <p:nvSpPr>
          <p:cNvPr id="420" name="Text 17"/>
          <p:cNvSpPr txBox="1"/>
          <p:nvPr/>
        </p:nvSpPr>
        <p:spPr>
          <a:xfrm>
            <a:off x="4937759" y="2911477"/>
            <a:ext cx="365760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F1F5F9"/>
                </a:solidFill>
                <a:latin typeface="Consolas"/>
                <a:ea typeface="Consolas"/>
                <a:cs typeface="Consolas"/>
                <a:sym typeface="Consolas"/>
              </a:defRPr>
            </a:lvl1pPr>
          </a:lstStyle>
          <a:p>
            <a:pPr/>
            <a:r>
              <a:t>Block v = [H₁, H₂, H₃, H₄]  -&gt;  36 values</a:t>
            </a:r>
          </a:p>
        </p:txBody>
      </p:sp>
      <p:sp>
        <p:nvSpPr>
          <p:cNvPr id="421" name="Shape 18"/>
          <p:cNvSpPr/>
          <p:nvPr/>
        </p:nvSpPr>
        <p:spPr>
          <a:xfrm>
            <a:off x="4937759" y="3566159"/>
            <a:ext cx="3611882" cy="685802"/>
          </a:xfrm>
          <a:prstGeom prst="rect">
            <a:avLst/>
          </a:prstGeom>
          <a:solidFill>
            <a:srgbClr val="10B981">
              <a:alpha val="15000"/>
            </a:srgbClr>
          </a:solidFill>
          <a:ln w="19050">
            <a:solidFill>
              <a:srgbClr val="10B981"/>
            </a:solidFill>
          </a:ln>
        </p:spPr>
        <p:txBody>
          <a:bodyPr lIns="45718" tIns="45718" rIns="45718" bIns="45718"/>
          <a:lstStyle/>
          <a:p>
            <a:pPr>
              <a:defRPr>
                <a:latin typeface="+mn-lt"/>
                <a:ea typeface="+mn-ea"/>
                <a:cs typeface="+mn-cs"/>
                <a:sym typeface="Calibri"/>
              </a:defRPr>
            </a:pPr>
          </a:p>
        </p:txBody>
      </p:sp>
      <p:sp>
        <p:nvSpPr>
          <p:cNvPr id="422" name="Text 19"/>
          <p:cNvSpPr txBox="1"/>
          <p:nvPr/>
        </p:nvSpPr>
        <p:spPr>
          <a:xfrm>
            <a:off x="5074920" y="3768978"/>
            <a:ext cx="3383280"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100">
                <a:solidFill>
                  <a:srgbClr val="F1F5F9"/>
                </a:solidFill>
                <a:latin typeface="+mn-lt"/>
                <a:ea typeface="+mn-ea"/>
                <a:cs typeface="+mn-cs"/>
                <a:sym typeface="Calibri"/>
              </a:defRPr>
            </a:pPr>
            <a:r>
              <a:t>Divide every value by ≈510  </a:t>
            </a:r>
          </a:p>
          <a:p>
            <a:pPr>
              <a:defRPr i="1" sz="1100">
                <a:solidFill>
                  <a:srgbClr val="94A3B8"/>
                </a:solidFill>
                <a:latin typeface="+mn-lt"/>
                <a:ea typeface="+mn-ea"/>
                <a:cs typeface="+mn-cs"/>
                <a:sym typeface="Calibri"/>
              </a:defRPr>
            </a:pPr>
            <a:r>
              <a:t>-&gt; all entries fall between 0 and 1 -&gt; lighting-invariant.</a:t>
            </a:r>
          </a:p>
        </p:txBody>
      </p:sp>
      <p:sp>
        <p:nvSpPr>
          <p:cNvPr id="423" name="Shape 20"/>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24" name="Text 21"/>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Worked Example</a:t>
            </a:r>
          </a:p>
        </p:txBody>
      </p:sp>
      <p:sp>
        <p:nvSpPr>
          <p:cNvPr id="425" name="Text 22"/>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9 / 16</a:t>
            </a:r>
          </a:p>
        </p:txBody>
      </p:sp>
      <p:sp>
        <p:nvSpPr>
          <p:cNvPr id="426" name="Text"/>
          <p:cNvSpPr txBox="1"/>
          <p:nvPr/>
        </p:nvSpPr>
        <p:spPr>
          <a:xfrm>
            <a:off x="4871263" y="3144565"/>
            <a:ext cx="2151939" cy="34892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defRPr sz="1000">
                <a:solidFill>
                  <a:srgbClr val="94A3B8"/>
                </a:solidFill>
                <a:latin typeface="Cambria Math"/>
                <a:ea typeface="Cambria Math"/>
                <a:cs typeface="Cambria Math"/>
                <a:sym typeface="Cambria Math"/>
              </a:defRPr>
            </a:pPr>
            <a14:m>
              <m:oMathPara>
                <m:oMathParaPr>
                  <m:jc m:val="left"/>
                </m:oMathParaPr>
                <m:oMath>
                  <m:r>
                    <a:rPr xmlns:a="http://schemas.openxmlformats.org/drawingml/2006/main" sz="1050" i="1">
                      <a:solidFill>
                        <a:srgbClr val="94A3B8"/>
                      </a:solidFill>
                      <a:latin typeface="Cambria Math" panose="02040503050406030204" pitchFamily="18" charset="0"/>
                    </a:rPr>
                    <m:t>|</m:t>
                  </m:r>
                  <m:r>
                    <a:rPr xmlns:a="http://schemas.openxmlformats.org/drawingml/2006/main" sz="1050" i="1">
                      <a:solidFill>
                        <a:srgbClr val="94A3B8"/>
                      </a:solidFill>
                      <a:latin typeface="Cambria Math" panose="02040503050406030204" pitchFamily="18" charset="0"/>
                    </a:rPr>
                    <m:t>|</m:t>
                  </m:r>
                  <m:r>
                    <a:rPr xmlns:a="http://schemas.openxmlformats.org/drawingml/2006/main" sz="1050" i="1">
                      <a:solidFill>
                        <a:srgbClr val="94A3B8"/>
                      </a:solidFill>
                      <a:latin typeface="Cambria Math" panose="02040503050406030204" pitchFamily="18" charset="0"/>
                    </a:rPr>
                    <m:t>v</m:t>
                  </m:r>
                  <m:r>
                    <a:rPr xmlns:a="http://schemas.openxmlformats.org/drawingml/2006/main" sz="1050" i="1">
                      <a:solidFill>
                        <a:srgbClr val="94A3B8"/>
                      </a:solidFill>
                      <a:latin typeface="Cambria Math" panose="02040503050406030204" pitchFamily="18" charset="0"/>
                    </a:rPr>
                    <m:t>|</m:t>
                  </m:r>
                  <m:r>
                    <a:rPr xmlns:a="http://schemas.openxmlformats.org/drawingml/2006/main" sz="1050" i="1">
                      <a:solidFill>
                        <a:srgbClr val="94A3B8"/>
                      </a:solidFill>
                      <a:latin typeface="Cambria Math" panose="02040503050406030204" pitchFamily="18" charset="0"/>
                    </a:rPr>
                    <m:t>|</m:t>
                  </m:r>
                  <m:r>
                    <a:rPr xmlns:a="http://schemas.openxmlformats.org/drawingml/2006/main" sz="1050" i="1">
                      <a:solidFill>
                        <a:srgbClr val="94A3B8"/>
                      </a:solidFill>
                      <a:latin typeface="Cambria Math" panose="02040503050406030204" pitchFamily="18" charset="0"/>
                    </a:rPr>
                    <m:t>=</m:t>
                  </m:r>
                  <m:rad>
                    <m:radPr>
                      <m:ctrlPr>
                        <a:rPr xmlns:a="http://schemas.openxmlformats.org/drawingml/2006/main" sz="1050" i="1">
                          <a:solidFill>
                            <a:srgbClr val="94A3B8"/>
                          </a:solidFill>
                          <a:latin typeface="Cambria Math" panose="02040503050406030204" pitchFamily="18" charset="0"/>
                        </a:rPr>
                      </m:ctrlPr>
                      <m:degHide m:val="on"/>
                    </m:radPr>
                    <m:deg/>
                    <m:e>
                      <m:r>
                        <a:rPr xmlns:a="http://schemas.openxmlformats.org/drawingml/2006/main" sz="1050" i="1">
                          <a:solidFill>
                            <a:srgbClr val="94A3B8"/>
                          </a:solidFill>
                          <a:latin typeface="Cambria Math" panose="02040503050406030204" pitchFamily="18" charset="0"/>
                        </a:rPr>
                        <m:t>∑</m:t>
                      </m:r>
                      <m:sSup>
                        <m:e>
                          <m:r>
                            <a:rPr xmlns:a="http://schemas.openxmlformats.org/drawingml/2006/main" sz="1050" i="1">
                              <a:solidFill>
                                <a:srgbClr val="94A3B8"/>
                              </a:solidFill>
                              <a:latin typeface="Cambria Math" panose="02040503050406030204" pitchFamily="18" charset="0"/>
                            </a:rPr>
                            <m:t>v</m:t>
                          </m:r>
                        </m:e>
                        <m:sup>
                          <m:r>
                            <a:rPr xmlns:a="http://schemas.openxmlformats.org/drawingml/2006/main" sz="1050" i="1">
                              <a:solidFill>
                                <a:srgbClr val="94A3B8"/>
                              </a:solidFill>
                              <a:latin typeface="Cambria Math" panose="02040503050406030204" pitchFamily="18" charset="0"/>
                            </a:rPr>
                            <m:t>2</m:t>
                          </m:r>
                        </m:sup>
                      </m:sSup>
                    </m:e>
                  </m:rad>
                  <m:r>
                    <a:rPr xmlns:a="http://schemas.openxmlformats.org/drawingml/2006/main" sz="1050" i="1">
                      <a:solidFill>
                        <a:srgbClr val="94A3B8"/>
                      </a:solidFill>
                      <a:latin typeface="Cambria Math" panose="02040503050406030204" pitchFamily="18" charset="0"/>
                    </a:rPr>
                    <m:t>≈</m:t>
                  </m:r>
                  <m:rad>
                    <m:radPr>
                      <m:ctrlPr>
                        <a:rPr xmlns:a="http://schemas.openxmlformats.org/drawingml/2006/main" sz="1050" i="1">
                          <a:solidFill>
                            <a:srgbClr val="94A3B8"/>
                          </a:solidFill>
                          <a:latin typeface="Cambria Math" panose="02040503050406030204" pitchFamily="18" charset="0"/>
                        </a:rPr>
                      </m:ctrlPr>
                      <m:degHide m:val="on"/>
                    </m:radPr>
                    <m:deg/>
                    <m:e>
                      <m:r>
                        <a:rPr xmlns:a="http://schemas.openxmlformats.org/drawingml/2006/main" sz="1050" i="1">
                          <a:solidFill>
                            <a:srgbClr val="94A3B8"/>
                          </a:solidFill>
                          <a:latin typeface="Cambria Math" panose="02040503050406030204" pitchFamily="18" charset="0"/>
                        </a:rPr>
                        <m:t>260,400</m:t>
                      </m:r>
                    </m:e>
                  </m:rad>
                  <m:r>
                    <a:rPr xmlns:a="http://schemas.openxmlformats.org/drawingml/2006/main" sz="1050" i="1">
                      <a:solidFill>
                        <a:srgbClr val="94A3B8"/>
                      </a:solidFill>
                      <a:latin typeface="Cambria Math" panose="02040503050406030204" pitchFamily="18" charset="0"/>
                    </a:rPr>
                    <m:t>≈</m:t>
                  </m:r>
                </m:oMath>
              </m:oMathPara>
            </a14:m>
            <a14:m>
              <m:oMathPara>
                <m:oMathParaPr>
                  <m:jc m:val="left"/>
                </m:oMathParaPr>
                <m:oMath>
                  <m:r>
                    <a:rPr xmlns:a="http://schemas.openxmlformats.org/drawingml/2006/main" sz="1100" i="1">
                      <a:solidFill>
                        <a:srgbClr val="FFC000"/>
                      </a:solidFill>
                      <a:latin typeface="Cambria Math" panose="02040503050406030204" pitchFamily="18" charset="0"/>
                    </a:rPr>
                    <m:t>510</m:t>
                  </m:r>
                </m:oMath>
              </m:oMathPara>
            </a14: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430"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TUNING</a:t>
            </a:r>
          </a:p>
        </p:txBody>
      </p:sp>
      <p:sp>
        <p:nvSpPr>
          <p:cNvPr id="431"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Parameter Choices  &amp;  Trade-offs</a:t>
            </a:r>
          </a:p>
        </p:txBody>
      </p:sp>
      <p:sp>
        <p:nvSpPr>
          <p:cNvPr id="432" name="Shape 2"/>
          <p:cNvSpPr/>
          <p:nvPr/>
        </p:nvSpPr>
        <p:spPr>
          <a:xfrm>
            <a:off x="457200" y="1280160"/>
            <a:ext cx="8229600" cy="384050"/>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433" name="Text 3"/>
          <p:cNvSpPr txBox="1"/>
          <p:nvPr/>
        </p:nvSpPr>
        <p:spPr>
          <a:xfrm>
            <a:off x="533400" y="1403012"/>
            <a:ext cx="1371600" cy="138342"/>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pc="300" sz="1000">
                <a:solidFill>
                  <a:srgbClr val="06B6D4"/>
                </a:solidFill>
                <a:latin typeface="+mn-lt"/>
                <a:ea typeface="+mn-ea"/>
                <a:cs typeface="+mn-cs"/>
                <a:sym typeface="Calibri"/>
              </a:defRPr>
            </a:lvl1pPr>
          </a:lstStyle>
          <a:p>
            <a:pPr/>
            <a:r>
              <a:t>PARAMETER</a:t>
            </a:r>
          </a:p>
        </p:txBody>
      </p:sp>
      <p:sp>
        <p:nvSpPr>
          <p:cNvPr id="434" name="Text 4"/>
          <p:cNvSpPr txBox="1"/>
          <p:nvPr/>
        </p:nvSpPr>
        <p:spPr>
          <a:xfrm>
            <a:off x="1874520" y="1403012"/>
            <a:ext cx="2011680" cy="138342"/>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pc="300" sz="1000">
                <a:solidFill>
                  <a:srgbClr val="06B6D4"/>
                </a:solidFill>
                <a:latin typeface="+mn-lt"/>
                <a:ea typeface="+mn-ea"/>
                <a:cs typeface="+mn-cs"/>
                <a:sym typeface="Calibri"/>
              </a:defRPr>
            </a:lvl1pPr>
          </a:lstStyle>
          <a:p>
            <a:pPr/>
            <a:r>
              <a:t>LOWER VALUE</a:t>
            </a:r>
          </a:p>
        </p:txBody>
      </p:sp>
      <p:sp>
        <p:nvSpPr>
          <p:cNvPr id="435" name="Text 5"/>
          <p:cNvSpPr txBox="1"/>
          <p:nvPr/>
        </p:nvSpPr>
        <p:spPr>
          <a:xfrm>
            <a:off x="3931920" y="1403012"/>
            <a:ext cx="2011680" cy="138342"/>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pc="300" sz="1000">
                <a:solidFill>
                  <a:srgbClr val="06B6D4"/>
                </a:solidFill>
                <a:latin typeface="+mn-lt"/>
                <a:ea typeface="+mn-ea"/>
                <a:cs typeface="+mn-cs"/>
                <a:sym typeface="Calibri"/>
              </a:defRPr>
            </a:lvl1pPr>
          </a:lstStyle>
          <a:p>
            <a:pPr/>
            <a:r>
              <a:t>HIGHER VALUE</a:t>
            </a:r>
          </a:p>
        </p:txBody>
      </p:sp>
      <p:sp>
        <p:nvSpPr>
          <p:cNvPr id="436" name="Text 6"/>
          <p:cNvSpPr txBox="1"/>
          <p:nvPr/>
        </p:nvSpPr>
        <p:spPr>
          <a:xfrm>
            <a:off x="5989320" y="1403012"/>
            <a:ext cx="1645922" cy="138342"/>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pc="300" sz="1000">
                <a:solidFill>
                  <a:srgbClr val="06B6D4"/>
                </a:solidFill>
                <a:latin typeface="+mn-lt"/>
                <a:ea typeface="+mn-ea"/>
                <a:cs typeface="+mn-cs"/>
                <a:sym typeface="Calibri"/>
              </a:defRPr>
            </a:lvl1pPr>
          </a:lstStyle>
          <a:p>
            <a:pPr/>
            <a:r>
              <a:t>CLASSIC CHOICE</a:t>
            </a:r>
          </a:p>
        </p:txBody>
      </p:sp>
      <p:sp>
        <p:nvSpPr>
          <p:cNvPr id="437" name="Shape 7"/>
          <p:cNvSpPr/>
          <p:nvPr/>
        </p:nvSpPr>
        <p:spPr>
          <a:xfrm>
            <a:off x="457200" y="1737360"/>
            <a:ext cx="8229600" cy="457202"/>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438" name="Text 8"/>
          <p:cNvSpPr txBox="1"/>
          <p:nvPr/>
        </p:nvSpPr>
        <p:spPr>
          <a:xfrm>
            <a:off x="533400" y="1886892"/>
            <a:ext cx="1371600" cy="158135"/>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200">
                <a:solidFill>
                  <a:srgbClr val="F1F5F9"/>
                </a:solidFill>
                <a:latin typeface="+mn-lt"/>
                <a:ea typeface="+mn-ea"/>
                <a:cs typeface="+mn-cs"/>
                <a:sym typeface="Calibri"/>
              </a:defRPr>
            </a:lvl1pPr>
          </a:lstStyle>
          <a:p>
            <a:pPr/>
            <a:r>
              <a:t>Cell size</a:t>
            </a:r>
          </a:p>
        </p:txBody>
      </p:sp>
      <p:sp>
        <p:nvSpPr>
          <p:cNvPr id="439" name="Text 9"/>
          <p:cNvSpPr txBox="1"/>
          <p:nvPr/>
        </p:nvSpPr>
        <p:spPr>
          <a:xfrm>
            <a:off x="1874520" y="1898190"/>
            <a:ext cx="2011680" cy="135539"/>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More detail · noisy</a:t>
            </a:r>
          </a:p>
        </p:txBody>
      </p:sp>
      <p:sp>
        <p:nvSpPr>
          <p:cNvPr id="440" name="Text 10"/>
          <p:cNvSpPr txBox="1"/>
          <p:nvPr/>
        </p:nvSpPr>
        <p:spPr>
          <a:xfrm>
            <a:off x="3931920" y="1893853"/>
            <a:ext cx="2011680" cy="135539"/>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Smoother · less detail</a:t>
            </a:r>
          </a:p>
        </p:txBody>
      </p:sp>
      <p:sp>
        <p:nvSpPr>
          <p:cNvPr id="441" name="Text 11"/>
          <p:cNvSpPr txBox="1"/>
          <p:nvPr/>
        </p:nvSpPr>
        <p:spPr>
          <a:xfrm>
            <a:off x="5989320" y="1882774"/>
            <a:ext cx="2560322" cy="166371"/>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100">
                <a:solidFill>
                  <a:srgbClr val="F59E0B"/>
                </a:solidFill>
                <a:latin typeface="Consolas"/>
                <a:ea typeface="Consolas"/>
                <a:cs typeface="Consolas"/>
                <a:sym typeface="Consolas"/>
              </a:defRPr>
            </a:lvl1pPr>
          </a:lstStyle>
          <a:p>
            <a:pPr/>
            <a:r>
              <a:t>8 × 8 px</a:t>
            </a:r>
          </a:p>
        </p:txBody>
      </p:sp>
      <p:sp>
        <p:nvSpPr>
          <p:cNvPr id="442" name="Shape 12"/>
          <p:cNvSpPr/>
          <p:nvPr/>
        </p:nvSpPr>
        <p:spPr>
          <a:xfrm>
            <a:off x="457200" y="2240278"/>
            <a:ext cx="8229600" cy="457202"/>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443" name="Text 13"/>
          <p:cNvSpPr txBox="1"/>
          <p:nvPr/>
        </p:nvSpPr>
        <p:spPr>
          <a:xfrm>
            <a:off x="533400" y="2389812"/>
            <a:ext cx="1371600" cy="158135"/>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200">
                <a:solidFill>
                  <a:srgbClr val="F1F5F9"/>
                </a:solidFill>
                <a:latin typeface="+mn-lt"/>
                <a:ea typeface="+mn-ea"/>
                <a:cs typeface="+mn-cs"/>
                <a:sym typeface="Calibri"/>
              </a:defRPr>
            </a:lvl1pPr>
          </a:lstStyle>
          <a:p>
            <a:pPr/>
            <a:r>
              <a:t>Orientation bins</a:t>
            </a:r>
          </a:p>
        </p:txBody>
      </p:sp>
      <p:sp>
        <p:nvSpPr>
          <p:cNvPr id="444" name="Text 14"/>
          <p:cNvSpPr txBox="1"/>
          <p:nvPr/>
        </p:nvSpPr>
        <p:spPr>
          <a:xfrm>
            <a:off x="1874520" y="2401110"/>
            <a:ext cx="2011680" cy="135539"/>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Poor angle discrimination</a:t>
            </a:r>
          </a:p>
        </p:txBody>
      </p:sp>
      <p:sp>
        <p:nvSpPr>
          <p:cNvPr id="445" name="Text 15"/>
          <p:cNvSpPr txBox="1"/>
          <p:nvPr/>
        </p:nvSpPr>
        <p:spPr>
          <a:xfrm>
            <a:off x="3931920" y="2401110"/>
            <a:ext cx="2011680" cy="135539"/>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Precise but sparse / noisy</a:t>
            </a:r>
          </a:p>
        </p:txBody>
      </p:sp>
      <p:sp>
        <p:nvSpPr>
          <p:cNvPr id="446" name="Text 16"/>
          <p:cNvSpPr txBox="1"/>
          <p:nvPr/>
        </p:nvSpPr>
        <p:spPr>
          <a:xfrm>
            <a:off x="5989320" y="2385693"/>
            <a:ext cx="2560322" cy="166371"/>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100">
                <a:solidFill>
                  <a:srgbClr val="F59E0B"/>
                </a:solidFill>
                <a:latin typeface="Consolas"/>
                <a:ea typeface="Consolas"/>
                <a:cs typeface="Consolas"/>
                <a:sym typeface="Consolas"/>
              </a:defRPr>
            </a:lvl1pPr>
          </a:lstStyle>
          <a:p>
            <a:pPr/>
            <a:r>
              <a:t>9 (unsigned)</a:t>
            </a:r>
          </a:p>
        </p:txBody>
      </p:sp>
      <p:sp>
        <p:nvSpPr>
          <p:cNvPr id="447" name="Shape 17"/>
          <p:cNvSpPr/>
          <p:nvPr/>
        </p:nvSpPr>
        <p:spPr>
          <a:xfrm>
            <a:off x="457200" y="2743200"/>
            <a:ext cx="8229600" cy="457200"/>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448" name="Text 18"/>
          <p:cNvSpPr txBox="1"/>
          <p:nvPr/>
        </p:nvSpPr>
        <p:spPr>
          <a:xfrm>
            <a:off x="533400" y="2892732"/>
            <a:ext cx="1371600" cy="158135"/>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200">
                <a:solidFill>
                  <a:srgbClr val="F1F5F9"/>
                </a:solidFill>
                <a:latin typeface="+mn-lt"/>
                <a:ea typeface="+mn-ea"/>
                <a:cs typeface="+mn-cs"/>
                <a:sym typeface="Calibri"/>
              </a:defRPr>
            </a:lvl1pPr>
          </a:lstStyle>
          <a:p>
            <a:pPr/>
            <a:r>
              <a:t>Block size</a:t>
            </a:r>
          </a:p>
        </p:txBody>
      </p:sp>
      <p:sp>
        <p:nvSpPr>
          <p:cNvPr id="449" name="Text 19"/>
          <p:cNvSpPr txBox="1"/>
          <p:nvPr/>
        </p:nvSpPr>
        <p:spPr>
          <a:xfrm>
            <a:off x="1874520" y="2904031"/>
            <a:ext cx="2011680" cy="135538"/>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Local contrast detail</a:t>
            </a:r>
          </a:p>
        </p:txBody>
      </p:sp>
      <p:sp>
        <p:nvSpPr>
          <p:cNvPr id="450" name="Text 20"/>
          <p:cNvSpPr txBox="1"/>
          <p:nvPr/>
        </p:nvSpPr>
        <p:spPr>
          <a:xfrm>
            <a:off x="3931920" y="2904031"/>
            <a:ext cx="2011680" cy="135538"/>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Broader normalisation</a:t>
            </a:r>
          </a:p>
        </p:txBody>
      </p:sp>
      <p:sp>
        <p:nvSpPr>
          <p:cNvPr id="451" name="Text 21"/>
          <p:cNvSpPr txBox="1"/>
          <p:nvPr/>
        </p:nvSpPr>
        <p:spPr>
          <a:xfrm>
            <a:off x="5989320" y="2888613"/>
            <a:ext cx="2560322" cy="166371"/>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100">
                <a:solidFill>
                  <a:srgbClr val="F59E0B"/>
                </a:solidFill>
                <a:latin typeface="Consolas"/>
                <a:ea typeface="Consolas"/>
                <a:cs typeface="Consolas"/>
                <a:sym typeface="Consolas"/>
              </a:defRPr>
            </a:lvl1pPr>
          </a:lstStyle>
          <a:p>
            <a:pPr/>
            <a:r>
              <a:t>2 × 2 cells</a:t>
            </a:r>
          </a:p>
        </p:txBody>
      </p:sp>
      <p:sp>
        <p:nvSpPr>
          <p:cNvPr id="452" name="Shape 22"/>
          <p:cNvSpPr/>
          <p:nvPr/>
        </p:nvSpPr>
        <p:spPr>
          <a:xfrm>
            <a:off x="457200" y="3246120"/>
            <a:ext cx="8229600" cy="457202"/>
          </a:xfrm>
          <a:prstGeom prst="rect">
            <a:avLst/>
          </a:prstGeom>
          <a:solidFill>
            <a:srgbClr val="1E293B"/>
          </a:solidFill>
          <a:ln w="5080">
            <a:solidFill>
              <a:srgbClr val="334155"/>
            </a:solidFill>
          </a:ln>
        </p:spPr>
        <p:txBody>
          <a:bodyPr lIns="45718" tIns="45718" rIns="45718" bIns="45718"/>
          <a:lstStyle/>
          <a:p>
            <a:pPr>
              <a:defRPr>
                <a:latin typeface="+mn-lt"/>
                <a:ea typeface="+mn-ea"/>
                <a:cs typeface="+mn-cs"/>
                <a:sym typeface="Calibri"/>
              </a:defRPr>
            </a:pPr>
          </a:p>
        </p:txBody>
      </p:sp>
      <p:sp>
        <p:nvSpPr>
          <p:cNvPr id="453" name="Text 23"/>
          <p:cNvSpPr txBox="1"/>
          <p:nvPr/>
        </p:nvSpPr>
        <p:spPr>
          <a:xfrm>
            <a:off x="533400" y="3395652"/>
            <a:ext cx="1371600" cy="158135"/>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200">
                <a:solidFill>
                  <a:srgbClr val="F1F5F9"/>
                </a:solidFill>
                <a:latin typeface="+mn-lt"/>
                <a:ea typeface="+mn-ea"/>
                <a:cs typeface="+mn-cs"/>
                <a:sym typeface="Calibri"/>
              </a:defRPr>
            </a:lvl1pPr>
          </a:lstStyle>
          <a:p>
            <a:pPr/>
            <a:r>
              <a:t>Block stride</a:t>
            </a:r>
          </a:p>
        </p:txBody>
      </p:sp>
      <p:sp>
        <p:nvSpPr>
          <p:cNvPr id="454" name="Text 24"/>
          <p:cNvSpPr txBox="1"/>
          <p:nvPr/>
        </p:nvSpPr>
        <p:spPr>
          <a:xfrm>
            <a:off x="1874520" y="3406951"/>
            <a:ext cx="2011680" cy="135538"/>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More overlap · Bigger vector</a:t>
            </a:r>
          </a:p>
        </p:txBody>
      </p:sp>
      <p:sp>
        <p:nvSpPr>
          <p:cNvPr id="455" name="Text 25"/>
          <p:cNvSpPr txBox="1"/>
          <p:nvPr/>
        </p:nvSpPr>
        <p:spPr>
          <a:xfrm>
            <a:off x="3931920" y="3406951"/>
            <a:ext cx="2011680" cy="135538"/>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Less Robust</a:t>
            </a:r>
          </a:p>
        </p:txBody>
      </p:sp>
      <p:sp>
        <p:nvSpPr>
          <p:cNvPr id="456" name="Text 26"/>
          <p:cNvSpPr txBox="1"/>
          <p:nvPr/>
        </p:nvSpPr>
        <p:spPr>
          <a:xfrm>
            <a:off x="5989320" y="3390352"/>
            <a:ext cx="2560322" cy="166371"/>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100">
                <a:solidFill>
                  <a:srgbClr val="F59E0B"/>
                </a:solidFill>
                <a:latin typeface="Consolas"/>
                <a:ea typeface="Consolas"/>
                <a:cs typeface="Consolas"/>
                <a:sym typeface="Consolas"/>
              </a:defRPr>
            </a:lvl1pPr>
          </a:lstStyle>
          <a:p>
            <a:pPr/>
            <a:r>
              <a:t>stride = 1 cell</a:t>
            </a:r>
          </a:p>
        </p:txBody>
      </p:sp>
      <p:sp>
        <p:nvSpPr>
          <p:cNvPr id="457" name="Shape 27"/>
          <p:cNvSpPr/>
          <p:nvPr/>
        </p:nvSpPr>
        <p:spPr>
          <a:xfrm>
            <a:off x="457200" y="3749040"/>
            <a:ext cx="8229600" cy="457202"/>
          </a:xfrm>
          <a:prstGeom prst="rect">
            <a:avLst/>
          </a:prstGeom>
          <a:solidFill>
            <a:srgbClr val="172033"/>
          </a:solidFill>
          <a:ln w="5080">
            <a:solidFill>
              <a:srgbClr val="334155"/>
            </a:solidFill>
          </a:ln>
        </p:spPr>
        <p:txBody>
          <a:bodyPr lIns="45718" tIns="45718" rIns="45718" bIns="45718"/>
          <a:lstStyle/>
          <a:p>
            <a:pPr>
              <a:defRPr>
                <a:latin typeface="+mn-lt"/>
                <a:ea typeface="+mn-ea"/>
                <a:cs typeface="+mn-cs"/>
                <a:sym typeface="Calibri"/>
              </a:defRPr>
            </a:pPr>
          </a:p>
        </p:txBody>
      </p:sp>
      <p:sp>
        <p:nvSpPr>
          <p:cNvPr id="458" name="Text 28"/>
          <p:cNvSpPr txBox="1"/>
          <p:nvPr/>
        </p:nvSpPr>
        <p:spPr>
          <a:xfrm>
            <a:off x="533400" y="3898572"/>
            <a:ext cx="1371600" cy="158135"/>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200">
                <a:solidFill>
                  <a:srgbClr val="F1F5F9"/>
                </a:solidFill>
                <a:latin typeface="+mn-lt"/>
                <a:ea typeface="+mn-ea"/>
                <a:cs typeface="+mn-cs"/>
                <a:sym typeface="Calibri"/>
              </a:defRPr>
            </a:lvl1pPr>
          </a:lstStyle>
          <a:p>
            <a:pPr/>
            <a:r>
              <a:t>Window size</a:t>
            </a:r>
          </a:p>
        </p:txBody>
      </p:sp>
      <p:sp>
        <p:nvSpPr>
          <p:cNvPr id="459" name="Text 29"/>
          <p:cNvSpPr txBox="1"/>
          <p:nvPr/>
        </p:nvSpPr>
        <p:spPr>
          <a:xfrm>
            <a:off x="1874520" y="3909871"/>
            <a:ext cx="2011680" cy="135538"/>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Local focus · less context</a:t>
            </a:r>
          </a:p>
        </p:txBody>
      </p:sp>
      <p:sp>
        <p:nvSpPr>
          <p:cNvPr id="460" name="Text 30"/>
          <p:cNvSpPr txBox="1"/>
          <p:nvPr/>
        </p:nvSpPr>
        <p:spPr>
          <a:xfrm>
            <a:off x="3931920" y="3909871"/>
            <a:ext cx="2011680" cy="135538"/>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sz="1100">
                <a:solidFill>
                  <a:srgbClr val="94A3B8"/>
                </a:solidFill>
                <a:latin typeface="+mn-lt"/>
                <a:ea typeface="+mn-ea"/>
                <a:cs typeface="+mn-cs"/>
                <a:sym typeface="Calibri"/>
              </a:defRPr>
            </a:lvl1pPr>
          </a:lstStyle>
          <a:p>
            <a:pPr/>
            <a:r>
              <a:t>More context · noisier</a:t>
            </a:r>
          </a:p>
        </p:txBody>
      </p:sp>
      <p:sp>
        <p:nvSpPr>
          <p:cNvPr id="461" name="Text 31"/>
          <p:cNvSpPr txBox="1"/>
          <p:nvPr/>
        </p:nvSpPr>
        <p:spPr>
          <a:xfrm>
            <a:off x="5989320" y="3894455"/>
            <a:ext cx="2560322" cy="166371"/>
          </a:xfrm>
          <a:prstGeom prst="rect">
            <a:avLst/>
          </a:prstGeom>
          <a:ln w="12700">
            <a:miter lim="400000"/>
          </a:ln>
          <a:extLst>
            <a:ext uri="{C572A759-6A51-4108-AA02-DFA0A04FC94B}">
              <ma14:wrappingTextBoxFlag xmlns:ma14="http://schemas.microsoft.com/office/mac/drawingml/2011/main" val="1"/>
            </a:ext>
          </a:extLst>
        </p:spPr>
        <p:txBody>
          <a:bodyPr lIns="635" tIns="635" rIns="635" bIns="635" anchor="ctr">
            <a:spAutoFit/>
          </a:bodyPr>
          <a:lstStyle>
            <a:lvl1pPr>
              <a:defRPr b="1" sz="1100">
                <a:solidFill>
                  <a:srgbClr val="F59E0B"/>
                </a:solidFill>
                <a:latin typeface="Consolas"/>
                <a:ea typeface="Consolas"/>
                <a:cs typeface="Consolas"/>
                <a:sym typeface="Consolas"/>
              </a:defRPr>
            </a:lvl1pPr>
          </a:lstStyle>
          <a:p>
            <a:pPr/>
            <a:r>
              <a:t>64 × 128 px</a:t>
            </a:r>
          </a:p>
        </p:txBody>
      </p:sp>
      <p:sp>
        <p:nvSpPr>
          <p:cNvPr id="462" name="Text 32"/>
          <p:cNvSpPr txBox="1"/>
          <p:nvPr/>
        </p:nvSpPr>
        <p:spPr>
          <a:xfrm>
            <a:off x="457200" y="4330875"/>
            <a:ext cx="8229600"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100">
                <a:solidFill>
                  <a:srgbClr val="94A3B8"/>
                </a:solidFill>
                <a:latin typeface="+mn-lt"/>
                <a:ea typeface="+mn-ea"/>
                <a:cs typeface="+mn-cs"/>
                <a:sym typeface="Calibri"/>
              </a:defRPr>
            </a:pPr>
            <a:r>
              <a:t>HOG parameters trade off </a:t>
            </a:r>
            <a:r>
              <a:rPr i="1">
                <a:solidFill>
                  <a:srgbClr val="F1F5F9"/>
                </a:solidFill>
              </a:rPr>
              <a:t>detail vs. robustness vs. compute time. </a:t>
            </a:r>
            <a:endParaRPr i="1">
              <a:solidFill>
                <a:srgbClr val="F1F5F9"/>
              </a:solidFill>
            </a:endParaRPr>
          </a:p>
          <a:p>
            <a:pPr algn="ctr">
              <a:defRPr sz="1100">
                <a:solidFill>
                  <a:srgbClr val="94A3B8"/>
                </a:solidFill>
                <a:latin typeface="+mn-lt"/>
                <a:ea typeface="+mn-ea"/>
                <a:cs typeface="+mn-cs"/>
                <a:sym typeface="Calibri"/>
              </a:defRPr>
            </a:pPr>
            <a:r>
              <a:t>Dalal &amp; Triggs's defaults are tuned for pedestrians at this aspect ratio.</a:t>
            </a:r>
          </a:p>
        </p:txBody>
      </p:sp>
      <p:sp>
        <p:nvSpPr>
          <p:cNvPr id="463" name="Shape 33"/>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64" name="Text 34"/>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Parameters</a:t>
            </a:r>
          </a:p>
        </p:txBody>
      </p:sp>
      <p:sp>
        <p:nvSpPr>
          <p:cNvPr id="465" name="Text 35"/>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10 / 16</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469"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DEMO</a:t>
            </a:r>
          </a:p>
        </p:txBody>
      </p:sp>
      <p:sp>
        <p:nvSpPr>
          <p:cNvPr id="470"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Successful example</a:t>
            </a:r>
          </a:p>
        </p:txBody>
      </p:sp>
      <p:sp>
        <p:nvSpPr>
          <p:cNvPr id="471" name="Shape 2"/>
          <p:cNvSpPr/>
          <p:nvPr/>
        </p:nvSpPr>
        <p:spPr>
          <a:xfrm>
            <a:off x="457200" y="1280160"/>
            <a:ext cx="8229600"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472" name="Shape 5"/>
          <p:cNvSpPr/>
          <p:nvPr/>
        </p:nvSpPr>
        <p:spPr>
          <a:xfrm>
            <a:off x="936768" y="1417319"/>
            <a:ext cx="1834203" cy="2834643"/>
          </a:xfrm>
          <a:prstGeom prst="rect">
            <a:avLst/>
          </a:prstGeom>
          <a:blipFill>
            <a:blip r:embed="rId2"/>
            <a:stretch>
              <a:fillRect/>
            </a:stretch>
          </a:blipFill>
          <a:ln>
            <a:solidFill>
              <a:srgbClr val="334155"/>
            </a:solidFill>
          </a:ln>
        </p:spPr>
        <p:txBody>
          <a:bodyPr lIns="45718" tIns="45718" rIns="45718" bIns="45718"/>
          <a:lstStyle/>
          <a:p>
            <a:pPr>
              <a:defRPr>
                <a:latin typeface="+mn-lt"/>
                <a:ea typeface="+mn-ea"/>
                <a:cs typeface="+mn-cs"/>
                <a:sym typeface="Calibri"/>
              </a:defRPr>
            </a:pPr>
          </a:p>
        </p:txBody>
      </p:sp>
      <p:sp>
        <p:nvSpPr>
          <p:cNvPr id="473" name="Shape 17"/>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74" name="Text 18"/>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Live Demo</a:t>
            </a:r>
          </a:p>
        </p:txBody>
      </p:sp>
      <p:sp>
        <p:nvSpPr>
          <p:cNvPr id="475" name="Text 19"/>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11 / 16</a:t>
            </a:r>
          </a:p>
        </p:txBody>
      </p:sp>
      <p:sp>
        <p:nvSpPr>
          <p:cNvPr id="476" name="Shape 5"/>
          <p:cNvSpPr/>
          <p:nvPr/>
        </p:nvSpPr>
        <p:spPr>
          <a:xfrm>
            <a:off x="2989747" y="1417319"/>
            <a:ext cx="1834204" cy="2834643"/>
          </a:xfrm>
          <a:prstGeom prst="rect">
            <a:avLst/>
          </a:prstGeom>
          <a:blipFill>
            <a:blip r:embed="rId3"/>
            <a:stretch>
              <a:fillRect/>
            </a:stretch>
          </a:blipFill>
          <a:ln>
            <a:solidFill>
              <a:srgbClr val="334155"/>
            </a:solidFill>
          </a:ln>
        </p:spPr>
        <p:txBody>
          <a:bodyPr lIns="45718" tIns="45718" rIns="45718" bIns="45718"/>
          <a:lstStyle/>
          <a:p>
            <a:pPr>
              <a:defRPr>
                <a:latin typeface="+mn-lt"/>
                <a:ea typeface="+mn-ea"/>
                <a:cs typeface="+mn-cs"/>
                <a:sym typeface="Calibri"/>
              </a:defRPr>
            </a:pPr>
          </a:p>
        </p:txBody>
      </p:sp>
      <p:sp>
        <p:nvSpPr>
          <p:cNvPr id="477" name="Text 6"/>
          <p:cNvSpPr txBox="1"/>
          <p:nvPr/>
        </p:nvSpPr>
        <p:spPr>
          <a:xfrm>
            <a:off x="5037966" y="1771559"/>
            <a:ext cx="2751142" cy="3938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90236" indent="-90236">
              <a:buSzPct val="100000"/>
              <a:buChar char="•"/>
              <a:defRPr sz="900">
                <a:solidFill>
                  <a:srgbClr val="94A3B8"/>
                </a:solidFill>
                <a:latin typeface="+mn-lt"/>
                <a:ea typeface="+mn-ea"/>
                <a:cs typeface="+mn-cs"/>
                <a:sym typeface="Calibri"/>
              </a:defRPr>
            </a:pPr>
            <a:r>
              <a:t>9 bins</a:t>
            </a:r>
          </a:p>
          <a:p>
            <a:pPr marL="90236" indent="-90236">
              <a:buSzPct val="100000"/>
              <a:buChar char="•"/>
              <a:defRPr sz="900">
                <a:solidFill>
                  <a:srgbClr val="94A3B8"/>
                </a:solidFill>
                <a:latin typeface="+mn-lt"/>
                <a:ea typeface="+mn-ea"/>
                <a:cs typeface="+mn-cs"/>
                <a:sym typeface="Calibri"/>
              </a:defRPr>
            </a:pPr>
            <a:r>
              <a:t>8x8 px per cell</a:t>
            </a:r>
          </a:p>
          <a:p>
            <a:pPr marL="90236" indent="-90236">
              <a:buSzPct val="100000"/>
              <a:buChar char="•"/>
              <a:defRPr sz="900">
                <a:solidFill>
                  <a:srgbClr val="94A3B8"/>
                </a:solidFill>
                <a:latin typeface="+mn-lt"/>
                <a:ea typeface="+mn-ea"/>
                <a:cs typeface="+mn-cs"/>
                <a:sym typeface="Calibri"/>
              </a:defRPr>
            </a:pPr>
            <a:r>
              <a:t>2x2 (16x16px) cells per block</a:t>
            </a:r>
          </a:p>
        </p:txBody>
      </p:sp>
      <p:sp>
        <p:nvSpPr>
          <p:cNvPr id="478" name="Text 4"/>
          <p:cNvSpPr txBox="1"/>
          <p:nvPr/>
        </p:nvSpPr>
        <p:spPr>
          <a:xfrm>
            <a:off x="5037966" y="1436285"/>
            <a:ext cx="329184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FFFFF"/>
                </a:solidFill>
                <a:latin typeface="+mn-lt"/>
                <a:ea typeface="+mn-ea"/>
                <a:cs typeface="+mn-cs"/>
                <a:sym typeface="Calibri"/>
              </a:defRPr>
            </a:lvl1pPr>
          </a:lstStyle>
          <a:p>
            <a:pPr/>
            <a:r>
              <a:t>Parameters</a:t>
            </a:r>
          </a:p>
        </p:txBody>
      </p:sp>
      <p:sp>
        <p:nvSpPr>
          <p:cNvPr id="479" name="Text 6"/>
          <p:cNvSpPr txBox="1"/>
          <p:nvPr/>
        </p:nvSpPr>
        <p:spPr>
          <a:xfrm>
            <a:off x="5037966" y="3974151"/>
            <a:ext cx="3412850"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4A3B8"/>
                </a:solidFill>
                <a:latin typeface="+mn-lt"/>
                <a:ea typeface="+mn-ea"/>
                <a:cs typeface="+mn-cs"/>
                <a:sym typeface="Calibri"/>
              </a:defRPr>
            </a:lvl1pPr>
          </a:lstStyle>
          <a:p>
            <a:pPr/>
            <a:r>
              <a:t>Image Credits: N. J. Karthika and C. Saravanan, "Addressing False Positives in Pedestrian Detection,"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481" name="Text 0"/>
          <p:cNvSpPr txBox="1"/>
          <p:nvPr/>
        </p:nvSpPr>
        <p:spPr>
          <a:xfrm>
            <a:off x="421639" y="338372"/>
            <a:ext cx="82296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DEMO</a:t>
            </a:r>
          </a:p>
        </p:txBody>
      </p:sp>
      <p:sp>
        <p:nvSpPr>
          <p:cNvPr id="482" name="Text 1"/>
          <p:cNvSpPr txBox="1"/>
          <p:nvPr/>
        </p:nvSpPr>
        <p:spPr>
          <a:xfrm>
            <a:off x="421639" y="577983"/>
            <a:ext cx="8229601"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Failure Example</a:t>
            </a:r>
          </a:p>
        </p:txBody>
      </p:sp>
      <p:sp>
        <p:nvSpPr>
          <p:cNvPr id="483" name="Shape 2"/>
          <p:cNvSpPr/>
          <p:nvPr/>
        </p:nvSpPr>
        <p:spPr>
          <a:xfrm>
            <a:off x="4337017" y="-468204"/>
            <a:ext cx="4782299" cy="5609071"/>
          </a:xfrm>
          <a:prstGeom prst="rect">
            <a:avLst/>
          </a:prstGeom>
          <a:solidFill>
            <a:srgbClr val="1E293B"/>
          </a:solidFill>
          <a:ln>
            <a:solidFill>
              <a:srgbClr val="334155"/>
            </a:solidFill>
          </a:ln>
        </p:spPr>
        <p:txBody>
          <a:bodyPr lIns="45718" tIns="45718" rIns="45718" bIns="45718"/>
          <a:lstStyle/>
          <a:p>
            <a:pPr>
              <a:defRPr sz="1500">
                <a:latin typeface="+mn-lt"/>
                <a:ea typeface="+mn-ea"/>
                <a:cs typeface="+mn-cs"/>
                <a:sym typeface="Calibri"/>
              </a:defRPr>
            </a:pPr>
          </a:p>
        </p:txBody>
      </p:sp>
      <p:sp>
        <p:nvSpPr>
          <p:cNvPr id="484" name="Shape 17"/>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485" name="Text 18"/>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Live Demo</a:t>
            </a:r>
          </a:p>
        </p:txBody>
      </p:sp>
      <p:sp>
        <p:nvSpPr>
          <p:cNvPr id="486" name="Text 19"/>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12 / 16</a:t>
            </a:r>
          </a:p>
        </p:txBody>
      </p:sp>
      <p:sp>
        <p:nvSpPr>
          <p:cNvPr id="487" name="Text 6"/>
          <p:cNvSpPr txBox="1"/>
          <p:nvPr/>
        </p:nvSpPr>
        <p:spPr>
          <a:xfrm>
            <a:off x="421638" y="2542450"/>
            <a:ext cx="2751142" cy="3938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90236" indent="-90236">
              <a:buSzPct val="100000"/>
              <a:buChar char="•"/>
              <a:defRPr sz="900">
                <a:solidFill>
                  <a:srgbClr val="94A3B8"/>
                </a:solidFill>
                <a:latin typeface="+mn-lt"/>
                <a:ea typeface="+mn-ea"/>
                <a:cs typeface="+mn-cs"/>
                <a:sym typeface="Calibri"/>
              </a:defRPr>
            </a:pPr>
            <a:r>
              <a:t>9 bins</a:t>
            </a:r>
          </a:p>
          <a:p>
            <a:pPr marL="90236" indent="-90236">
              <a:buSzPct val="100000"/>
              <a:buChar char="•"/>
              <a:defRPr sz="900">
                <a:solidFill>
                  <a:srgbClr val="94A3B8"/>
                </a:solidFill>
                <a:latin typeface="+mn-lt"/>
                <a:ea typeface="+mn-ea"/>
                <a:cs typeface="+mn-cs"/>
                <a:sym typeface="Calibri"/>
              </a:defRPr>
            </a:pPr>
            <a:r>
              <a:t>8x8 px per cell</a:t>
            </a:r>
          </a:p>
          <a:p>
            <a:pPr marL="90236" indent="-90236">
              <a:buSzPct val="100000"/>
              <a:buChar char="•"/>
              <a:defRPr sz="900">
                <a:solidFill>
                  <a:srgbClr val="94A3B8"/>
                </a:solidFill>
                <a:latin typeface="+mn-lt"/>
                <a:ea typeface="+mn-ea"/>
                <a:cs typeface="+mn-cs"/>
                <a:sym typeface="Calibri"/>
              </a:defRPr>
            </a:pPr>
            <a:r>
              <a:t>2x2 (16x16px) cells per block</a:t>
            </a:r>
          </a:p>
        </p:txBody>
      </p:sp>
      <p:sp>
        <p:nvSpPr>
          <p:cNvPr id="488" name="Text 4"/>
          <p:cNvSpPr txBox="1"/>
          <p:nvPr/>
        </p:nvSpPr>
        <p:spPr>
          <a:xfrm>
            <a:off x="421638" y="2215506"/>
            <a:ext cx="3291844"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FFFFF"/>
                </a:solidFill>
                <a:latin typeface="+mn-lt"/>
                <a:ea typeface="+mn-ea"/>
                <a:cs typeface="+mn-cs"/>
                <a:sym typeface="Calibri"/>
              </a:defRPr>
            </a:lvl1pPr>
          </a:lstStyle>
          <a:p>
            <a:pPr/>
            <a:r>
              <a:t>Parameters</a:t>
            </a:r>
          </a:p>
        </p:txBody>
      </p:sp>
      <p:sp>
        <p:nvSpPr>
          <p:cNvPr id="489" name="Shape 5"/>
          <p:cNvSpPr/>
          <p:nvPr/>
        </p:nvSpPr>
        <p:spPr>
          <a:xfrm>
            <a:off x="5091452" y="528206"/>
            <a:ext cx="3273431" cy="1990178"/>
          </a:xfrm>
          <a:prstGeom prst="rect">
            <a:avLst/>
          </a:prstGeom>
          <a:blipFill>
            <a:blip r:embed="rId2"/>
            <a:stretch>
              <a:fillRect/>
            </a:stretch>
          </a:blipFill>
          <a:ln>
            <a:solidFill>
              <a:srgbClr val="334155"/>
            </a:solidFill>
          </a:ln>
        </p:spPr>
        <p:txBody>
          <a:bodyPr lIns="45718" tIns="45718" rIns="45718" bIns="45718"/>
          <a:lstStyle/>
          <a:p>
            <a:pPr>
              <a:defRPr sz="1700">
                <a:latin typeface="+mn-lt"/>
                <a:ea typeface="+mn-ea"/>
                <a:cs typeface="+mn-cs"/>
                <a:sym typeface="Calibri"/>
              </a:defRPr>
            </a:pPr>
          </a:p>
        </p:txBody>
      </p:sp>
      <p:sp>
        <p:nvSpPr>
          <p:cNvPr id="490" name="Shape 5"/>
          <p:cNvSpPr/>
          <p:nvPr/>
        </p:nvSpPr>
        <p:spPr>
          <a:xfrm>
            <a:off x="5091452" y="2625115"/>
            <a:ext cx="3273431" cy="1990179"/>
          </a:xfrm>
          <a:prstGeom prst="rect">
            <a:avLst/>
          </a:prstGeom>
          <a:blipFill>
            <a:blip r:embed="rId3"/>
            <a:stretch>
              <a:fillRect/>
            </a:stretch>
          </a:blipFill>
          <a:ln>
            <a:solidFill>
              <a:srgbClr val="334155"/>
            </a:solidFill>
          </a:ln>
        </p:spPr>
        <p:txBody>
          <a:bodyPr lIns="45718" tIns="45718" rIns="45718" bIns="45718"/>
          <a:lstStyle/>
          <a:p>
            <a:pPr>
              <a:defRPr sz="1700">
                <a:latin typeface="+mn-lt"/>
                <a:ea typeface="+mn-ea"/>
                <a:cs typeface="+mn-cs"/>
                <a:sym typeface="Calibri"/>
              </a:defRPr>
            </a:pPr>
          </a:p>
        </p:txBody>
      </p:sp>
      <p:sp>
        <p:nvSpPr>
          <p:cNvPr id="491" name="Text 6"/>
          <p:cNvSpPr txBox="1"/>
          <p:nvPr/>
        </p:nvSpPr>
        <p:spPr>
          <a:xfrm>
            <a:off x="5092502" y="4722595"/>
            <a:ext cx="3179720" cy="2541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4A3B8"/>
                </a:solidFill>
                <a:latin typeface="+mn-lt"/>
                <a:ea typeface="+mn-ea"/>
                <a:cs typeface="+mn-cs"/>
                <a:sym typeface="Calibri"/>
              </a:defRPr>
            </a:lvl1pPr>
          </a:lstStyle>
          <a:p>
            <a:pPr/>
            <a:r>
              <a:t>Image Credits: N. J. Karthika and C. Saravanan, "Addressing False Positives in Pedestrian Detection,"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493"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LIMITS</a:t>
            </a:r>
          </a:p>
        </p:txBody>
      </p:sp>
      <p:sp>
        <p:nvSpPr>
          <p:cNvPr id="494"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Where HOG Breaks Down</a:t>
            </a:r>
          </a:p>
        </p:txBody>
      </p:sp>
      <p:sp>
        <p:nvSpPr>
          <p:cNvPr id="495" name="Shape 2"/>
          <p:cNvSpPr/>
          <p:nvPr/>
        </p:nvSpPr>
        <p:spPr>
          <a:xfrm>
            <a:off x="457200" y="1234438"/>
            <a:ext cx="2606040" cy="1417323"/>
          </a:xfrm>
          <a:prstGeom prst="rect">
            <a:avLst/>
          </a:prstGeom>
          <a:solidFill>
            <a:srgbClr val="1E293B"/>
          </a:solidFill>
          <a:ln>
            <a:solidFill>
              <a:srgbClr val="EF4444"/>
            </a:solidFill>
          </a:ln>
        </p:spPr>
        <p:txBody>
          <a:bodyPr lIns="45718" tIns="45718" rIns="45718" bIns="45718"/>
          <a:lstStyle/>
          <a:p>
            <a:pPr>
              <a:defRPr>
                <a:latin typeface="+mn-lt"/>
                <a:ea typeface="+mn-ea"/>
                <a:cs typeface="+mn-cs"/>
                <a:sym typeface="Calibri"/>
              </a:defRPr>
            </a:pPr>
          </a:p>
        </p:txBody>
      </p:sp>
      <p:sp>
        <p:nvSpPr>
          <p:cNvPr id="496" name="Shape 3"/>
          <p:cNvSpPr/>
          <p:nvPr/>
        </p:nvSpPr>
        <p:spPr>
          <a:xfrm>
            <a:off x="457200" y="1234438"/>
            <a:ext cx="73154" cy="1417323"/>
          </a:xfrm>
          <a:prstGeom prst="rect">
            <a:avLst/>
          </a:prstGeom>
          <a:solidFill>
            <a:srgbClr val="EF4444"/>
          </a:solidFill>
          <a:ln w="12700">
            <a:solidFill>
              <a:srgbClr val="EF4444"/>
            </a:solidFill>
          </a:ln>
        </p:spPr>
        <p:txBody>
          <a:bodyPr lIns="45718" tIns="45718" rIns="45718" bIns="45718"/>
          <a:lstStyle/>
          <a:p>
            <a:pPr>
              <a:defRPr>
                <a:latin typeface="+mn-lt"/>
                <a:ea typeface="+mn-ea"/>
                <a:cs typeface="+mn-cs"/>
                <a:sym typeface="Calibri"/>
              </a:defRPr>
            </a:pPr>
          </a:p>
        </p:txBody>
      </p:sp>
      <p:sp>
        <p:nvSpPr>
          <p:cNvPr id="497" name="Text 4"/>
          <p:cNvSpPr txBox="1"/>
          <p:nvPr/>
        </p:nvSpPr>
        <p:spPr>
          <a:xfrm>
            <a:off x="640080" y="1399538"/>
            <a:ext cx="50292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EF4444"/>
                </a:solidFill>
                <a:latin typeface="+mn-lt"/>
                <a:ea typeface="+mn-ea"/>
                <a:cs typeface="+mn-cs"/>
                <a:sym typeface="Calibri"/>
              </a:defRPr>
            </a:lvl1pPr>
          </a:lstStyle>
          <a:p>
            <a:pPr/>
            <a:r>
              <a:t>↻</a:t>
            </a:r>
          </a:p>
        </p:txBody>
      </p:sp>
      <p:sp>
        <p:nvSpPr>
          <p:cNvPr id="498" name="Text 5"/>
          <p:cNvSpPr txBox="1"/>
          <p:nvPr/>
        </p:nvSpPr>
        <p:spPr>
          <a:xfrm>
            <a:off x="1188719" y="1414079"/>
            <a:ext cx="178307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Rotation</a:t>
            </a:r>
          </a:p>
        </p:txBody>
      </p:sp>
      <p:sp>
        <p:nvSpPr>
          <p:cNvPr id="499" name="Text 6"/>
          <p:cNvSpPr txBox="1"/>
          <p:nvPr/>
        </p:nvSpPr>
        <p:spPr>
          <a:xfrm>
            <a:off x="640079" y="2090333"/>
            <a:ext cx="2331723"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4A3B8"/>
                </a:solidFill>
                <a:latin typeface="+mn-lt"/>
                <a:ea typeface="+mn-ea"/>
                <a:cs typeface="+mn-cs"/>
                <a:sym typeface="Calibri"/>
              </a:defRPr>
            </a:lvl1pPr>
          </a:lstStyle>
          <a:p>
            <a:pPr/>
            <a:r>
              <a:t>Fixed bins assume upright orientation. A lying pedestrian -&gt; wrong bins, broken descriptor.</a:t>
            </a:r>
          </a:p>
        </p:txBody>
      </p:sp>
      <p:sp>
        <p:nvSpPr>
          <p:cNvPr id="500" name="Shape 7"/>
          <p:cNvSpPr/>
          <p:nvPr/>
        </p:nvSpPr>
        <p:spPr>
          <a:xfrm>
            <a:off x="3154678" y="1234438"/>
            <a:ext cx="2606043" cy="1417323"/>
          </a:xfrm>
          <a:prstGeom prst="rect">
            <a:avLst/>
          </a:prstGeom>
          <a:solidFill>
            <a:srgbClr val="1E293B"/>
          </a:solidFill>
          <a:ln>
            <a:solidFill>
              <a:srgbClr val="EF4444"/>
            </a:solidFill>
          </a:ln>
        </p:spPr>
        <p:txBody>
          <a:bodyPr lIns="45718" tIns="45718" rIns="45718" bIns="45718"/>
          <a:lstStyle/>
          <a:p>
            <a:pPr>
              <a:defRPr>
                <a:latin typeface="+mn-lt"/>
                <a:ea typeface="+mn-ea"/>
                <a:cs typeface="+mn-cs"/>
                <a:sym typeface="Calibri"/>
              </a:defRPr>
            </a:pPr>
          </a:p>
        </p:txBody>
      </p:sp>
      <p:sp>
        <p:nvSpPr>
          <p:cNvPr id="501" name="Shape 8"/>
          <p:cNvSpPr/>
          <p:nvPr/>
        </p:nvSpPr>
        <p:spPr>
          <a:xfrm>
            <a:off x="3154678" y="1234438"/>
            <a:ext cx="73154" cy="1417323"/>
          </a:xfrm>
          <a:prstGeom prst="rect">
            <a:avLst/>
          </a:prstGeom>
          <a:solidFill>
            <a:srgbClr val="EF4444"/>
          </a:solidFill>
          <a:ln w="12700">
            <a:solidFill>
              <a:srgbClr val="EF4444"/>
            </a:solidFill>
          </a:ln>
        </p:spPr>
        <p:txBody>
          <a:bodyPr lIns="45718" tIns="45718" rIns="45718" bIns="45718"/>
          <a:lstStyle/>
          <a:p>
            <a:pPr>
              <a:defRPr>
                <a:latin typeface="+mn-lt"/>
                <a:ea typeface="+mn-ea"/>
                <a:cs typeface="+mn-cs"/>
                <a:sym typeface="Calibri"/>
              </a:defRPr>
            </a:pPr>
          </a:p>
        </p:txBody>
      </p:sp>
      <p:sp>
        <p:nvSpPr>
          <p:cNvPr id="502" name="Text 9"/>
          <p:cNvSpPr txBox="1"/>
          <p:nvPr/>
        </p:nvSpPr>
        <p:spPr>
          <a:xfrm>
            <a:off x="3337559" y="1399538"/>
            <a:ext cx="50292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EF4444"/>
                </a:solidFill>
                <a:latin typeface="+mn-lt"/>
                <a:ea typeface="+mn-ea"/>
                <a:cs typeface="+mn-cs"/>
                <a:sym typeface="Calibri"/>
              </a:defRPr>
            </a:lvl1pPr>
          </a:lstStyle>
          <a:p>
            <a:pPr/>
            <a:r>
              <a:t>⇲</a:t>
            </a:r>
          </a:p>
        </p:txBody>
      </p:sp>
      <p:sp>
        <p:nvSpPr>
          <p:cNvPr id="503" name="Text 10"/>
          <p:cNvSpPr txBox="1"/>
          <p:nvPr/>
        </p:nvSpPr>
        <p:spPr>
          <a:xfrm>
            <a:off x="3886200" y="1414079"/>
            <a:ext cx="178307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Scale</a:t>
            </a:r>
          </a:p>
        </p:txBody>
      </p:sp>
      <p:sp>
        <p:nvSpPr>
          <p:cNvPr id="504" name="Text 11"/>
          <p:cNvSpPr txBox="1"/>
          <p:nvPr/>
        </p:nvSpPr>
        <p:spPr>
          <a:xfrm>
            <a:off x="3337559" y="2090333"/>
            <a:ext cx="2331722"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4A3B8"/>
                </a:solidFill>
                <a:latin typeface="+mn-lt"/>
                <a:ea typeface="+mn-ea"/>
                <a:cs typeface="+mn-cs"/>
                <a:sym typeface="Calibri"/>
              </a:defRPr>
            </a:lvl1pPr>
          </a:lstStyle>
          <a:p>
            <a:pPr/>
            <a:r>
              <a:t>Fixed window size. Tiny or huge objects don't align with expected cell structure.</a:t>
            </a:r>
          </a:p>
        </p:txBody>
      </p:sp>
      <p:sp>
        <p:nvSpPr>
          <p:cNvPr id="505" name="Shape 12"/>
          <p:cNvSpPr/>
          <p:nvPr/>
        </p:nvSpPr>
        <p:spPr>
          <a:xfrm>
            <a:off x="5852159" y="1234438"/>
            <a:ext cx="2606042" cy="1417323"/>
          </a:xfrm>
          <a:prstGeom prst="rect">
            <a:avLst/>
          </a:prstGeom>
          <a:solidFill>
            <a:srgbClr val="1E293B"/>
          </a:solidFill>
          <a:ln>
            <a:solidFill>
              <a:srgbClr val="EF4444"/>
            </a:solidFill>
          </a:ln>
        </p:spPr>
        <p:txBody>
          <a:bodyPr lIns="45718" tIns="45718" rIns="45718" bIns="45718"/>
          <a:lstStyle/>
          <a:p>
            <a:pPr>
              <a:defRPr>
                <a:latin typeface="+mn-lt"/>
                <a:ea typeface="+mn-ea"/>
                <a:cs typeface="+mn-cs"/>
                <a:sym typeface="Calibri"/>
              </a:defRPr>
            </a:pPr>
          </a:p>
        </p:txBody>
      </p:sp>
      <p:sp>
        <p:nvSpPr>
          <p:cNvPr id="506" name="Shape 13"/>
          <p:cNvSpPr/>
          <p:nvPr/>
        </p:nvSpPr>
        <p:spPr>
          <a:xfrm>
            <a:off x="5852159" y="1234438"/>
            <a:ext cx="73154" cy="1417323"/>
          </a:xfrm>
          <a:prstGeom prst="rect">
            <a:avLst/>
          </a:prstGeom>
          <a:solidFill>
            <a:srgbClr val="EF4444"/>
          </a:solidFill>
          <a:ln w="12700">
            <a:solidFill>
              <a:srgbClr val="EF4444"/>
            </a:solidFill>
          </a:ln>
        </p:spPr>
        <p:txBody>
          <a:bodyPr lIns="45718" tIns="45718" rIns="45718" bIns="45718"/>
          <a:lstStyle/>
          <a:p>
            <a:pPr>
              <a:defRPr>
                <a:latin typeface="+mn-lt"/>
                <a:ea typeface="+mn-ea"/>
                <a:cs typeface="+mn-cs"/>
                <a:sym typeface="Calibri"/>
              </a:defRPr>
            </a:pPr>
          </a:p>
        </p:txBody>
      </p:sp>
      <p:sp>
        <p:nvSpPr>
          <p:cNvPr id="507" name="Text 14"/>
          <p:cNvSpPr txBox="1"/>
          <p:nvPr/>
        </p:nvSpPr>
        <p:spPr>
          <a:xfrm>
            <a:off x="6035040" y="1393188"/>
            <a:ext cx="5029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EF4444"/>
                </a:solidFill>
                <a:latin typeface="+mn-lt"/>
                <a:ea typeface="+mn-ea"/>
                <a:cs typeface="+mn-cs"/>
                <a:sym typeface="Calibri"/>
              </a:defRPr>
            </a:lvl1pPr>
          </a:lstStyle>
          <a:p>
            <a:pPr/>
            <a:r>
              <a:t>▦</a:t>
            </a:r>
          </a:p>
        </p:txBody>
      </p:sp>
      <p:sp>
        <p:nvSpPr>
          <p:cNvPr id="508" name="Text 15"/>
          <p:cNvSpPr txBox="1"/>
          <p:nvPr/>
        </p:nvSpPr>
        <p:spPr>
          <a:xfrm>
            <a:off x="6583680" y="1414079"/>
            <a:ext cx="178308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Occlusion / pose</a:t>
            </a:r>
          </a:p>
        </p:txBody>
      </p:sp>
      <p:sp>
        <p:nvSpPr>
          <p:cNvPr id="509" name="Text 16"/>
          <p:cNvSpPr txBox="1"/>
          <p:nvPr/>
        </p:nvSpPr>
        <p:spPr>
          <a:xfrm>
            <a:off x="6035040" y="2020483"/>
            <a:ext cx="2331722" cy="3938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4A3B8"/>
                </a:solidFill>
                <a:latin typeface="+mn-lt"/>
                <a:ea typeface="+mn-ea"/>
                <a:cs typeface="+mn-cs"/>
                <a:sym typeface="Calibri"/>
              </a:defRPr>
            </a:lvl1pPr>
          </a:lstStyle>
          <a:p>
            <a:pPr/>
            <a:r>
              <a:t>Hidden parts replace true gradients with background ones. Articulation moves edges to wrong cells.</a:t>
            </a:r>
          </a:p>
        </p:txBody>
      </p:sp>
      <p:sp>
        <p:nvSpPr>
          <p:cNvPr id="510" name="Shape 17"/>
          <p:cNvSpPr/>
          <p:nvPr/>
        </p:nvSpPr>
        <p:spPr>
          <a:xfrm>
            <a:off x="457200" y="2788920"/>
            <a:ext cx="2606040" cy="1417322"/>
          </a:xfrm>
          <a:prstGeom prst="rect">
            <a:avLst/>
          </a:prstGeom>
          <a:solidFill>
            <a:srgbClr val="1E293B"/>
          </a:solidFill>
          <a:ln>
            <a:solidFill>
              <a:srgbClr val="EF4444"/>
            </a:solidFill>
          </a:ln>
        </p:spPr>
        <p:txBody>
          <a:bodyPr lIns="45718" tIns="45718" rIns="45718" bIns="45718"/>
          <a:lstStyle/>
          <a:p>
            <a:pPr>
              <a:defRPr>
                <a:latin typeface="+mn-lt"/>
                <a:ea typeface="+mn-ea"/>
                <a:cs typeface="+mn-cs"/>
                <a:sym typeface="Calibri"/>
              </a:defRPr>
            </a:pPr>
          </a:p>
        </p:txBody>
      </p:sp>
      <p:sp>
        <p:nvSpPr>
          <p:cNvPr id="511" name="Shape 18"/>
          <p:cNvSpPr/>
          <p:nvPr/>
        </p:nvSpPr>
        <p:spPr>
          <a:xfrm>
            <a:off x="457200" y="2788920"/>
            <a:ext cx="73154" cy="1417322"/>
          </a:xfrm>
          <a:prstGeom prst="rect">
            <a:avLst/>
          </a:prstGeom>
          <a:solidFill>
            <a:srgbClr val="EF4444"/>
          </a:solidFill>
          <a:ln w="12700">
            <a:solidFill>
              <a:srgbClr val="EF4444"/>
            </a:solidFill>
          </a:ln>
        </p:spPr>
        <p:txBody>
          <a:bodyPr lIns="45718" tIns="45718" rIns="45718" bIns="45718"/>
          <a:lstStyle/>
          <a:p>
            <a:pPr>
              <a:defRPr>
                <a:latin typeface="+mn-lt"/>
                <a:ea typeface="+mn-ea"/>
                <a:cs typeface="+mn-cs"/>
                <a:sym typeface="Calibri"/>
              </a:defRPr>
            </a:pPr>
          </a:p>
        </p:txBody>
      </p:sp>
      <p:sp>
        <p:nvSpPr>
          <p:cNvPr id="512" name="Text 19"/>
          <p:cNvSpPr txBox="1"/>
          <p:nvPr/>
        </p:nvSpPr>
        <p:spPr>
          <a:xfrm>
            <a:off x="640080" y="2947668"/>
            <a:ext cx="5029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EF4444"/>
                </a:solidFill>
                <a:latin typeface="+mn-lt"/>
                <a:ea typeface="+mn-ea"/>
                <a:cs typeface="+mn-cs"/>
                <a:sym typeface="Calibri"/>
              </a:defRPr>
            </a:lvl1pPr>
          </a:lstStyle>
          <a:p>
            <a:pPr/>
            <a:r>
              <a:t>▒</a:t>
            </a:r>
          </a:p>
        </p:txBody>
      </p:sp>
      <p:sp>
        <p:nvSpPr>
          <p:cNvPr id="513" name="Text 20"/>
          <p:cNvSpPr txBox="1"/>
          <p:nvPr/>
        </p:nvSpPr>
        <p:spPr>
          <a:xfrm>
            <a:off x="1188719" y="2968560"/>
            <a:ext cx="178307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Background clutter</a:t>
            </a:r>
          </a:p>
        </p:txBody>
      </p:sp>
      <p:sp>
        <p:nvSpPr>
          <p:cNvPr id="514" name="Text 21"/>
          <p:cNvSpPr txBox="1"/>
          <p:nvPr/>
        </p:nvSpPr>
        <p:spPr>
          <a:xfrm>
            <a:off x="640079" y="3644813"/>
            <a:ext cx="2331723"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4A3B8"/>
                </a:solidFill>
                <a:latin typeface="+mn-lt"/>
                <a:ea typeface="+mn-ea"/>
                <a:cs typeface="+mn-cs"/>
                <a:sym typeface="Calibri"/>
              </a:defRPr>
            </a:lvl1pPr>
          </a:lstStyle>
          <a:p>
            <a:pPr/>
            <a:r>
              <a:t>Waves, branches, railings can mimic object gradients -&gt; false positives (HOGgles effect).</a:t>
            </a:r>
          </a:p>
        </p:txBody>
      </p:sp>
      <p:sp>
        <p:nvSpPr>
          <p:cNvPr id="515" name="Shape 22"/>
          <p:cNvSpPr/>
          <p:nvPr/>
        </p:nvSpPr>
        <p:spPr>
          <a:xfrm>
            <a:off x="3154678" y="2788920"/>
            <a:ext cx="2606043" cy="1417322"/>
          </a:xfrm>
          <a:prstGeom prst="rect">
            <a:avLst/>
          </a:prstGeom>
          <a:solidFill>
            <a:srgbClr val="1E293B"/>
          </a:solidFill>
          <a:ln>
            <a:solidFill>
              <a:srgbClr val="EF4444"/>
            </a:solidFill>
          </a:ln>
        </p:spPr>
        <p:txBody>
          <a:bodyPr lIns="45718" tIns="45718" rIns="45718" bIns="45718"/>
          <a:lstStyle/>
          <a:p>
            <a:pPr>
              <a:defRPr>
                <a:latin typeface="+mn-lt"/>
                <a:ea typeface="+mn-ea"/>
                <a:cs typeface="+mn-cs"/>
                <a:sym typeface="Calibri"/>
              </a:defRPr>
            </a:pPr>
          </a:p>
        </p:txBody>
      </p:sp>
      <p:sp>
        <p:nvSpPr>
          <p:cNvPr id="516" name="Shape 23"/>
          <p:cNvSpPr/>
          <p:nvPr/>
        </p:nvSpPr>
        <p:spPr>
          <a:xfrm>
            <a:off x="3154678" y="2788920"/>
            <a:ext cx="73154" cy="1417322"/>
          </a:xfrm>
          <a:prstGeom prst="rect">
            <a:avLst/>
          </a:prstGeom>
          <a:solidFill>
            <a:srgbClr val="EF4444"/>
          </a:solidFill>
          <a:ln w="12700">
            <a:solidFill>
              <a:srgbClr val="EF4444"/>
            </a:solidFill>
          </a:ln>
        </p:spPr>
        <p:txBody>
          <a:bodyPr lIns="45718" tIns="45718" rIns="45718" bIns="45718"/>
          <a:lstStyle/>
          <a:p>
            <a:pPr>
              <a:defRPr>
                <a:latin typeface="+mn-lt"/>
                <a:ea typeface="+mn-ea"/>
                <a:cs typeface="+mn-cs"/>
                <a:sym typeface="Calibri"/>
              </a:defRPr>
            </a:pPr>
          </a:p>
        </p:txBody>
      </p:sp>
      <p:sp>
        <p:nvSpPr>
          <p:cNvPr id="517" name="Text 24"/>
          <p:cNvSpPr txBox="1"/>
          <p:nvPr/>
        </p:nvSpPr>
        <p:spPr>
          <a:xfrm>
            <a:off x="3337559" y="2979418"/>
            <a:ext cx="50292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EF4444"/>
                </a:solidFill>
                <a:latin typeface="+mn-lt"/>
                <a:ea typeface="+mn-ea"/>
                <a:cs typeface="+mn-cs"/>
                <a:sym typeface="Calibri"/>
              </a:defRPr>
            </a:lvl1pPr>
          </a:lstStyle>
          <a:p>
            <a:pPr/>
            <a:r>
              <a:t>☀</a:t>
            </a:r>
          </a:p>
        </p:txBody>
      </p:sp>
      <p:sp>
        <p:nvSpPr>
          <p:cNvPr id="518" name="Text 25"/>
          <p:cNvSpPr txBox="1"/>
          <p:nvPr/>
        </p:nvSpPr>
        <p:spPr>
          <a:xfrm>
            <a:off x="3886200" y="2968560"/>
            <a:ext cx="178307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Lighting extremes</a:t>
            </a:r>
          </a:p>
        </p:txBody>
      </p:sp>
      <p:sp>
        <p:nvSpPr>
          <p:cNvPr id="519" name="Text 26"/>
          <p:cNvSpPr txBox="1"/>
          <p:nvPr/>
        </p:nvSpPr>
        <p:spPr>
          <a:xfrm>
            <a:off x="3337559" y="3644813"/>
            <a:ext cx="2331722"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4A3B8"/>
                </a:solidFill>
                <a:latin typeface="+mn-lt"/>
                <a:ea typeface="+mn-ea"/>
                <a:cs typeface="+mn-cs"/>
                <a:sym typeface="Calibri"/>
              </a:defRPr>
            </a:lvl1pPr>
          </a:lstStyle>
          <a:p>
            <a:pPr/>
            <a:r>
              <a:t>Darkness or overexposure corrupts gradients. Normalisation can't recover missing info.</a:t>
            </a:r>
          </a:p>
        </p:txBody>
      </p:sp>
      <p:sp>
        <p:nvSpPr>
          <p:cNvPr id="520" name="Shape 27"/>
          <p:cNvSpPr/>
          <p:nvPr/>
        </p:nvSpPr>
        <p:spPr>
          <a:xfrm>
            <a:off x="5852159" y="2788920"/>
            <a:ext cx="2606042" cy="1417322"/>
          </a:xfrm>
          <a:prstGeom prst="rect">
            <a:avLst/>
          </a:prstGeom>
          <a:solidFill>
            <a:srgbClr val="1E293B"/>
          </a:solidFill>
          <a:ln>
            <a:solidFill>
              <a:srgbClr val="EF4444"/>
            </a:solidFill>
          </a:ln>
        </p:spPr>
        <p:txBody>
          <a:bodyPr lIns="45718" tIns="45718" rIns="45718" bIns="45718"/>
          <a:lstStyle/>
          <a:p>
            <a:pPr>
              <a:defRPr>
                <a:latin typeface="+mn-lt"/>
                <a:ea typeface="+mn-ea"/>
                <a:cs typeface="+mn-cs"/>
                <a:sym typeface="Calibri"/>
              </a:defRPr>
            </a:pPr>
          </a:p>
        </p:txBody>
      </p:sp>
      <p:sp>
        <p:nvSpPr>
          <p:cNvPr id="521" name="Shape 28"/>
          <p:cNvSpPr/>
          <p:nvPr/>
        </p:nvSpPr>
        <p:spPr>
          <a:xfrm>
            <a:off x="5852159" y="2788920"/>
            <a:ext cx="73154" cy="1417322"/>
          </a:xfrm>
          <a:prstGeom prst="rect">
            <a:avLst/>
          </a:prstGeom>
          <a:solidFill>
            <a:srgbClr val="EF4444"/>
          </a:solidFill>
          <a:ln w="12700">
            <a:solidFill>
              <a:srgbClr val="EF4444"/>
            </a:solidFill>
          </a:ln>
        </p:spPr>
        <p:txBody>
          <a:bodyPr lIns="45718" tIns="45718" rIns="45718" bIns="45718"/>
          <a:lstStyle/>
          <a:p>
            <a:pPr>
              <a:defRPr>
                <a:latin typeface="+mn-lt"/>
                <a:ea typeface="+mn-ea"/>
                <a:cs typeface="+mn-cs"/>
                <a:sym typeface="Calibri"/>
              </a:defRPr>
            </a:pPr>
          </a:p>
        </p:txBody>
      </p:sp>
      <p:sp>
        <p:nvSpPr>
          <p:cNvPr id="522" name="Text 29"/>
          <p:cNvSpPr txBox="1"/>
          <p:nvPr/>
        </p:nvSpPr>
        <p:spPr>
          <a:xfrm>
            <a:off x="6035040" y="2979418"/>
            <a:ext cx="50292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EF4444"/>
                </a:solidFill>
                <a:latin typeface="+mn-lt"/>
                <a:ea typeface="+mn-ea"/>
                <a:cs typeface="+mn-cs"/>
                <a:sym typeface="Calibri"/>
              </a:defRPr>
            </a:lvl1pPr>
          </a:lstStyle>
          <a:p>
            <a:pPr/>
            <a:r>
              <a:t>◐</a:t>
            </a:r>
          </a:p>
        </p:txBody>
      </p:sp>
      <p:sp>
        <p:nvSpPr>
          <p:cNvPr id="523" name="Text 30"/>
          <p:cNvSpPr txBox="1"/>
          <p:nvPr/>
        </p:nvSpPr>
        <p:spPr>
          <a:xfrm>
            <a:off x="6583680" y="2968560"/>
            <a:ext cx="178308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No colour / texture</a:t>
            </a:r>
          </a:p>
        </p:txBody>
      </p:sp>
      <p:sp>
        <p:nvSpPr>
          <p:cNvPr id="524" name="Text 31"/>
          <p:cNvSpPr txBox="1"/>
          <p:nvPr/>
        </p:nvSpPr>
        <p:spPr>
          <a:xfrm>
            <a:off x="6035040" y="3644813"/>
            <a:ext cx="2331722"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4A3B8"/>
                </a:solidFill>
                <a:latin typeface="+mn-lt"/>
                <a:ea typeface="+mn-ea"/>
                <a:cs typeface="+mn-cs"/>
                <a:sym typeface="Calibri"/>
              </a:defRPr>
            </a:lvl1pPr>
          </a:lstStyle>
          <a:p>
            <a:pPr/>
            <a:r>
              <a:t>Pure shape descriptor. Mannequin, statue, and person can look identical to HOG.</a:t>
            </a:r>
          </a:p>
        </p:txBody>
      </p:sp>
      <p:sp>
        <p:nvSpPr>
          <p:cNvPr id="525" name="Shape 32"/>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26" name="Text 33"/>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Failure Modes</a:t>
            </a:r>
          </a:p>
        </p:txBody>
      </p:sp>
      <p:sp>
        <p:nvSpPr>
          <p:cNvPr id="527" name="Text 34"/>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13 / 16</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531"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ALTERNATIVES</a:t>
            </a:r>
          </a:p>
        </p:txBody>
      </p:sp>
      <p:sp>
        <p:nvSpPr>
          <p:cNvPr id="532"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When NOT to use HOG</a:t>
            </a:r>
          </a:p>
        </p:txBody>
      </p:sp>
      <p:sp>
        <p:nvSpPr>
          <p:cNvPr id="533" name="Shape 2"/>
          <p:cNvSpPr/>
          <p:nvPr/>
        </p:nvSpPr>
        <p:spPr>
          <a:xfrm>
            <a:off x="457200" y="1280160"/>
            <a:ext cx="8229600" cy="73152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534" name="Text 3"/>
          <p:cNvSpPr txBox="1"/>
          <p:nvPr/>
        </p:nvSpPr>
        <p:spPr>
          <a:xfrm>
            <a:off x="640079" y="1567486"/>
            <a:ext cx="795528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EF4444"/>
                </a:solidFill>
                <a:latin typeface="+mn-lt"/>
                <a:ea typeface="+mn-ea"/>
                <a:cs typeface="+mn-cs"/>
                <a:sym typeface="Calibri"/>
              </a:defRPr>
            </a:pPr>
            <a:r>
              <a:t>Avoid HOG if you need:  </a:t>
            </a:r>
            <a:r>
              <a:rPr b="0">
                <a:solidFill>
                  <a:srgbClr val="94A3B8"/>
                </a:solidFill>
              </a:rPr>
              <a:t>rotation/scale invariance  ·  colour or texture cues  ·  state-of-the-art accuracy required</a:t>
            </a:r>
          </a:p>
        </p:txBody>
      </p:sp>
      <p:sp>
        <p:nvSpPr>
          <p:cNvPr id="535" name="Shape 4"/>
          <p:cNvSpPr/>
          <p:nvPr/>
        </p:nvSpPr>
        <p:spPr>
          <a:xfrm>
            <a:off x="1828799" y="2194560"/>
            <a:ext cx="2697482" cy="2194562"/>
          </a:xfrm>
          <a:prstGeom prst="rect">
            <a:avLst/>
          </a:prstGeom>
          <a:solidFill>
            <a:srgbClr val="1E293B"/>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36" name="Text 5"/>
          <p:cNvSpPr txBox="1"/>
          <p:nvPr/>
        </p:nvSpPr>
        <p:spPr>
          <a:xfrm>
            <a:off x="2011678" y="2393776"/>
            <a:ext cx="2377443"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06B6D4"/>
                </a:solidFill>
                <a:latin typeface="+mn-lt"/>
                <a:ea typeface="+mn-ea"/>
                <a:cs typeface="+mn-cs"/>
                <a:sym typeface="Calibri"/>
              </a:defRPr>
            </a:lvl1pPr>
          </a:lstStyle>
          <a:p>
            <a:pPr/>
            <a:r>
              <a:t>CNNs</a:t>
            </a:r>
          </a:p>
        </p:txBody>
      </p:sp>
      <p:sp>
        <p:nvSpPr>
          <p:cNvPr id="537" name="Text 6"/>
          <p:cNvSpPr txBox="1"/>
          <p:nvPr/>
        </p:nvSpPr>
        <p:spPr>
          <a:xfrm>
            <a:off x="2011678" y="2674620"/>
            <a:ext cx="2377443"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64748B"/>
                </a:solidFill>
                <a:latin typeface="Consolas"/>
                <a:ea typeface="Consolas"/>
                <a:cs typeface="Consolas"/>
                <a:sym typeface="Consolas"/>
              </a:defRPr>
            </a:lvl1pPr>
          </a:lstStyle>
          <a:p>
            <a:pPr/>
            <a:r>
              <a:t>YOLO  ·  Faster R-CNN</a:t>
            </a:r>
          </a:p>
        </p:txBody>
      </p:sp>
      <p:sp>
        <p:nvSpPr>
          <p:cNvPr id="538" name="Text 7"/>
          <p:cNvSpPr txBox="1"/>
          <p:nvPr/>
        </p:nvSpPr>
        <p:spPr>
          <a:xfrm>
            <a:off x="2011678" y="2941320"/>
            <a:ext cx="237744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900">
                <a:solidFill>
                  <a:srgbClr val="F59E0B"/>
                </a:solidFill>
                <a:latin typeface="+mn-lt"/>
                <a:ea typeface="+mn-ea"/>
                <a:cs typeface="+mn-cs"/>
                <a:sym typeface="Calibri"/>
              </a:defRPr>
            </a:lvl1pPr>
          </a:lstStyle>
          <a:p>
            <a:pPr/>
            <a:r>
              <a:t>USE WHEN</a:t>
            </a:r>
          </a:p>
        </p:txBody>
      </p:sp>
      <p:sp>
        <p:nvSpPr>
          <p:cNvPr id="539" name="Text 8"/>
          <p:cNvSpPr txBox="1"/>
          <p:nvPr/>
        </p:nvSpPr>
        <p:spPr>
          <a:xfrm>
            <a:off x="2011678" y="3265213"/>
            <a:ext cx="2377443"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1F5F9"/>
                </a:solidFill>
                <a:latin typeface="+mn-lt"/>
                <a:ea typeface="+mn-ea"/>
                <a:cs typeface="+mn-cs"/>
                <a:sym typeface="Calibri"/>
              </a:defRPr>
            </a:lvl1pPr>
          </a:lstStyle>
          <a:p>
            <a:pPr/>
            <a:r>
              <a:t>Large dataset, GPU available, state-of-the-art accuracy required.</a:t>
            </a:r>
          </a:p>
        </p:txBody>
      </p:sp>
      <p:sp>
        <p:nvSpPr>
          <p:cNvPr id="540" name="Text 9"/>
          <p:cNvSpPr txBox="1"/>
          <p:nvPr/>
        </p:nvSpPr>
        <p:spPr>
          <a:xfrm>
            <a:off x="2011678" y="3764279"/>
            <a:ext cx="237744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900">
                <a:solidFill>
                  <a:srgbClr val="F59E0B"/>
                </a:solidFill>
                <a:latin typeface="+mn-lt"/>
                <a:ea typeface="+mn-ea"/>
                <a:cs typeface="+mn-cs"/>
                <a:sym typeface="Calibri"/>
              </a:defRPr>
            </a:lvl1pPr>
          </a:lstStyle>
          <a:p>
            <a:pPr/>
            <a:r>
              <a:t>WHY</a:t>
            </a:r>
          </a:p>
        </p:txBody>
      </p:sp>
      <p:sp>
        <p:nvSpPr>
          <p:cNvPr id="541" name="Text 10"/>
          <p:cNvSpPr txBox="1"/>
          <p:nvPr/>
        </p:nvSpPr>
        <p:spPr>
          <a:xfrm>
            <a:off x="2011678" y="3951013"/>
            <a:ext cx="2377443"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4A3B8"/>
                </a:solidFill>
                <a:latin typeface="+mn-lt"/>
                <a:ea typeface="+mn-ea"/>
                <a:cs typeface="+mn-cs"/>
                <a:sym typeface="Calibri"/>
              </a:defRPr>
            </a:lvl1pPr>
          </a:lstStyle>
          <a:p>
            <a:pPr/>
            <a:r>
              <a:t>Learns colour, texture, and hierarchical features end-to-end.</a:t>
            </a:r>
          </a:p>
        </p:txBody>
      </p:sp>
      <p:sp>
        <p:nvSpPr>
          <p:cNvPr id="542" name="Shape 11"/>
          <p:cNvSpPr/>
          <p:nvPr/>
        </p:nvSpPr>
        <p:spPr>
          <a:xfrm>
            <a:off x="4617720" y="2194560"/>
            <a:ext cx="2697482" cy="2194562"/>
          </a:xfrm>
          <a:prstGeom prst="rect">
            <a:avLst/>
          </a:prstGeom>
          <a:solidFill>
            <a:srgbClr val="1E293B"/>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43" name="Text 12"/>
          <p:cNvSpPr txBox="1"/>
          <p:nvPr/>
        </p:nvSpPr>
        <p:spPr>
          <a:xfrm>
            <a:off x="4800600" y="2393776"/>
            <a:ext cx="237744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06B6D4"/>
                </a:solidFill>
                <a:latin typeface="+mn-lt"/>
                <a:ea typeface="+mn-ea"/>
                <a:cs typeface="+mn-cs"/>
                <a:sym typeface="Calibri"/>
              </a:defRPr>
            </a:lvl1pPr>
          </a:lstStyle>
          <a:p>
            <a:pPr/>
            <a:r>
              <a:t>SIFT / ORB</a:t>
            </a:r>
          </a:p>
        </p:txBody>
      </p:sp>
      <p:sp>
        <p:nvSpPr>
          <p:cNvPr id="544" name="Text 13"/>
          <p:cNvSpPr txBox="1"/>
          <p:nvPr/>
        </p:nvSpPr>
        <p:spPr>
          <a:xfrm>
            <a:off x="4800600" y="2674620"/>
            <a:ext cx="237744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64748B"/>
                </a:solidFill>
                <a:latin typeface="Consolas"/>
                <a:ea typeface="Consolas"/>
                <a:cs typeface="Consolas"/>
                <a:sym typeface="Consolas"/>
              </a:defRPr>
            </a:lvl1pPr>
          </a:lstStyle>
          <a:p>
            <a:pPr/>
            <a:r>
              <a:t>Local descriptors</a:t>
            </a:r>
          </a:p>
        </p:txBody>
      </p:sp>
      <p:sp>
        <p:nvSpPr>
          <p:cNvPr id="545" name="Text 14"/>
          <p:cNvSpPr txBox="1"/>
          <p:nvPr/>
        </p:nvSpPr>
        <p:spPr>
          <a:xfrm>
            <a:off x="4800600" y="2941320"/>
            <a:ext cx="23774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900">
                <a:solidFill>
                  <a:srgbClr val="F59E0B"/>
                </a:solidFill>
                <a:latin typeface="+mn-lt"/>
                <a:ea typeface="+mn-ea"/>
                <a:cs typeface="+mn-cs"/>
                <a:sym typeface="Calibri"/>
              </a:defRPr>
            </a:lvl1pPr>
          </a:lstStyle>
          <a:p>
            <a:pPr/>
            <a:r>
              <a:t>USE WHEN</a:t>
            </a:r>
          </a:p>
        </p:txBody>
      </p:sp>
      <p:sp>
        <p:nvSpPr>
          <p:cNvPr id="546" name="Text 15"/>
          <p:cNvSpPr txBox="1"/>
          <p:nvPr/>
        </p:nvSpPr>
        <p:spPr>
          <a:xfrm>
            <a:off x="4800600" y="3265213"/>
            <a:ext cx="2377440"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1F5F9"/>
                </a:solidFill>
                <a:latin typeface="+mn-lt"/>
                <a:ea typeface="+mn-ea"/>
                <a:cs typeface="+mn-cs"/>
                <a:sym typeface="Calibri"/>
              </a:defRPr>
            </a:lvl1pPr>
          </a:lstStyle>
          <a:p>
            <a:pPr/>
            <a:r>
              <a:t>Matching the same object across rotated, scaled, or repositioned views.</a:t>
            </a:r>
          </a:p>
        </p:txBody>
      </p:sp>
      <p:sp>
        <p:nvSpPr>
          <p:cNvPr id="547" name="Text 16"/>
          <p:cNvSpPr txBox="1"/>
          <p:nvPr/>
        </p:nvSpPr>
        <p:spPr>
          <a:xfrm>
            <a:off x="4800600" y="3764279"/>
            <a:ext cx="23774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900">
                <a:solidFill>
                  <a:srgbClr val="F59E0B"/>
                </a:solidFill>
                <a:latin typeface="+mn-lt"/>
                <a:ea typeface="+mn-ea"/>
                <a:cs typeface="+mn-cs"/>
                <a:sym typeface="Calibri"/>
              </a:defRPr>
            </a:lvl1pPr>
          </a:lstStyle>
          <a:p>
            <a:pPr/>
            <a:r>
              <a:t>WHY</a:t>
            </a:r>
          </a:p>
        </p:txBody>
      </p:sp>
      <p:sp>
        <p:nvSpPr>
          <p:cNvPr id="548" name="Text 17"/>
          <p:cNvSpPr txBox="1"/>
          <p:nvPr/>
        </p:nvSpPr>
        <p:spPr>
          <a:xfrm>
            <a:off x="4800600" y="3951013"/>
            <a:ext cx="2377440"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4A3B8"/>
                </a:solidFill>
                <a:latin typeface="+mn-lt"/>
                <a:ea typeface="+mn-ea"/>
                <a:cs typeface="+mn-cs"/>
                <a:sym typeface="Calibri"/>
              </a:defRPr>
            </a:lvl1pPr>
          </a:lstStyle>
          <a:p>
            <a:pPr/>
            <a:r>
              <a:t>Designed for invariance; sparse key-points scale better than dense HOG.</a:t>
            </a:r>
          </a:p>
        </p:txBody>
      </p:sp>
      <p:sp>
        <p:nvSpPr>
          <p:cNvPr id="549" name="Shape 25"/>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50" name="Text 26"/>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Alternatives</a:t>
            </a:r>
          </a:p>
        </p:txBody>
      </p:sp>
      <p:sp>
        <p:nvSpPr>
          <p:cNvPr id="551" name="Text 27"/>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14 / 16</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555" name="Text 0"/>
          <p:cNvSpPr txBox="1"/>
          <p:nvPr/>
        </p:nvSpPr>
        <p:spPr>
          <a:xfrm>
            <a:off x="457200" y="338372"/>
            <a:ext cx="822960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6B6D4"/>
                </a:solidFill>
                <a:latin typeface="+mn-lt"/>
                <a:ea typeface="+mn-ea"/>
                <a:cs typeface="+mn-cs"/>
                <a:sym typeface="Calibri"/>
              </a:defRPr>
            </a:lvl1pPr>
          </a:lstStyle>
          <a:p>
            <a:pPr/>
            <a:r>
              <a:t>CASE STUDY</a:t>
            </a:r>
          </a:p>
        </p:txBody>
      </p:sp>
      <p:sp>
        <p:nvSpPr>
          <p:cNvPr id="556" name="Text 1"/>
          <p:cNvSpPr txBox="1"/>
          <p:nvPr/>
        </p:nvSpPr>
        <p:spPr>
          <a:xfrm>
            <a:off x="457200" y="577983"/>
            <a:ext cx="8229600"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1F5F9"/>
                </a:solidFill>
                <a:latin typeface="+mn-lt"/>
                <a:ea typeface="+mn-ea"/>
                <a:cs typeface="+mn-cs"/>
                <a:sym typeface="Calibri"/>
              </a:defRPr>
            </a:lvl1pPr>
          </a:lstStyle>
          <a:p>
            <a:pPr/>
            <a:r>
              <a:t>Real-World Applications</a:t>
            </a:r>
          </a:p>
        </p:txBody>
      </p:sp>
      <p:sp>
        <p:nvSpPr>
          <p:cNvPr id="557" name="Shape 2"/>
          <p:cNvSpPr/>
          <p:nvPr/>
        </p:nvSpPr>
        <p:spPr>
          <a:xfrm>
            <a:off x="457200" y="1280160"/>
            <a:ext cx="3657600" cy="310896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558" name="Text 3"/>
          <p:cNvSpPr txBox="1"/>
          <p:nvPr/>
        </p:nvSpPr>
        <p:spPr>
          <a:xfrm>
            <a:off x="640078" y="1463084"/>
            <a:ext cx="3291844"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F59E0B"/>
                </a:solidFill>
                <a:latin typeface="+mn-lt"/>
                <a:ea typeface="+mn-ea"/>
                <a:cs typeface="+mn-cs"/>
                <a:sym typeface="Calibri"/>
              </a:defRPr>
            </a:lvl1pPr>
          </a:lstStyle>
          <a:p>
            <a:pPr/>
            <a:r>
              <a:t>CASE STUDY</a:t>
            </a:r>
          </a:p>
        </p:txBody>
      </p:sp>
      <p:sp>
        <p:nvSpPr>
          <p:cNvPr id="559" name="Text 4"/>
          <p:cNvSpPr txBox="1"/>
          <p:nvPr/>
        </p:nvSpPr>
        <p:spPr>
          <a:xfrm>
            <a:off x="640078" y="1773009"/>
            <a:ext cx="3291844"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F1F5F9"/>
                </a:solidFill>
                <a:latin typeface="+mn-lt"/>
                <a:ea typeface="+mn-ea"/>
                <a:cs typeface="+mn-cs"/>
                <a:sym typeface="Calibri"/>
              </a:defRPr>
            </a:lvl1pPr>
          </a:lstStyle>
          <a:p>
            <a:pPr/>
            <a:r>
              <a:t>Pedestrian detection</a:t>
            </a:r>
          </a:p>
        </p:txBody>
      </p:sp>
      <p:sp>
        <p:nvSpPr>
          <p:cNvPr id="560" name="Text 5"/>
          <p:cNvSpPr txBox="1"/>
          <p:nvPr/>
        </p:nvSpPr>
        <p:spPr>
          <a:xfrm>
            <a:off x="640078" y="2184706"/>
            <a:ext cx="329184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94A3B8"/>
                </a:solidFill>
                <a:latin typeface="+mn-lt"/>
                <a:ea typeface="+mn-ea"/>
                <a:cs typeface="+mn-cs"/>
                <a:sym typeface="Calibri"/>
              </a:defRPr>
            </a:lvl1pPr>
          </a:lstStyle>
          <a:p>
            <a:pPr/>
            <a:r>
              <a:t>in early ADAS  (driver-assistance) systems</a:t>
            </a:r>
          </a:p>
        </p:txBody>
      </p:sp>
      <p:sp>
        <p:nvSpPr>
          <p:cNvPr id="561" name="Shape 6"/>
          <p:cNvSpPr/>
          <p:nvPr/>
        </p:nvSpPr>
        <p:spPr>
          <a:xfrm>
            <a:off x="640078" y="2606038"/>
            <a:ext cx="3291844" cy="777243"/>
          </a:xfrm>
          <a:prstGeom prst="rect">
            <a:avLst/>
          </a:prstGeom>
          <a:solidFill>
            <a:srgbClr val="172033"/>
          </a:solidFill>
          <a:ln>
            <a:solidFill>
              <a:srgbClr val="334155"/>
            </a:solidFill>
          </a:ln>
        </p:spPr>
        <p:txBody>
          <a:bodyPr lIns="45718" tIns="45718" rIns="45718" bIns="45718"/>
          <a:lstStyle/>
          <a:p>
            <a:pPr>
              <a:defRPr>
                <a:latin typeface="+mn-lt"/>
                <a:ea typeface="+mn-ea"/>
                <a:cs typeface="+mn-cs"/>
                <a:sym typeface="Calibri"/>
              </a:defRPr>
            </a:pPr>
          </a:p>
        </p:txBody>
      </p:sp>
      <p:sp>
        <p:nvSpPr>
          <p:cNvPr id="562" name="Text 7"/>
          <p:cNvSpPr txBox="1"/>
          <p:nvPr/>
        </p:nvSpPr>
        <p:spPr>
          <a:xfrm>
            <a:off x="777240" y="2753930"/>
            <a:ext cx="3108962" cy="4814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solidFill>
                  <a:srgbClr val="06B6D4"/>
                </a:solidFill>
                <a:latin typeface="+mn-lt"/>
                <a:ea typeface="+mn-ea"/>
                <a:cs typeface="+mn-cs"/>
                <a:sym typeface="Calibri"/>
              </a:defRPr>
            </a:pPr>
            <a:r>
              <a:t>64 × 128  </a:t>
            </a:r>
            <a:r>
              <a:rPr b="0" sz="1100">
                <a:solidFill>
                  <a:srgbClr val="94A3B8"/>
                </a:solidFill>
              </a:rPr>
              <a:t>window</a:t>
            </a:r>
          </a:p>
          <a:p>
            <a:pPr>
              <a:defRPr b="1" sz="1400">
                <a:solidFill>
                  <a:srgbClr val="F59E0B"/>
                </a:solidFill>
                <a:latin typeface="+mn-lt"/>
                <a:ea typeface="+mn-ea"/>
                <a:cs typeface="+mn-cs"/>
                <a:sym typeface="Calibri"/>
              </a:defRPr>
            </a:pPr>
            <a:r>
              <a:t>3,780-dim </a:t>
            </a:r>
            <a:r>
              <a:rPr b="0" sz="1000">
                <a:solidFill>
                  <a:srgbClr val="94A3B8"/>
                </a:solidFill>
              </a:rPr>
              <a:t>feature vector  -&gt;  linear SVM</a:t>
            </a:r>
          </a:p>
        </p:txBody>
      </p:sp>
      <p:sp>
        <p:nvSpPr>
          <p:cNvPr id="563" name="Text 8"/>
          <p:cNvSpPr txBox="1"/>
          <p:nvPr/>
        </p:nvSpPr>
        <p:spPr>
          <a:xfrm>
            <a:off x="640078" y="3759376"/>
            <a:ext cx="3291844"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i="1" sz="1100">
                <a:solidFill>
                  <a:srgbClr val="F1F5F9"/>
                </a:solidFill>
                <a:latin typeface="+mn-lt"/>
                <a:ea typeface="+mn-ea"/>
                <a:cs typeface="+mn-cs"/>
                <a:sym typeface="Calibri"/>
              </a:defRPr>
            </a:pPr>
            <a:r>
              <a:t>Fast, deterministic, interpretable -</a:t>
            </a:r>
          </a:p>
          <a:p>
            <a:pPr>
              <a:defRPr sz="1100">
                <a:solidFill>
                  <a:srgbClr val="94A3B8"/>
                </a:solidFill>
                <a:latin typeface="+mn-lt"/>
                <a:ea typeface="+mn-ea"/>
                <a:cs typeface="+mn-cs"/>
                <a:sym typeface="Calibri"/>
              </a:defRPr>
            </a:pPr>
            <a:r>
              <a:t>exactly what early in-car ECUs needed</a:t>
            </a:r>
          </a:p>
        </p:txBody>
      </p:sp>
      <p:sp>
        <p:nvSpPr>
          <p:cNvPr id="564" name="Text 9"/>
          <p:cNvSpPr txBox="1"/>
          <p:nvPr/>
        </p:nvSpPr>
        <p:spPr>
          <a:xfrm>
            <a:off x="4389120" y="1482659"/>
            <a:ext cx="429768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Other places HOG still runs today</a:t>
            </a:r>
          </a:p>
        </p:txBody>
      </p:sp>
      <p:sp>
        <p:nvSpPr>
          <p:cNvPr id="565" name="Shape 10"/>
          <p:cNvSpPr/>
          <p:nvPr/>
        </p:nvSpPr>
        <p:spPr>
          <a:xfrm>
            <a:off x="4434840" y="1947672"/>
            <a:ext cx="128019" cy="128019"/>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66" name="Text 11"/>
          <p:cNvSpPr txBox="1"/>
          <p:nvPr/>
        </p:nvSpPr>
        <p:spPr>
          <a:xfrm>
            <a:off x="4663440" y="1887527"/>
            <a:ext cx="4023360"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1F5F9"/>
                </a:solidFill>
                <a:latin typeface="+mn-lt"/>
                <a:ea typeface="+mn-ea"/>
                <a:cs typeface="+mn-cs"/>
                <a:sym typeface="Calibri"/>
              </a:defRPr>
            </a:lvl1pPr>
          </a:lstStyle>
          <a:p>
            <a:pPr/>
            <a:r>
              <a:t>Dlib face detector</a:t>
            </a:r>
          </a:p>
        </p:txBody>
      </p:sp>
      <p:sp>
        <p:nvSpPr>
          <p:cNvPr id="567" name="Text 12"/>
          <p:cNvSpPr txBox="1"/>
          <p:nvPr/>
        </p:nvSpPr>
        <p:spPr>
          <a:xfrm>
            <a:off x="4663440" y="2140624"/>
            <a:ext cx="4023360" cy="2541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4A3B8"/>
                </a:solidFill>
                <a:latin typeface="+mn-lt"/>
                <a:ea typeface="+mn-ea"/>
                <a:cs typeface="+mn-cs"/>
                <a:sym typeface="Calibri"/>
              </a:defRPr>
            </a:lvl1pPr>
          </a:lstStyle>
          <a:p>
            <a:pPr/>
            <a:r>
              <a:t>HOG + linear SVM at its core. Ships in OpenCV bindings, used in OpenFace and many accessibility tools.</a:t>
            </a:r>
          </a:p>
        </p:txBody>
      </p:sp>
      <p:sp>
        <p:nvSpPr>
          <p:cNvPr id="568" name="Shape 22"/>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69" name="Text 23"/>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Applications</a:t>
            </a:r>
          </a:p>
        </p:txBody>
      </p:sp>
      <p:sp>
        <p:nvSpPr>
          <p:cNvPr id="570" name="Text 24"/>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15 / 16</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72A"/>
        </a:solidFill>
      </p:bgPr>
    </p:bg>
    <p:spTree>
      <p:nvGrpSpPr>
        <p:cNvPr id="1" name=""/>
        <p:cNvGrpSpPr/>
        <p:nvPr/>
      </p:nvGrpSpPr>
      <p:grpSpPr>
        <a:xfrm>
          <a:off x="0" y="0"/>
          <a:ext cx="0" cy="0"/>
          <a:chOff x="0" y="0"/>
          <a:chExt cx="0" cy="0"/>
        </a:xfrm>
      </p:grpSpPr>
      <p:sp>
        <p:nvSpPr>
          <p:cNvPr id="574" name="Shape 0"/>
          <p:cNvSpPr/>
          <p:nvPr/>
        </p:nvSpPr>
        <p:spPr>
          <a:xfrm>
            <a:off x="8375904" y="4078223"/>
            <a:ext cx="73155" cy="73155"/>
          </a:xfrm>
          <a:prstGeom prst="ellipse">
            <a:avLst/>
          </a:prstGeom>
          <a:solidFill>
            <a:srgbClr val="06B6D4">
              <a:alpha val="5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75" name="Shape 1"/>
          <p:cNvSpPr/>
          <p:nvPr/>
        </p:nvSpPr>
        <p:spPr>
          <a:xfrm>
            <a:off x="8445685" y="4329684"/>
            <a:ext cx="73155" cy="73155"/>
          </a:xfrm>
          <a:prstGeom prst="ellipse">
            <a:avLst/>
          </a:prstGeom>
          <a:solidFill>
            <a:srgbClr val="06B6D4">
              <a:alpha val="3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76" name="Shape 2"/>
          <p:cNvSpPr/>
          <p:nvPr/>
        </p:nvSpPr>
        <p:spPr>
          <a:xfrm>
            <a:off x="8330183" y="4632550"/>
            <a:ext cx="73155" cy="73155"/>
          </a:xfrm>
          <a:prstGeom prst="ellipse">
            <a:avLst/>
          </a:prstGeom>
          <a:solidFill>
            <a:srgbClr val="06B6D4">
              <a:alpha val="1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77" name="Shape 3"/>
          <p:cNvSpPr/>
          <p:nvPr/>
        </p:nvSpPr>
        <p:spPr>
          <a:xfrm>
            <a:off x="8010142" y="4443984"/>
            <a:ext cx="73155" cy="73155"/>
          </a:xfrm>
          <a:prstGeom prst="ellipse">
            <a:avLst/>
          </a:prstGeom>
          <a:solidFill>
            <a:srgbClr val="06B6D4">
              <a:alpha val="5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78" name="Shape 4"/>
          <p:cNvSpPr/>
          <p:nvPr/>
        </p:nvSpPr>
        <p:spPr>
          <a:xfrm>
            <a:off x="7758683" y="4513765"/>
            <a:ext cx="73155" cy="73155"/>
          </a:xfrm>
          <a:prstGeom prst="ellipse">
            <a:avLst/>
          </a:prstGeom>
          <a:solidFill>
            <a:srgbClr val="06B6D4">
              <a:alpha val="3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79" name="Shape 5"/>
          <p:cNvSpPr/>
          <p:nvPr/>
        </p:nvSpPr>
        <p:spPr>
          <a:xfrm>
            <a:off x="7455816" y="4398264"/>
            <a:ext cx="73155" cy="73155"/>
          </a:xfrm>
          <a:prstGeom prst="ellipse">
            <a:avLst/>
          </a:prstGeom>
          <a:solidFill>
            <a:srgbClr val="06B6D4">
              <a:alpha val="1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80" name="Shape 6"/>
          <p:cNvSpPr/>
          <p:nvPr/>
        </p:nvSpPr>
        <p:spPr>
          <a:xfrm>
            <a:off x="7644383" y="4078223"/>
            <a:ext cx="73155" cy="73155"/>
          </a:xfrm>
          <a:prstGeom prst="ellipse">
            <a:avLst/>
          </a:prstGeom>
          <a:solidFill>
            <a:srgbClr val="06B6D4">
              <a:alpha val="5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81" name="Shape 7"/>
          <p:cNvSpPr/>
          <p:nvPr/>
        </p:nvSpPr>
        <p:spPr>
          <a:xfrm>
            <a:off x="7574601" y="3826764"/>
            <a:ext cx="73155" cy="73155"/>
          </a:xfrm>
          <a:prstGeom prst="ellipse">
            <a:avLst/>
          </a:prstGeom>
          <a:solidFill>
            <a:srgbClr val="06B6D4">
              <a:alpha val="3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82" name="Shape 8"/>
          <p:cNvSpPr/>
          <p:nvPr/>
        </p:nvSpPr>
        <p:spPr>
          <a:xfrm>
            <a:off x="7690104" y="3523898"/>
            <a:ext cx="73155" cy="73155"/>
          </a:xfrm>
          <a:prstGeom prst="ellipse">
            <a:avLst/>
          </a:prstGeom>
          <a:solidFill>
            <a:srgbClr val="06B6D4">
              <a:alpha val="1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83" name="Shape 9"/>
          <p:cNvSpPr/>
          <p:nvPr/>
        </p:nvSpPr>
        <p:spPr>
          <a:xfrm>
            <a:off x="8010142" y="3712464"/>
            <a:ext cx="73155" cy="73155"/>
          </a:xfrm>
          <a:prstGeom prst="ellipse">
            <a:avLst/>
          </a:prstGeom>
          <a:solidFill>
            <a:srgbClr val="06B6D4">
              <a:alpha val="5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84" name="Shape 10"/>
          <p:cNvSpPr/>
          <p:nvPr/>
        </p:nvSpPr>
        <p:spPr>
          <a:xfrm>
            <a:off x="8261604" y="3642683"/>
            <a:ext cx="73155" cy="73155"/>
          </a:xfrm>
          <a:prstGeom prst="ellipse">
            <a:avLst/>
          </a:prstGeom>
          <a:solidFill>
            <a:srgbClr val="06B6D4">
              <a:alpha val="3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85" name="Shape 11"/>
          <p:cNvSpPr/>
          <p:nvPr/>
        </p:nvSpPr>
        <p:spPr>
          <a:xfrm>
            <a:off x="8564470" y="3758184"/>
            <a:ext cx="73155" cy="73155"/>
          </a:xfrm>
          <a:prstGeom prst="ellipse">
            <a:avLst/>
          </a:prstGeom>
          <a:solidFill>
            <a:srgbClr val="06B6D4">
              <a:alpha val="10000"/>
            </a:srgbClr>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86" name="Text 12"/>
          <p:cNvSpPr txBox="1"/>
          <p:nvPr/>
        </p:nvSpPr>
        <p:spPr>
          <a:xfrm>
            <a:off x="457200" y="435785"/>
            <a:ext cx="82296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500" sz="1100">
                <a:solidFill>
                  <a:srgbClr val="06B6D4"/>
                </a:solidFill>
                <a:latin typeface="+mn-lt"/>
                <a:ea typeface="+mn-ea"/>
                <a:cs typeface="+mn-cs"/>
                <a:sym typeface="Calibri"/>
              </a:defRPr>
            </a:lvl1pPr>
          </a:lstStyle>
          <a:p>
            <a:pPr/>
            <a:r>
              <a:t>TAKEAWAYS</a:t>
            </a:r>
          </a:p>
        </p:txBody>
      </p:sp>
      <p:sp>
        <p:nvSpPr>
          <p:cNvPr id="587" name="Text 13"/>
          <p:cNvSpPr txBox="1"/>
          <p:nvPr/>
        </p:nvSpPr>
        <p:spPr>
          <a:xfrm>
            <a:off x="457200" y="714879"/>
            <a:ext cx="8229600" cy="3533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1F5F9"/>
                </a:solidFill>
                <a:latin typeface="+mn-lt"/>
                <a:ea typeface="+mn-ea"/>
                <a:cs typeface="+mn-cs"/>
                <a:sym typeface="Calibri"/>
              </a:defRPr>
            </a:lvl1pPr>
          </a:lstStyle>
          <a:p>
            <a:pPr/>
            <a:r>
              <a:t>HOG, in three sentences.</a:t>
            </a:r>
          </a:p>
        </p:txBody>
      </p:sp>
      <p:sp>
        <p:nvSpPr>
          <p:cNvPr id="588" name="Shape 14"/>
          <p:cNvSpPr/>
          <p:nvPr/>
        </p:nvSpPr>
        <p:spPr>
          <a:xfrm>
            <a:off x="457200" y="1417319"/>
            <a:ext cx="7772400" cy="77724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589" name="Shape 15"/>
          <p:cNvSpPr/>
          <p:nvPr/>
        </p:nvSpPr>
        <p:spPr>
          <a:xfrm>
            <a:off x="640080" y="1581911"/>
            <a:ext cx="457203" cy="457202"/>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90" name="Text 16"/>
          <p:cNvSpPr txBox="1"/>
          <p:nvPr/>
        </p:nvSpPr>
        <p:spPr>
          <a:xfrm>
            <a:off x="640080" y="1689687"/>
            <a:ext cx="457202"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F172A"/>
                </a:solidFill>
                <a:latin typeface="+mn-lt"/>
                <a:ea typeface="+mn-ea"/>
                <a:cs typeface="+mn-cs"/>
                <a:sym typeface="Calibri"/>
              </a:defRPr>
            </a:lvl1pPr>
          </a:lstStyle>
          <a:p>
            <a:pPr/>
            <a:r>
              <a:t>1</a:t>
            </a:r>
          </a:p>
        </p:txBody>
      </p:sp>
      <p:sp>
        <p:nvSpPr>
          <p:cNvPr id="591" name="Text 17"/>
          <p:cNvSpPr txBox="1"/>
          <p:nvPr/>
        </p:nvSpPr>
        <p:spPr>
          <a:xfrm>
            <a:off x="1280160" y="1574100"/>
            <a:ext cx="68580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Shape, not pixels.</a:t>
            </a:r>
          </a:p>
        </p:txBody>
      </p:sp>
      <p:sp>
        <p:nvSpPr>
          <p:cNvPr id="592" name="Text 18"/>
          <p:cNvSpPr txBox="1"/>
          <p:nvPr/>
        </p:nvSpPr>
        <p:spPr>
          <a:xfrm>
            <a:off x="1280160" y="1924855"/>
            <a:ext cx="67665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4A3B8"/>
                </a:solidFill>
                <a:latin typeface="+mn-lt"/>
                <a:ea typeface="+mn-ea"/>
                <a:cs typeface="+mn-cs"/>
                <a:sym typeface="Calibri"/>
              </a:defRPr>
            </a:lvl1pPr>
          </a:lstStyle>
          <a:p>
            <a:pPr/>
            <a:r>
              <a:t>HOG describes images by where edges are and which way they point, discarding colour, lighting, and fine texture.</a:t>
            </a:r>
          </a:p>
        </p:txBody>
      </p:sp>
      <p:sp>
        <p:nvSpPr>
          <p:cNvPr id="593" name="Shape 19"/>
          <p:cNvSpPr/>
          <p:nvPr/>
        </p:nvSpPr>
        <p:spPr>
          <a:xfrm>
            <a:off x="457200" y="2304288"/>
            <a:ext cx="7772400" cy="77724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594" name="Shape 20"/>
          <p:cNvSpPr/>
          <p:nvPr/>
        </p:nvSpPr>
        <p:spPr>
          <a:xfrm>
            <a:off x="640080" y="2468878"/>
            <a:ext cx="457203" cy="457203"/>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595" name="Text 21"/>
          <p:cNvSpPr txBox="1"/>
          <p:nvPr/>
        </p:nvSpPr>
        <p:spPr>
          <a:xfrm>
            <a:off x="640080" y="2576656"/>
            <a:ext cx="45720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F172A"/>
                </a:solidFill>
                <a:latin typeface="+mn-lt"/>
                <a:ea typeface="+mn-ea"/>
                <a:cs typeface="+mn-cs"/>
                <a:sym typeface="Calibri"/>
              </a:defRPr>
            </a:lvl1pPr>
          </a:lstStyle>
          <a:p>
            <a:pPr/>
            <a:r>
              <a:t>2</a:t>
            </a:r>
          </a:p>
        </p:txBody>
      </p:sp>
      <p:sp>
        <p:nvSpPr>
          <p:cNvPr id="596" name="Text 22"/>
          <p:cNvSpPr txBox="1"/>
          <p:nvPr/>
        </p:nvSpPr>
        <p:spPr>
          <a:xfrm>
            <a:off x="1280160" y="2461068"/>
            <a:ext cx="68580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A mechanical pipeline.</a:t>
            </a:r>
          </a:p>
        </p:txBody>
      </p:sp>
      <p:sp>
        <p:nvSpPr>
          <p:cNvPr id="597" name="Text 23"/>
          <p:cNvSpPr txBox="1"/>
          <p:nvPr/>
        </p:nvSpPr>
        <p:spPr>
          <a:xfrm>
            <a:off x="1280160" y="2811823"/>
            <a:ext cx="67665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4A3B8"/>
                </a:solidFill>
                <a:latin typeface="+mn-lt"/>
                <a:ea typeface="+mn-ea"/>
                <a:cs typeface="+mn-cs"/>
                <a:sym typeface="Calibri"/>
              </a:defRPr>
            </a:lvl1pPr>
          </a:lstStyle>
          <a:p>
            <a:pPr/>
            <a:r>
              <a:t>Gradients -&gt; cells -&gt; blocks -&gt; normalisation -&gt; one long feature vector. Every step is interpretable and computable by hand.</a:t>
            </a:r>
          </a:p>
        </p:txBody>
      </p:sp>
      <p:sp>
        <p:nvSpPr>
          <p:cNvPr id="598" name="Shape 24"/>
          <p:cNvSpPr/>
          <p:nvPr/>
        </p:nvSpPr>
        <p:spPr>
          <a:xfrm>
            <a:off x="457200" y="3191255"/>
            <a:ext cx="7772400" cy="777242"/>
          </a:xfrm>
          <a:prstGeom prst="rect">
            <a:avLst/>
          </a:prstGeom>
          <a:solidFill>
            <a:srgbClr val="1E293B"/>
          </a:solidFill>
          <a:ln>
            <a:solidFill>
              <a:srgbClr val="334155"/>
            </a:solidFill>
          </a:ln>
        </p:spPr>
        <p:txBody>
          <a:bodyPr lIns="45718" tIns="45718" rIns="45718" bIns="45718"/>
          <a:lstStyle/>
          <a:p>
            <a:pPr>
              <a:defRPr>
                <a:latin typeface="+mn-lt"/>
                <a:ea typeface="+mn-ea"/>
                <a:cs typeface="+mn-cs"/>
                <a:sym typeface="Calibri"/>
              </a:defRPr>
            </a:pPr>
          </a:p>
        </p:txBody>
      </p:sp>
      <p:sp>
        <p:nvSpPr>
          <p:cNvPr id="599" name="Shape 25"/>
          <p:cNvSpPr/>
          <p:nvPr/>
        </p:nvSpPr>
        <p:spPr>
          <a:xfrm>
            <a:off x="640080" y="3355847"/>
            <a:ext cx="457203" cy="457203"/>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00" name="Text 26"/>
          <p:cNvSpPr txBox="1"/>
          <p:nvPr/>
        </p:nvSpPr>
        <p:spPr>
          <a:xfrm>
            <a:off x="640080" y="3463623"/>
            <a:ext cx="457202"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F172A"/>
                </a:solidFill>
                <a:latin typeface="+mn-lt"/>
                <a:ea typeface="+mn-ea"/>
                <a:cs typeface="+mn-cs"/>
                <a:sym typeface="Calibri"/>
              </a:defRPr>
            </a:lvl1pPr>
          </a:lstStyle>
          <a:p>
            <a:pPr/>
            <a:r>
              <a:t>3</a:t>
            </a:r>
          </a:p>
        </p:txBody>
      </p:sp>
      <p:sp>
        <p:nvSpPr>
          <p:cNvPr id="601" name="Text 27"/>
          <p:cNvSpPr txBox="1"/>
          <p:nvPr/>
        </p:nvSpPr>
        <p:spPr>
          <a:xfrm>
            <a:off x="1280160" y="3348035"/>
            <a:ext cx="68580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1F5F9"/>
                </a:solidFill>
                <a:latin typeface="+mn-lt"/>
                <a:ea typeface="+mn-ea"/>
                <a:cs typeface="+mn-cs"/>
                <a:sym typeface="Calibri"/>
              </a:defRPr>
            </a:lvl1pPr>
          </a:lstStyle>
          <a:p>
            <a:pPr/>
            <a:r>
              <a:t>Right tool, sometimes.</a:t>
            </a:r>
          </a:p>
        </p:txBody>
      </p:sp>
      <p:sp>
        <p:nvSpPr>
          <p:cNvPr id="602" name="Text 28"/>
          <p:cNvSpPr txBox="1"/>
          <p:nvPr/>
        </p:nvSpPr>
        <p:spPr>
          <a:xfrm>
            <a:off x="1280160" y="3698792"/>
            <a:ext cx="676656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4A3B8"/>
                </a:solidFill>
                <a:latin typeface="+mn-lt"/>
                <a:ea typeface="+mn-ea"/>
                <a:cs typeface="+mn-cs"/>
                <a:sym typeface="Calibri"/>
              </a:defRPr>
            </a:lvl1pPr>
          </a:lstStyle>
          <a:p>
            <a:pPr/>
            <a:r>
              <a:t>Replaced by CNNs at the frontier, but still the right choice for speed, interpretability, low compute, or small data.</a:t>
            </a:r>
          </a:p>
        </p:txBody>
      </p:sp>
      <p:sp>
        <p:nvSpPr>
          <p:cNvPr id="603" name="Text 29"/>
          <p:cNvSpPr txBox="1"/>
          <p:nvPr/>
        </p:nvSpPr>
        <p:spPr>
          <a:xfrm>
            <a:off x="457200" y="4216008"/>
            <a:ext cx="8229600" cy="3462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2600">
                <a:solidFill>
                  <a:srgbClr val="F59E0B"/>
                </a:solidFill>
                <a:latin typeface="+mn-lt"/>
                <a:ea typeface="+mn-ea"/>
                <a:cs typeface="+mn-cs"/>
                <a:sym typeface="Calibri"/>
              </a:defRPr>
            </a:lvl1pPr>
          </a:lstStyle>
          <a:p>
            <a:pPr/>
            <a:r>
              <a:t>Questions?</a:t>
            </a:r>
          </a:p>
        </p:txBody>
      </p:sp>
      <p:sp>
        <p:nvSpPr>
          <p:cNvPr id="604" name="Shape 30"/>
          <p:cNvSpPr/>
          <p:nvPr/>
        </p:nvSpPr>
        <p:spPr>
          <a:xfrm>
            <a:off x="457200" y="4864608"/>
            <a:ext cx="73155" cy="73155"/>
          </a:xfrm>
          <a:prstGeom prst="ellipse">
            <a:avLst/>
          </a:prstGeom>
          <a:solidFill>
            <a:srgbClr val="06B6D4"/>
          </a:solidFill>
          <a:ln w="12700">
            <a:solidFill>
              <a:srgbClr val="06B6D4"/>
            </a:solidFill>
          </a:ln>
        </p:spPr>
        <p:txBody>
          <a:bodyPr lIns="45718" tIns="45718" rIns="45718" bIns="45718"/>
          <a:lstStyle/>
          <a:p>
            <a:pPr>
              <a:defRPr>
                <a:latin typeface="+mn-lt"/>
                <a:ea typeface="+mn-ea"/>
                <a:cs typeface="+mn-cs"/>
                <a:sym typeface="Calibri"/>
              </a:defRPr>
            </a:pPr>
          </a:p>
        </p:txBody>
      </p:sp>
      <p:sp>
        <p:nvSpPr>
          <p:cNvPr id="605" name="Text 31"/>
          <p:cNvSpPr txBox="1"/>
          <p:nvPr/>
        </p:nvSpPr>
        <p:spPr>
          <a:xfrm>
            <a:off x="594358" y="4846826"/>
            <a:ext cx="45720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4748B"/>
                </a:solidFill>
                <a:latin typeface="+mn-lt"/>
                <a:ea typeface="+mn-ea"/>
                <a:cs typeface="+mn-cs"/>
                <a:sym typeface="Calibri"/>
              </a:defRPr>
            </a:lvl1pPr>
          </a:lstStyle>
          <a:p>
            <a:pPr/>
            <a:r>
              <a:t>Thank you</a:t>
            </a:r>
          </a:p>
        </p:txBody>
      </p:sp>
      <p:sp>
        <p:nvSpPr>
          <p:cNvPr id="606" name="Text 32"/>
          <p:cNvSpPr txBox="1"/>
          <p:nvPr/>
        </p:nvSpPr>
        <p:spPr>
          <a:xfrm>
            <a:off x="7772400" y="4846826"/>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4748B"/>
                </a:solidFill>
                <a:latin typeface="+mn-lt"/>
                <a:ea typeface="+mn-ea"/>
                <a:cs typeface="+mn-cs"/>
                <a:sym typeface="Calibri"/>
              </a:defRPr>
            </a:lvl1pPr>
          </a:lstStyle>
          <a:p>
            <a:pPr/>
            <a:r>
              <a:t>16 / 16</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